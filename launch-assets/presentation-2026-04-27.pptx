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and thank you for being here. I know your time is valuable, so I'll keep this focused, practical, and — I hope — something that stays with you long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with something Warren Buffett once said about people in the workforce. He described two kinds of people — the wolf, who is always sharp because survival depends on it. And the dog in a golden cage — comfortable, provided for, but slowly losing the instincts it was born with.</a:t>
            </a:r>
          </a:p>
          <a:p/>
          <a:p>
            <a:r>
              <a:t>He was talking about financial independence. But today I want to borrow that image for something different.</a:t>
            </a:r>
          </a:p>
          <a:p/>
          <a:p>
            <a:r>
              <a:t>Because I believe our children's minds work exactly the same way.</a:t>
            </a:r>
          </a:p>
          <a:p/>
          <a:p>
            <a:r>
              <a:t>A mind that is trained to handle pressure, setbacks, difficulty and uncertainty — that mind becomes sharp. It grows. It reaches its potential.</a:t>
            </a:r>
          </a:p>
          <a:p/>
          <a:p>
            <a:r>
              <a:t>A mind that is never challenged to work with what happens inside — that mind becomes dependent. Fragile. It shuts down when things get hard.</a:t>
            </a:r>
          </a:p>
          <a:p/>
          <a:p>
            <a:r>
              <a:t>The question I want to ask today is: which kind of mind are we building in our children?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cage I'm talking about today is not made of poverty, or lack of opportunity, or lack of intelligence.</a:t>
            </a:r>
          </a:p>
          <a:p/>
          <a:p>
            <a:r>
              <a:t>Your children have all of those things. They have loving parents who have sacrificed enormously. They have tutors, activities, the best schools, every resource.</a:t>
            </a:r>
          </a:p>
          <a:p/>
          <a:p>
            <a:r>
              <a:t>And yet — many of them are struggling in ways that all of that cannot fix.</a:t>
            </a:r>
          </a:p>
          <a:p/>
          <a:p>
            <a:r>
              <a:t>Because the cage is internal. It is the pattern of thought, the emotional habit, the automatic response that kicks in when life gets hard. And most children — most adults — have never been taught to work with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clear — I am not here to question your parenting. Everything on this list matters. You are doing everything right by those standards.</a:t>
            </a:r>
          </a:p>
          <a:p/>
          <a:p>
            <a:r>
              <a:t>But there is a layer that is missing. Not from your efforts — from the entire system. From schools. From the way we were raised. From the culture we grew up in.</a:t>
            </a:r>
          </a:p>
          <a:p/>
          <a:p>
            <a:r>
              <a:t>No one taught most of us what to do when anxiety rises before a big moment. No one taught us how to recover from failure with our self-belief intact. No one taught us how to interrupt the voice that says "I'm not good enough."</a:t>
            </a:r>
          </a:p>
          <a:p/>
          <a:p>
            <a:r>
              <a:t>We figured it out — or we didn't. And the patterns we didn't resolve, we carry today. Our children deserve better than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ask for a show of hands — but feel free to just note this privately.</a:t>
            </a:r>
          </a:p>
          <a:p/>
          <a:p>
            <a:r>
              <a:t>How many of you have seen your child shut down after a setback? Panic before an exam they were prepared for? Give up when something got hard?</a:t>
            </a:r>
          </a:p>
          <a:p/>
          <a:p>
            <a:r>
              <a:t>[Pause.]</a:t>
            </a:r>
          </a:p>
          <a:p/>
          <a:p>
            <a:r>
              <a:t>Almost every hand in the room. I have seen this every time I present to parents.</a:t>
            </a:r>
          </a:p>
          <a:p/>
          <a:p>
            <a:r>
              <a:t>This is not about a child being weak or sensitive or dramatic. This is about a child who was never given a tool for that moment. They were taught the subject. But no one taught them what to do with the fear, the frustration, the self-doubt that shows up right alongside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your own education. Think about what you were taught.</a:t>
            </a:r>
          </a:p>
          <a:p/>
          <a:p>
            <a:r>
              <a:t>Math, science, history, language. Study hard, work harder, perform better. The formula for achievement is very clear.</a:t>
            </a:r>
          </a:p>
          <a:p/>
          <a:p>
            <a:r>
              <a:t>But was there a single class — a single lesson — that taught you how to handle the moment right before a big interview when your anxiety is rising? Or how to recover your confidence after a public failure? Or how to stop a thought spiral at 2am?</a:t>
            </a:r>
          </a:p>
          <a:p/>
          <a:p>
            <a:r>
              <a:t>For most of us — no. We figured it out over decades. Many of us are still figuring it out.</a:t>
            </a:r>
          </a:p>
          <a:p/>
          <a:p>
            <a:r>
              <a:t>Our children are entering one of the most competitive, unpredictable, high-pressure environments in history. And we are sending them in with half the toolkit.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know this audience. You are engineers, product managers, scientists. You want data before you decide.</a:t>
            </a:r>
          </a:p>
          <a:p/>
          <a:p>
            <a:r>
              <a:t>So let me give you the data.</a:t>
            </a:r>
          </a:p>
          <a:p/>
          <a:p>
            <a:r>
              <a:t>[Walk through each stat briefly.]</a:t>
            </a:r>
          </a:p>
          <a:p/>
          <a:p>
            <a:r>
              <a:t>The Stanford finding is the one I want to highlight. Self-efficacy — what does your child believe about their own ability to handle challenges?</a:t>
            </a:r>
          </a:p>
          <a:p/>
          <a:p>
            <a:r>
              <a:t>A child with high self-efficacy tries harder, recovers faster, and achieves more — independent of their actual ability. A child with low self-efficacy gives up before they even begin.</a:t>
            </a:r>
          </a:p>
          <a:p/>
          <a:p>
            <a:r>
              <a:t>Self-efficacy is not fixed. It is built. And it is built through exactly the kind of practice we are talking about today.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engineers and scientists, you understand the concept of technical debt.</a:t>
            </a:r>
          </a:p>
          <a:p/>
          <a:p>
            <a:r>
              <a:t>When you skip foundational work early in a project, you pay for it later — at much higher cost.</a:t>
            </a:r>
          </a:p>
          <a:p/>
          <a:p>
            <a:r>
              <a:t>Emotional patterns work the same way. The anxious response, the shutdown, the self-doubt — if they are not addressed in childhood, they compound. They become the way this child responds to pressure at 16, at 25, at 40.</a:t>
            </a:r>
          </a:p>
          <a:p/>
          <a:p>
            <a:r>
              <a:t>We are not here to fix a crisis. We are here to do the foundational work while it is easiest, most effective, and most lasting.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ThinkRoot actually do?</a:t>
            </a:r>
          </a:p>
          <a:p/>
          <a:p>
            <a:r>
              <a:t>It is not therapy. We are not diagnosing or treating. It is an educational programme — practical, structured, and grounded in research.</a:t>
            </a:r>
          </a:p>
          <a:p/>
          <a:p>
            <a:r>
              <a:t>The core method is three steps: Awareness, Accept, Action. Children learn to apply all three in sequence in any difficult moment.</a:t>
            </a:r>
          </a:p>
          <a:p/>
          <a:p>
            <a:r>
              <a:t>The Accept step is the one most parents find surprising. Our instinct is to tell children "don't worry" or "stop thinking that." But that is suppression — and suppression makes patterns stronger over time. The Accept step teaches children to acknowledge what is happening without being ruled by it. That is what makes the transformation possible.</a:t>
            </a:r>
          </a:p>
          <a:p/>
          <a:p>
            <a:r>
              <a:t>The Action step has a specific tool attached to it: the Five Power Technique. It is under three minutes, requires nothing, and can be used independently — before an exam, after a difficult conversation, at bedtime. Children memorise it so it is available the moment they need it.</a:t>
            </a:r>
          </a:p>
          <a:p/>
          <a:p>
            <a:r>
              <a:t>Think of AAA as the operating system that runs underneath everything else your child does. Academics, sports, relationships, performance — all of these work better when the underlying system is stable.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Parents often ask me: what will my child actually do? Now I can show you.</a:t>
            </a:r>
          </a:p>
          <a:p/>
          <a:p>
            <a:r>
              <a:t>[Walk through each day briefly — point to the card as you name it.]</a:t>
            </a:r>
          </a:p>
          <a:p/>
          <a:p>
            <a:r>
              <a:t>Day 1 is about the brain and thoughts — children do a yarn activity to see how thoughts connect and spread. They learn the AAA method and the Five Power Technique on Day 1, because we want them practising it from the very first day.</a:t>
            </a:r>
          </a:p>
          <a:p/>
          <a:p>
            <a:r>
              <a:t>Day 2 maps emotional states to weather. It sounds simple — and children love it — but the science behind it is UC Berkeley research on gratitude and positive states. Brain Weather gives children a language for what they are feeling without it feeling clinical.</a:t>
            </a:r>
          </a:p>
          <a:p/>
          <a:p>
            <a:r>
              <a:t>Day 3 goes into the body. HeartMath Institute research shows that the heart and body respond to emotional states measurably. Children learn to use breath and awareness to shift a stress state physically, not just mentally.</a:t>
            </a:r>
          </a:p>
          <a:p/>
          <a:p>
            <a:r>
              <a:t>Day 4 is where children actively transform their thought patterns — from storm thoughts to sunshine thoughts. And we introduce self-compassion, which research shows is the foundation for self-belief.</a:t>
            </a:r>
          </a:p>
          <a:p/>
          <a:p>
            <a:r>
              <a:t>Day 5 is integration. Children build their own Resilience Toolkit — a personal one-page reference in their own words — and they lead each other through the Five Power Technique. They leave with something concrete they built themselves.</a:t>
            </a:r>
          </a:p>
          <a:p/>
          <a:p>
            <a:r>
              <a:t>The 6-week format covers the same five topics with one week between each session, so children have time to practise in real life before the next concept arrives. It also adds a sixth session on building a personal long-term practice 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share a few real stories. These are children from this area — the same schools, the same communities your children are in.</a:t>
            </a:r>
          </a:p>
          <a:p/>
          <a:p>
            <a:r>
              <a:t>[Read 2-3 of the stories naturally, don't rush.]</a:t>
            </a:r>
          </a:p>
          <a:p/>
          <a:p>
            <a:r>
              <a:t>What strikes me about these outcomes is that none of them are about a dramatic transformation overnight. They are about a child who, in a difficult moment, now has something to reach for. A process. A skill.</a:t>
            </a:r>
          </a:p>
          <a:p/>
          <a:p>
            <a:r>
              <a:t>That is all we are building. But that is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offer two formats to match different children and different schedules.</a:t>
            </a:r>
          </a:p>
          <a:p/>
          <a:p>
            <a:r>
              <a:t>The content is the same. The difference is pace and how much time there is between sessions to practice.</a:t>
            </a:r>
          </a:p>
          <a:p/>
          <a:p>
            <a:r>
              <a:t>Groups are small and formed by grade — so the conversations are appropriate and relevant to where each child actually is.</a:t>
            </a:r>
          </a:p>
          <a:p/>
          <a:p>
            <a:r>
              <a:t>We are currently based in the Mission San Jose area of Fremont. If enough families in another part of the Bay Area are interested, we bring the programme to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take one minute to tell you why I built this.</a:t>
            </a:r>
          </a:p>
          <a:p/>
          <a:p>
            <a:r>
              <a:t>I come from the same world many of you come from. I spent over two decades in software. I understand the environment your children are growing up in — the pressure, the competition, the expectation.</a:t>
            </a:r>
          </a:p>
          <a:p/>
          <a:p>
            <a:r>
              <a:t>And I also know, from personal experience, that the skills I teach today — the ability to work with your own mind under pressure — are the ones that determine how everything else lands.</a:t>
            </a:r>
          </a:p>
          <a:p/>
          <a:p>
            <a:r>
              <a:t>I built ThinkRoot because I looked around and saw that the children in this community had every advantage — except this one. And I knew what it could mean for them to have it early.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leave you with a thought.</a:t>
            </a:r>
          </a:p>
          <a:p/>
          <a:p>
            <a:r>
              <a:t>We measure our investment in our children by what we give them — the tutoring, the programmes, the schools, the opportunities.</a:t>
            </a:r>
          </a:p>
          <a:p/>
          <a:p>
            <a:r>
              <a:t>But what holds all of that together? What is the foundation on which everything else is built?</a:t>
            </a:r>
          </a:p>
          <a:p/>
          <a:p>
            <a:r>
              <a:t>It is a child who knows how to handle difficulty. Who can recover. Who believes they are capable even when the evidence is not yet there.</a:t>
            </a:r>
          </a:p>
          <a:p/>
          <a:p>
            <a:r>
              <a:t>That is not built by more content. It is built by practice. And it is built early.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 is simple and risk-free.</a:t>
            </a:r>
          </a:p>
          <a:p/>
          <a:p>
            <a:r>
              <a:t>All I am asking today is that if this resonated — if you recognise your child in anything we talked about — you join the interest list. That is it. No payment. No commitment. Just your name and a few basics so we can match your child to the right group when it forms.</a:t>
            </a:r>
          </a:p>
          <a:p/>
          <a:p>
            <a:r>
              <a:t>Groups are small by design. That is what makes the work effective. And because of that, they fill based on interest and timing.</a:t>
            </a:r>
          </a:p>
          <a:p/>
          <a:p>
            <a:r>
              <a:t>I am happy to answer any questions now. And please feel free to reach out directly after today.</a:t>
            </a:r>
          </a:p>
          <a:p/>
          <a:p>
            <a:r>
              <a:t>Thank you for your time and for caring enough to be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2377440"/>
            <a:ext cx="73152" cy="201168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645920"/>
            <a:ext cx="10058400" cy="457200"/>
          </a:xfrm>
          <a:prstGeom prst="rect">
            <a:avLst/>
          </a:prstGeom>
          <a:noFill/>
        </p:spPr>
        <p:txBody>
          <a:bodyPr wrap="square">
            <a:spAutoFit/>
          </a:bodyPr>
          <a:lstStyle/>
          <a:p>
            <a:pPr algn="l"/>
            <a:r>
              <a:rPr sz="1400" b="0">
                <a:solidFill>
                  <a:srgbClr val="C8963C"/>
                </a:solidFill>
                <a:latin typeface="DM Sans"/>
              </a:rPr>
              <a:t>ThinkRoot Young Leaders</a:t>
            </a:r>
          </a:p>
        </p:txBody>
      </p:sp>
      <p:sp>
        <p:nvSpPr>
          <p:cNvPr id="5" name="TextBox 4"/>
          <p:cNvSpPr txBox="1"/>
          <p:nvPr/>
        </p:nvSpPr>
        <p:spPr>
          <a:xfrm>
            <a:off x="594360" y="2103120"/>
            <a:ext cx="10058400" cy="1371600"/>
          </a:xfrm>
          <a:prstGeom prst="rect">
            <a:avLst/>
          </a:prstGeom>
          <a:noFill/>
        </p:spPr>
        <p:txBody>
          <a:bodyPr wrap="square">
            <a:spAutoFit/>
          </a:bodyPr>
          <a:lstStyle/>
          <a:p>
            <a:pPr algn="l"/>
            <a:r>
              <a:rPr sz="4400" b="1">
                <a:solidFill>
                  <a:srgbClr val="FFFFFF"/>
                </a:solidFill>
                <a:latin typeface="Playfair Display"/>
              </a:rPr>
              <a:t>Building Children
Who Can Handle Life</a:t>
            </a:r>
          </a:p>
        </p:txBody>
      </p:sp>
      <p:sp>
        <p:nvSpPr>
          <p:cNvPr id="6" name="TextBox 5"/>
          <p:cNvSpPr txBox="1"/>
          <p:nvPr/>
        </p:nvSpPr>
        <p:spPr>
          <a:xfrm>
            <a:off x="594360" y="3657600"/>
            <a:ext cx="10058400" cy="411480"/>
          </a:xfrm>
          <a:prstGeom prst="rect">
            <a:avLst/>
          </a:prstGeom>
          <a:noFill/>
        </p:spPr>
        <p:txBody>
          <a:bodyPr wrap="square">
            <a:spAutoFit/>
          </a:bodyPr>
          <a:lstStyle/>
          <a:p>
            <a:pPr algn="l"/>
            <a:r>
              <a:rPr sz="1600" b="0">
                <a:solidFill>
                  <a:srgbClr val="E8F4E8"/>
                </a:solidFill>
                <a:latin typeface="DM Sans"/>
              </a:rPr>
              <a:t>An introduction to ThinkRoot Young Leaders — Resilience Lab</a:t>
            </a:r>
          </a:p>
        </p:txBody>
      </p:sp>
      <p:sp>
        <p:nvSpPr>
          <p:cNvPr id="7" name="Rectangle 6"/>
          <p:cNvSpPr/>
          <p:nvPr/>
        </p:nvSpPr>
        <p:spPr>
          <a:xfrm>
            <a:off x="411480" y="5852160"/>
            <a:ext cx="11365992" cy="914"/>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5943600"/>
            <a:ext cx="10058400" cy="411480"/>
          </a:xfrm>
          <a:prstGeom prst="rect">
            <a:avLst/>
          </a:prstGeom>
          <a:noFill/>
        </p:spPr>
        <p:txBody>
          <a:bodyPr wrap="square">
            <a:spAutoFit/>
          </a:bodyPr>
          <a:lstStyle/>
          <a:p>
            <a:pPr algn="l"/>
            <a:r>
              <a:rPr sz="1300" b="0">
                <a:solidFill>
                  <a:srgbClr val="C8963C"/>
                </a:solidFill>
                <a:latin typeface="DM Sans"/>
              </a:rPr>
              <a:t>Tina Puri  |  Founder &amp; Program Director  |  thinkyoungleaders@gmail.com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2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The Opening Hook: The Wolf and The Cage</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Two animals. Two very different minds.</a:t>
            </a:r>
          </a:p>
        </p:txBody>
      </p:sp>
      <p:sp>
        <p:nvSpPr>
          <p:cNvPr id="8" name="Rectangle 7"/>
          <p:cNvSpPr/>
          <p:nvPr/>
        </p:nvSpPr>
        <p:spPr>
          <a:xfrm>
            <a:off x="411480" y="1965960"/>
            <a:ext cx="5212080" cy="356616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30552"/>
            <a:ext cx="4892040" cy="411480"/>
          </a:xfrm>
          <a:prstGeom prst="rect">
            <a:avLst/>
          </a:prstGeom>
          <a:noFill/>
        </p:spPr>
        <p:txBody>
          <a:bodyPr wrap="square">
            <a:spAutoFit/>
          </a:bodyPr>
          <a:lstStyle/>
          <a:p>
            <a:pPr algn="l"/>
            <a:r>
              <a:rPr sz="1500" b="1">
                <a:solidFill>
                  <a:srgbClr val="1A3A1A"/>
                </a:solidFill>
                <a:latin typeface="Playfair Display"/>
              </a:rPr>
              <a:t>🐺  The Wolf</a:t>
            </a:r>
          </a:p>
        </p:txBody>
      </p:sp>
      <p:sp>
        <p:nvSpPr>
          <p:cNvPr id="10" name="TextBox 9"/>
          <p:cNvSpPr txBox="1"/>
          <p:nvPr/>
        </p:nvSpPr>
        <p:spPr>
          <a:xfrm>
            <a:off x="594360" y="2560320"/>
            <a:ext cx="4892040" cy="2834640"/>
          </a:xfrm>
          <a:prstGeom prst="rect">
            <a:avLst/>
          </a:prstGeom>
          <a:noFill/>
        </p:spPr>
        <p:txBody>
          <a:bodyPr wrap="square">
            <a:spAutoFit/>
          </a:bodyPr>
          <a:lstStyle/>
          <a:p>
            <a:pPr algn="l"/>
            <a:r>
              <a:rPr sz="1300" b="0">
                <a:solidFill>
                  <a:srgbClr val="445544"/>
                </a:solidFill>
                <a:latin typeface="DM Sans"/>
              </a:rPr>
              <a:t>–  Lives in the wild. No guarantees.</a:t>
            </a:r>
          </a:p>
          <a:p>
            <a:pPr algn="l"/>
            <a:r>
              <a:rPr sz="1300" b="0">
                <a:solidFill>
                  <a:srgbClr val="445544"/>
                </a:solidFill>
                <a:latin typeface="DM Sans"/>
              </a:rPr>
              <a:t>–  Stays sharp. Reads the environment.</a:t>
            </a:r>
          </a:p>
          <a:p>
            <a:pPr algn="l"/>
            <a:r>
              <a:rPr sz="1300" b="0">
                <a:solidFill>
                  <a:srgbClr val="445544"/>
                </a:solidFill>
                <a:latin typeface="DM Sans"/>
              </a:rPr>
              <a:t>–  Adapts. Recovers. Persists.</a:t>
            </a:r>
          </a:p>
          <a:p>
            <a:pPr algn="l"/>
            <a:r>
              <a:rPr sz="1300" b="0">
                <a:solidFill>
                  <a:srgbClr val="445544"/>
                </a:solidFill>
                <a:latin typeface="DM Sans"/>
              </a:rPr>
              <a:t>–  Reaches its full potential — because it has to.</a:t>
            </a:r>
          </a:p>
        </p:txBody>
      </p:sp>
      <p:sp>
        <p:nvSpPr>
          <p:cNvPr id="11" name="Rectangle 10"/>
          <p:cNvSpPr/>
          <p:nvPr/>
        </p:nvSpPr>
        <p:spPr>
          <a:xfrm>
            <a:off x="5897880" y="1965960"/>
            <a:ext cx="5212080" cy="356616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2130552"/>
            <a:ext cx="4892040" cy="411480"/>
          </a:xfrm>
          <a:prstGeom prst="rect">
            <a:avLst/>
          </a:prstGeom>
          <a:noFill/>
        </p:spPr>
        <p:txBody>
          <a:bodyPr wrap="square">
            <a:spAutoFit/>
          </a:bodyPr>
          <a:lstStyle/>
          <a:p>
            <a:pPr algn="l"/>
            <a:r>
              <a:rPr sz="1500" b="1">
                <a:solidFill>
                  <a:srgbClr val="C8963C"/>
                </a:solidFill>
                <a:latin typeface="Playfair Display"/>
              </a:rPr>
              <a:t>🐕  The Dog in the Cage</a:t>
            </a:r>
          </a:p>
        </p:txBody>
      </p:sp>
      <p:sp>
        <p:nvSpPr>
          <p:cNvPr id="13" name="TextBox 12"/>
          <p:cNvSpPr txBox="1"/>
          <p:nvPr/>
        </p:nvSpPr>
        <p:spPr>
          <a:xfrm>
            <a:off x="6080760" y="2560320"/>
            <a:ext cx="4892040" cy="2834640"/>
          </a:xfrm>
          <a:prstGeom prst="rect">
            <a:avLst/>
          </a:prstGeom>
          <a:noFill/>
        </p:spPr>
        <p:txBody>
          <a:bodyPr wrap="square">
            <a:spAutoFit/>
          </a:bodyPr>
          <a:lstStyle/>
          <a:p>
            <a:pPr algn="l"/>
            <a:r>
              <a:rPr sz="1300" b="0">
                <a:solidFill>
                  <a:srgbClr val="FFFFFF"/>
                </a:solidFill>
                <a:latin typeface="DM Sans"/>
              </a:rPr>
              <a:t>–  Comfortable. Safe. Fed on schedule.</a:t>
            </a:r>
          </a:p>
          <a:p>
            <a:pPr algn="l"/>
            <a:r>
              <a:rPr sz="1300" b="0">
                <a:solidFill>
                  <a:srgbClr val="FFFFFF"/>
                </a:solidFill>
                <a:latin typeface="DM Sans"/>
              </a:rPr>
              <a:t>–  Never has to hunt. Never has to adapt.</a:t>
            </a:r>
          </a:p>
          <a:p>
            <a:pPr algn="l"/>
            <a:r>
              <a:rPr sz="1300" b="0">
                <a:solidFill>
                  <a:srgbClr val="FFFFFF"/>
                </a:solidFill>
                <a:latin typeface="DM Sans"/>
              </a:rPr>
              <a:t>–  Over time — loses its instincts.</a:t>
            </a:r>
          </a:p>
          <a:p>
            <a:pPr algn="l"/>
            <a:r>
              <a:rPr sz="1300" b="0">
                <a:solidFill>
                  <a:srgbClr val="FFFFFF"/>
                </a:solidFill>
                <a:latin typeface="DM Sans"/>
              </a:rPr>
              <a:t>–  Forgets how to read the environment.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3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The Cage No One Talks About</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The cage is invisible. But your child may already be living in one.</a:t>
            </a:r>
          </a:p>
        </p:txBody>
      </p:sp>
      <p:sp>
        <p:nvSpPr>
          <p:cNvPr id="8" name="TextBox 7"/>
          <p:cNvSpPr txBox="1"/>
          <p:nvPr/>
        </p:nvSpPr>
        <p:spPr>
          <a:xfrm>
            <a:off x="594360" y="1920240"/>
            <a:ext cx="10515600" cy="347472"/>
          </a:xfrm>
          <a:prstGeom prst="rect">
            <a:avLst/>
          </a:prstGeom>
          <a:noFill/>
        </p:spPr>
        <p:txBody>
          <a:bodyPr wrap="square">
            <a:spAutoFit/>
          </a:bodyPr>
          <a:lstStyle/>
          <a:p>
            <a:pPr algn="l"/>
            <a:r>
              <a:rPr sz="1400" b="0">
                <a:solidFill>
                  <a:srgbClr val="445544"/>
                </a:solidFill>
                <a:latin typeface="DM Sans"/>
              </a:rPr>
              <a:t>The cage is not made of bars. It is made of:</a:t>
            </a:r>
          </a:p>
        </p:txBody>
      </p:sp>
      <p:sp>
        <p:nvSpPr>
          <p:cNvPr id="9" name="TextBox 8"/>
          <p:cNvSpPr txBox="1"/>
          <p:nvPr/>
        </p:nvSpPr>
        <p:spPr>
          <a:xfrm>
            <a:off x="594360" y="2286000"/>
            <a:ext cx="10789920" cy="3657600"/>
          </a:xfrm>
          <a:prstGeom prst="rect">
            <a:avLst/>
          </a:prstGeom>
          <a:noFill/>
        </p:spPr>
        <p:txBody>
          <a:bodyPr wrap="square">
            <a:spAutoFit/>
          </a:bodyPr>
          <a:lstStyle/>
          <a:p>
            <a:pPr algn="l"/>
            <a:r>
              <a:rPr sz="1400" b="0">
                <a:solidFill>
                  <a:srgbClr val="445544"/>
                </a:solidFill>
                <a:latin typeface="DM Sans"/>
              </a:rPr>
              <a:t>–  "I can't do this."</a:t>
            </a:r>
          </a:p>
          <a:p>
            <a:pPr algn="l"/>
            <a:r>
              <a:rPr sz="1400" b="0">
                <a:solidFill>
                  <a:srgbClr val="445544"/>
                </a:solidFill>
                <a:latin typeface="DM Sans"/>
              </a:rPr>
              <a:t>–  Shutting down after one wrong answer</a:t>
            </a:r>
          </a:p>
          <a:p>
            <a:pPr algn="l"/>
            <a:r>
              <a:rPr sz="1400" b="0">
                <a:solidFill>
                  <a:srgbClr val="445544"/>
                </a:solidFill>
                <a:latin typeface="DM Sans"/>
              </a:rPr>
              <a:t>–  Anxiety that rises before an exam — even when they are prepared</a:t>
            </a:r>
          </a:p>
          <a:p>
            <a:pPr algn="l"/>
            <a:r>
              <a:rPr sz="1400" b="0">
                <a:solidFill>
                  <a:srgbClr val="445544"/>
                </a:solidFill>
                <a:latin typeface="DM Sans"/>
              </a:rPr>
              <a:t>–  Giving up when something feels too hard</a:t>
            </a:r>
          </a:p>
          <a:p>
            <a:pPr algn="l"/>
            <a:r>
              <a:rPr sz="1400" b="0">
                <a:solidFill>
                  <a:srgbClr val="445544"/>
                </a:solidFill>
                <a:latin typeface="DM Sans"/>
              </a:rPr>
              <a:t>–  Reacting big to small setbacks</a:t>
            </a:r>
          </a:p>
          <a:p>
            <a:pPr algn="l"/>
            <a:r>
              <a:rPr sz="1400" b="0">
                <a:solidFill>
                  <a:srgbClr val="445544"/>
                </a:solidFill>
                <a:latin typeface="DM Sans"/>
              </a:rPr>
              <a:t>–  Confidence that only works when everything is going well</a:t>
            </a:r>
          </a:p>
        </p:txBody>
      </p:sp>
      <p:sp>
        <p:nvSpPr>
          <p:cNvPr id="10" name="Rectangle 9"/>
          <p:cNvSpPr/>
          <p:nvPr/>
        </p:nvSpPr>
        <p:spPr>
          <a:xfrm>
            <a:off x="411480" y="5852160"/>
            <a:ext cx="11365992" cy="658368"/>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5943600"/>
            <a:ext cx="11091672" cy="475488"/>
          </a:xfrm>
          <a:prstGeom prst="rect">
            <a:avLst/>
          </a:prstGeom>
          <a:noFill/>
        </p:spPr>
        <p:txBody>
          <a:bodyPr wrap="square">
            <a:spAutoFit/>
          </a:bodyPr>
          <a:lstStyle/>
          <a:p>
            <a:pPr algn="ctr"/>
            <a:r>
              <a:rPr sz="1300" b="1">
                <a:solidFill>
                  <a:srgbClr val="C8963C"/>
                </a:solidFill>
                <a:latin typeface="Playfair Display"/>
              </a:rPr>
              <a:t>These are not personality traits. They are patterns. And patterns can be changed.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4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You Have Given Your Child Everything</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You have invested in everything that goes in.</a:t>
            </a:r>
          </a:p>
        </p:txBody>
      </p:sp>
      <p:sp>
        <p:nvSpPr>
          <p:cNvPr id="8" name="TextBox 7"/>
          <p:cNvSpPr txBox="1"/>
          <p:nvPr/>
        </p:nvSpPr>
        <p:spPr>
          <a:xfrm>
            <a:off x="1828800" y="1920240"/>
            <a:ext cx="8229600" cy="2926080"/>
          </a:xfrm>
          <a:prstGeom prst="rect">
            <a:avLst/>
          </a:prstGeom>
          <a:noFill/>
        </p:spPr>
        <p:txBody>
          <a:bodyPr wrap="square">
            <a:spAutoFit/>
          </a:bodyPr>
          <a:lstStyle/>
          <a:p>
            <a:pPr algn="l"/>
            <a:r>
              <a:rPr sz="1500" b="1">
                <a:solidFill>
                  <a:srgbClr val="1A3A1A"/>
                </a:solidFill>
                <a:latin typeface="DM Sans"/>
              </a:rPr>
              <a:t>✓  The best academic preparation</a:t>
            </a:r>
          </a:p>
          <a:p>
            <a:pPr algn="l"/>
            <a:r>
              <a:rPr sz="1500" b="1">
                <a:solidFill>
                  <a:srgbClr val="1A3A1A"/>
                </a:solidFill>
                <a:latin typeface="DM Sans"/>
              </a:rPr>
              <a:t>✓  Tutoring and test prep</a:t>
            </a:r>
          </a:p>
          <a:p>
            <a:pPr algn="l"/>
            <a:r>
              <a:rPr sz="1500" b="1">
                <a:solidFill>
                  <a:srgbClr val="1A3A1A"/>
                </a:solidFill>
                <a:latin typeface="DM Sans"/>
              </a:rPr>
              <a:t>✓  Sports, music, extracurriculars</a:t>
            </a:r>
          </a:p>
          <a:p>
            <a:pPr algn="l"/>
            <a:r>
              <a:rPr sz="1500" b="1">
                <a:solidFill>
                  <a:srgbClr val="1A3A1A"/>
                </a:solidFill>
                <a:latin typeface="DM Sans"/>
              </a:rPr>
              <a:t>✓  Enrichment programs and experiences</a:t>
            </a:r>
          </a:p>
          <a:p>
            <a:pPr algn="l"/>
            <a:r>
              <a:rPr sz="1500" b="1">
                <a:solidFill>
                  <a:srgbClr val="1A3A1A"/>
                </a:solidFill>
                <a:latin typeface="DM Sans"/>
              </a:rPr>
              <a:t>✓  Every tool and resource they need</a:t>
            </a:r>
          </a:p>
        </p:txBody>
      </p:sp>
      <p:sp>
        <p:nvSpPr>
          <p:cNvPr id="9" name="Rectangle 8"/>
          <p:cNvSpPr/>
          <p:nvPr/>
        </p:nvSpPr>
        <p:spPr>
          <a:xfrm>
            <a:off x="594360" y="5029200"/>
            <a:ext cx="10515600" cy="182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5120640"/>
            <a:ext cx="10515600" cy="594360"/>
          </a:xfrm>
          <a:prstGeom prst="rect">
            <a:avLst/>
          </a:prstGeom>
          <a:noFill/>
        </p:spPr>
        <p:txBody>
          <a:bodyPr wrap="square">
            <a:spAutoFit/>
          </a:bodyPr>
          <a:lstStyle/>
          <a:p>
            <a:pPr algn="l"/>
            <a:r>
              <a:rPr sz="1800" b="1">
                <a:solidFill>
                  <a:srgbClr val="C8963C"/>
                </a:solidFill>
                <a:latin typeface="Playfair Display"/>
              </a:rPr>
              <a:t>But no one has taught them what to do when their own mind works against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5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What Parents in This Room Are Already Seeing</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You have probably already seen one of these.</a:t>
            </a:r>
          </a:p>
        </p:txBody>
      </p:sp>
      <p:sp>
        <p:nvSpPr>
          <p:cNvPr id="8" name="Rectangle 7"/>
          <p:cNvSpPr/>
          <p:nvPr/>
        </p:nvSpPr>
        <p:spPr>
          <a:xfrm>
            <a:off x="411480" y="1920240"/>
            <a:ext cx="5212080" cy="6583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993392"/>
            <a:ext cx="4937760" cy="548640"/>
          </a:xfrm>
          <a:prstGeom prst="rect">
            <a:avLst/>
          </a:prstGeom>
          <a:noFill/>
        </p:spPr>
        <p:txBody>
          <a:bodyPr wrap="square">
            <a:spAutoFit/>
          </a:bodyPr>
          <a:lstStyle/>
          <a:p>
            <a:pPr algn="l"/>
            <a:r>
              <a:rPr sz="1100" b="0">
                <a:solidFill>
                  <a:srgbClr val="1A3A1A"/>
                </a:solidFill>
                <a:latin typeface="DM Sans"/>
              </a:rPr>
              <a:t>📌  "She studies hard but panics during the exam and goes blank."</a:t>
            </a:r>
          </a:p>
        </p:txBody>
      </p:sp>
      <p:sp>
        <p:nvSpPr>
          <p:cNvPr id="10" name="Rectangle 9"/>
          <p:cNvSpPr/>
          <p:nvPr/>
        </p:nvSpPr>
        <p:spPr>
          <a:xfrm>
            <a:off x="6766560" y="1920240"/>
            <a:ext cx="5212080" cy="6583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1152" y="1993392"/>
            <a:ext cx="4937760" cy="548640"/>
          </a:xfrm>
          <a:prstGeom prst="rect">
            <a:avLst/>
          </a:prstGeom>
          <a:noFill/>
        </p:spPr>
        <p:txBody>
          <a:bodyPr wrap="square">
            <a:spAutoFit/>
          </a:bodyPr>
          <a:lstStyle/>
          <a:p>
            <a:pPr algn="l"/>
            <a:r>
              <a:rPr sz="1100" b="0">
                <a:solidFill>
                  <a:srgbClr val="1A3A1A"/>
                </a:solidFill>
                <a:latin typeface="DM Sans"/>
              </a:rPr>
              <a:t>📌  "He gets one bad grade and says he's stupid and wants to quit."</a:t>
            </a:r>
          </a:p>
        </p:txBody>
      </p:sp>
      <p:sp>
        <p:nvSpPr>
          <p:cNvPr id="12" name="Rectangle 11"/>
          <p:cNvSpPr/>
          <p:nvPr/>
        </p:nvSpPr>
        <p:spPr>
          <a:xfrm>
            <a:off x="411480" y="2688336"/>
            <a:ext cx="5212080" cy="6583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2761488"/>
            <a:ext cx="4937760" cy="548640"/>
          </a:xfrm>
          <a:prstGeom prst="rect">
            <a:avLst/>
          </a:prstGeom>
          <a:noFill/>
        </p:spPr>
        <p:txBody>
          <a:bodyPr wrap="square">
            <a:spAutoFit/>
          </a:bodyPr>
          <a:lstStyle/>
          <a:p>
            <a:pPr algn="l"/>
            <a:r>
              <a:rPr sz="1100" b="0">
                <a:solidFill>
                  <a:srgbClr val="1A3A1A"/>
                </a:solidFill>
                <a:latin typeface="DM Sans"/>
              </a:rPr>
              <a:t>📌  "She starts crying the moment something doesn't go her way."</a:t>
            </a:r>
          </a:p>
        </p:txBody>
      </p:sp>
      <p:sp>
        <p:nvSpPr>
          <p:cNvPr id="14" name="Rectangle 13"/>
          <p:cNvSpPr/>
          <p:nvPr/>
        </p:nvSpPr>
        <p:spPr>
          <a:xfrm>
            <a:off x="6766560" y="2688336"/>
            <a:ext cx="5212080" cy="6583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31152" y="2761488"/>
            <a:ext cx="4937760" cy="548640"/>
          </a:xfrm>
          <a:prstGeom prst="rect">
            <a:avLst/>
          </a:prstGeom>
          <a:noFill/>
        </p:spPr>
        <p:txBody>
          <a:bodyPr wrap="square">
            <a:spAutoFit/>
          </a:bodyPr>
          <a:lstStyle/>
          <a:p>
            <a:pPr algn="l"/>
            <a:r>
              <a:rPr sz="1100" b="0">
                <a:solidFill>
                  <a:srgbClr val="1A3A1A"/>
                </a:solidFill>
                <a:latin typeface="DM Sans"/>
              </a:rPr>
              <a:t>📌  "He never tries anything new because he's afraid of failing."</a:t>
            </a:r>
          </a:p>
        </p:txBody>
      </p:sp>
      <p:sp>
        <p:nvSpPr>
          <p:cNvPr id="16" name="Rectangle 15"/>
          <p:cNvSpPr/>
          <p:nvPr/>
        </p:nvSpPr>
        <p:spPr>
          <a:xfrm>
            <a:off x="411480" y="3456432"/>
            <a:ext cx="5212080" cy="6583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3529584"/>
            <a:ext cx="4937760" cy="548640"/>
          </a:xfrm>
          <a:prstGeom prst="rect">
            <a:avLst/>
          </a:prstGeom>
          <a:noFill/>
        </p:spPr>
        <p:txBody>
          <a:bodyPr wrap="square">
            <a:spAutoFit/>
          </a:bodyPr>
          <a:lstStyle/>
          <a:p>
            <a:pPr algn="l"/>
            <a:r>
              <a:rPr sz="1100" b="0">
                <a:solidFill>
                  <a:srgbClr val="1A3A1A"/>
                </a:solidFill>
                <a:latin typeface="DM Sans"/>
              </a:rPr>
              <a:t>📌  "She seems anxious all the time — I don't know why."</a:t>
            </a:r>
          </a:p>
        </p:txBody>
      </p:sp>
      <p:sp>
        <p:nvSpPr>
          <p:cNvPr id="18" name="Rectangle 17"/>
          <p:cNvSpPr/>
          <p:nvPr/>
        </p:nvSpPr>
        <p:spPr>
          <a:xfrm>
            <a:off x="6766560" y="3456432"/>
            <a:ext cx="5212080" cy="6583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31152" y="3529584"/>
            <a:ext cx="4937760" cy="548640"/>
          </a:xfrm>
          <a:prstGeom prst="rect">
            <a:avLst/>
          </a:prstGeom>
          <a:noFill/>
        </p:spPr>
        <p:txBody>
          <a:bodyPr wrap="square">
            <a:spAutoFit/>
          </a:bodyPr>
          <a:lstStyle/>
          <a:p>
            <a:pPr algn="l"/>
            <a:r>
              <a:rPr sz="1100" b="0">
                <a:solidFill>
                  <a:srgbClr val="1A3A1A"/>
                </a:solidFill>
                <a:latin typeface="DM Sans"/>
              </a:rPr>
              <a:t>📌  "He compares himself to classmates constantly and it's affecting his confidence."</a:t>
            </a:r>
          </a:p>
        </p:txBody>
      </p:sp>
      <p:sp>
        <p:nvSpPr>
          <p:cNvPr id="20" name="Rectangle 19"/>
          <p:cNvSpPr/>
          <p:nvPr/>
        </p:nvSpPr>
        <p:spPr>
          <a:xfrm>
            <a:off x="411480" y="5852160"/>
            <a:ext cx="11365992" cy="658368"/>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943600"/>
            <a:ext cx="11091672" cy="475488"/>
          </a:xfrm>
          <a:prstGeom prst="rect">
            <a:avLst/>
          </a:prstGeom>
          <a:noFill/>
        </p:spPr>
        <p:txBody>
          <a:bodyPr wrap="square">
            <a:spAutoFit/>
          </a:bodyPr>
          <a:lstStyle/>
          <a:p>
            <a:pPr algn="ctr"/>
            <a:r>
              <a:rPr sz="1300" b="1">
                <a:solidFill>
                  <a:srgbClr val="C8963C"/>
                </a:solidFill>
                <a:latin typeface="Playfair Display"/>
              </a:rPr>
              <a:t>This is not a discipline problem. It is a skills gap.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6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The Gap Schools Don't Fill</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Schools teach children what to think.
Rarely how to manage what happens within.</a:t>
            </a:r>
          </a:p>
        </p:txBody>
      </p:sp>
      <p:sp>
        <p:nvSpPr>
          <p:cNvPr id="8" name="Rectangle 7"/>
          <p:cNvSpPr/>
          <p:nvPr/>
        </p:nvSpPr>
        <p:spPr>
          <a:xfrm>
            <a:off x="411480" y="2103120"/>
            <a:ext cx="5212080" cy="356616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67712"/>
            <a:ext cx="4892040" cy="411480"/>
          </a:xfrm>
          <a:prstGeom prst="rect">
            <a:avLst/>
          </a:prstGeom>
          <a:noFill/>
        </p:spPr>
        <p:txBody>
          <a:bodyPr wrap="square">
            <a:spAutoFit/>
          </a:bodyPr>
          <a:lstStyle/>
          <a:p>
            <a:pPr algn="l"/>
            <a:r>
              <a:rPr sz="1500" b="1">
                <a:solidFill>
                  <a:srgbClr val="1A3A1A"/>
                </a:solidFill>
                <a:latin typeface="Playfair Display"/>
              </a:rPr>
              <a:t>What schools teach:</a:t>
            </a:r>
          </a:p>
        </p:txBody>
      </p:sp>
      <p:sp>
        <p:nvSpPr>
          <p:cNvPr id="10" name="TextBox 9"/>
          <p:cNvSpPr txBox="1"/>
          <p:nvPr/>
        </p:nvSpPr>
        <p:spPr>
          <a:xfrm>
            <a:off x="594360" y="2697480"/>
            <a:ext cx="4892040" cy="2834640"/>
          </a:xfrm>
          <a:prstGeom prst="rect">
            <a:avLst/>
          </a:prstGeom>
          <a:noFill/>
        </p:spPr>
        <p:txBody>
          <a:bodyPr wrap="square">
            <a:spAutoFit/>
          </a:bodyPr>
          <a:lstStyle/>
          <a:p>
            <a:pPr algn="l"/>
            <a:r>
              <a:rPr sz="1300" b="0">
                <a:solidFill>
                  <a:srgbClr val="445544"/>
                </a:solidFill>
                <a:latin typeface="DM Sans"/>
              </a:rPr>
              <a:t>–  Content, formulas, facts</a:t>
            </a:r>
          </a:p>
          <a:p>
            <a:pPr algn="l"/>
            <a:r>
              <a:rPr sz="1300" b="0">
                <a:solidFill>
                  <a:srgbClr val="445544"/>
                </a:solidFill>
                <a:latin typeface="DM Sans"/>
              </a:rPr>
              <a:t>–  How to perform and achieve</a:t>
            </a:r>
          </a:p>
          <a:p>
            <a:pPr algn="l"/>
            <a:r>
              <a:rPr sz="1300" b="0">
                <a:solidFill>
                  <a:srgbClr val="445544"/>
                </a:solidFill>
                <a:latin typeface="DM Sans"/>
              </a:rPr>
              <a:t>–  How to compete</a:t>
            </a:r>
          </a:p>
          <a:p>
            <a:pPr algn="l"/>
            <a:r>
              <a:rPr sz="1300" b="0">
                <a:solidFill>
                  <a:srgbClr val="445544"/>
                </a:solidFill>
                <a:latin typeface="DM Sans"/>
              </a:rPr>
              <a:t>–  How to follow a system</a:t>
            </a:r>
          </a:p>
        </p:txBody>
      </p:sp>
      <p:sp>
        <p:nvSpPr>
          <p:cNvPr id="11" name="Rectangle 10"/>
          <p:cNvSpPr/>
          <p:nvPr/>
        </p:nvSpPr>
        <p:spPr>
          <a:xfrm>
            <a:off x="5897880" y="2103120"/>
            <a:ext cx="5212080" cy="356616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2267712"/>
            <a:ext cx="4892040" cy="411480"/>
          </a:xfrm>
          <a:prstGeom prst="rect">
            <a:avLst/>
          </a:prstGeom>
          <a:noFill/>
        </p:spPr>
        <p:txBody>
          <a:bodyPr wrap="square">
            <a:spAutoFit/>
          </a:bodyPr>
          <a:lstStyle/>
          <a:p>
            <a:pPr algn="l"/>
            <a:r>
              <a:rPr sz="1500" b="1">
                <a:solidFill>
                  <a:srgbClr val="C8963C"/>
                </a:solidFill>
                <a:latin typeface="Playfair Display"/>
              </a:rPr>
              <a:t>What no school teaches:</a:t>
            </a:r>
          </a:p>
        </p:txBody>
      </p:sp>
      <p:sp>
        <p:nvSpPr>
          <p:cNvPr id="13" name="TextBox 12"/>
          <p:cNvSpPr txBox="1"/>
          <p:nvPr/>
        </p:nvSpPr>
        <p:spPr>
          <a:xfrm>
            <a:off x="6080760" y="2697480"/>
            <a:ext cx="4892040" cy="2834640"/>
          </a:xfrm>
          <a:prstGeom prst="rect">
            <a:avLst/>
          </a:prstGeom>
          <a:noFill/>
        </p:spPr>
        <p:txBody>
          <a:bodyPr wrap="square">
            <a:spAutoFit/>
          </a:bodyPr>
          <a:lstStyle/>
          <a:p>
            <a:pPr algn="l"/>
            <a:r>
              <a:rPr sz="1300" b="0">
                <a:solidFill>
                  <a:srgbClr val="FFFFFF"/>
                </a:solidFill>
                <a:latin typeface="DM Sans"/>
              </a:rPr>
              <a:t>–  How to recover after a mistake</a:t>
            </a:r>
          </a:p>
          <a:p>
            <a:pPr algn="l"/>
            <a:r>
              <a:rPr sz="1300" b="0">
                <a:solidFill>
                  <a:srgbClr val="FFFFFF"/>
                </a:solidFill>
                <a:latin typeface="DM Sans"/>
              </a:rPr>
              <a:t>–  How to stay steady when pressure rises</a:t>
            </a:r>
          </a:p>
          <a:p>
            <a:pPr algn="l"/>
            <a:r>
              <a:rPr sz="1300" b="0">
                <a:solidFill>
                  <a:srgbClr val="FFFFFF"/>
                </a:solidFill>
                <a:latin typeface="DM Sans"/>
              </a:rPr>
              <a:t>–  How to interrupt a negative thought spiral</a:t>
            </a:r>
          </a:p>
          <a:p>
            <a:pPr algn="l"/>
            <a:r>
              <a:rPr sz="1300" b="0">
                <a:solidFill>
                  <a:srgbClr val="FFFFFF"/>
                </a:solidFill>
                <a:latin typeface="DM Sans"/>
              </a:rPr>
              <a:t>–  How to believe in yourself when results say otherwise</a:t>
            </a:r>
          </a:p>
          <a:p>
            <a:pPr algn="l"/>
            <a:r>
              <a:rPr sz="1300" b="0">
                <a:solidFill>
                  <a:srgbClr val="FFFFFF"/>
                </a:solidFill>
                <a:latin typeface="DM Sans"/>
              </a:rPr>
              <a:t>–  How to regulate the emotional state that determines everything</a:t>
            </a:r>
          </a:p>
        </p:txBody>
      </p:sp>
      <p:sp>
        <p:nvSpPr>
          <p:cNvPr id="14" name="Rectangle 13"/>
          <p:cNvSpPr/>
          <p:nvPr/>
        </p:nvSpPr>
        <p:spPr>
          <a:xfrm>
            <a:off x="411480" y="5852160"/>
            <a:ext cx="11365992" cy="658368"/>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43600"/>
            <a:ext cx="11091672" cy="475488"/>
          </a:xfrm>
          <a:prstGeom prst="rect">
            <a:avLst/>
          </a:prstGeom>
          <a:noFill/>
        </p:spPr>
        <p:txBody>
          <a:bodyPr wrap="square">
            <a:spAutoFit/>
          </a:bodyPr>
          <a:lstStyle/>
          <a:p>
            <a:pPr algn="ctr"/>
            <a:r>
              <a:rPr sz="1300" b="1">
                <a:solidFill>
                  <a:srgbClr val="C8963C"/>
                </a:solidFill>
                <a:latin typeface="Playfair Display"/>
              </a:rPr>
              <a:t>There is no subject called: "What to do when your mind works against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7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What the Research Says</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This is not a theory. The science is clear.</a:t>
            </a:r>
          </a:p>
        </p:txBody>
      </p:sp>
      <p:sp>
        <p:nvSpPr>
          <p:cNvPr id="8" name="Rectangle 7"/>
          <p:cNvSpPr/>
          <p:nvPr/>
        </p:nvSpPr>
        <p:spPr>
          <a:xfrm>
            <a:off x="411480" y="1920240"/>
            <a:ext cx="5212080" cy="1719072"/>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2029968"/>
            <a:ext cx="4937760" cy="347472"/>
          </a:xfrm>
          <a:prstGeom prst="rect">
            <a:avLst/>
          </a:prstGeom>
          <a:noFill/>
        </p:spPr>
        <p:txBody>
          <a:bodyPr wrap="square">
            <a:spAutoFit/>
          </a:bodyPr>
          <a:lstStyle/>
          <a:p>
            <a:pPr algn="l"/>
            <a:r>
              <a:rPr sz="1000" b="1">
                <a:solidFill>
                  <a:srgbClr val="C8963C"/>
                </a:solidFill>
                <a:latin typeface="DM Sans"/>
              </a:rPr>
              <a:t>📊 CDC Youth Risk Behavior Survey</a:t>
            </a:r>
          </a:p>
        </p:txBody>
      </p:sp>
      <p:sp>
        <p:nvSpPr>
          <p:cNvPr id="10" name="TextBox 9"/>
          <p:cNvSpPr txBox="1"/>
          <p:nvPr/>
        </p:nvSpPr>
        <p:spPr>
          <a:xfrm>
            <a:off x="576072" y="2377440"/>
            <a:ext cx="4937760" cy="566928"/>
          </a:xfrm>
          <a:prstGeom prst="rect">
            <a:avLst/>
          </a:prstGeom>
          <a:noFill/>
        </p:spPr>
        <p:txBody>
          <a:bodyPr wrap="square">
            <a:spAutoFit/>
          </a:bodyPr>
          <a:lstStyle/>
          <a:p>
            <a:pPr algn="l"/>
            <a:r>
              <a:rPr sz="1300" b="1">
                <a:solidFill>
                  <a:srgbClr val="FFFFFF"/>
                </a:solidFill>
                <a:latin typeface="DM Sans"/>
              </a:rPr>
              <a:t>42% of high school students report persistent sadness or hopelessness.</a:t>
            </a:r>
          </a:p>
        </p:txBody>
      </p:sp>
      <p:sp>
        <p:nvSpPr>
          <p:cNvPr id="11" name="TextBox 10"/>
          <p:cNvSpPr txBox="1"/>
          <p:nvPr/>
        </p:nvSpPr>
        <p:spPr>
          <a:xfrm>
            <a:off x="576072" y="2999232"/>
            <a:ext cx="4937760" cy="502920"/>
          </a:xfrm>
          <a:prstGeom prst="rect">
            <a:avLst/>
          </a:prstGeom>
          <a:noFill/>
        </p:spPr>
        <p:txBody>
          <a:bodyPr wrap="square">
            <a:spAutoFit/>
          </a:bodyPr>
          <a:lstStyle/>
          <a:p>
            <a:pPr algn="l"/>
            <a:r>
              <a:rPr sz="1100" b="0">
                <a:solidFill>
                  <a:srgbClr val="E8F4E8"/>
                </a:solidFill>
                <a:latin typeface="DM Sans"/>
              </a:rPr>
              <a:t>Nearly half. This is not a fringe statistic.</a:t>
            </a:r>
          </a:p>
        </p:txBody>
      </p:sp>
      <p:sp>
        <p:nvSpPr>
          <p:cNvPr id="12" name="Rectangle 11"/>
          <p:cNvSpPr/>
          <p:nvPr/>
        </p:nvSpPr>
        <p:spPr>
          <a:xfrm>
            <a:off x="6766560" y="1920240"/>
            <a:ext cx="5212080" cy="1719072"/>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31152" y="2029968"/>
            <a:ext cx="4937760" cy="347472"/>
          </a:xfrm>
          <a:prstGeom prst="rect">
            <a:avLst/>
          </a:prstGeom>
          <a:noFill/>
        </p:spPr>
        <p:txBody>
          <a:bodyPr wrap="square">
            <a:spAutoFit/>
          </a:bodyPr>
          <a:lstStyle/>
          <a:p>
            <a:pPr algn="l"/>
            <a:r>
              <a:rPr sz="1000" b="1">
                <a:solidFill>
                  <a:srgbClr val="C8963C"/>
                </a:solidFill>
                <a:latin typeface="DM Sans"/>
              </a:rPr>
              <a:t>📊 Harvard Business Publishing, 2024</a:t>
            </a:r>
          </a:p>
        </p:txBody>
      </p:sp>
      <p:sp>
        <p:nvSpPr>
          <p:cNvPr id="14" name="TextBox 13"/>
          <p:cNvSpPr txBox="1"/>
          <p:nvPr/>
        </p:nvSpPr>
        <p:spPr>
          <a:xfrm>
            <a:off x="6931152" y="2377440"/>
            <a:ext cx="4937760" cy="566928"/>
          </a:xfrm>
          <a:prstGeom prst="rect">
            <a:avLst/>
          </a:prstGeom>
          <a:noFill/>
        </p:spPr>
        <p:txBody>
          <a:bodyPr wrap="square">
            <a:spAutoFit/>
          </a:bodyPr>
          <a:lstStyle/>
          <a:p>
            <a:pPr algn="l"/>
            <a:r>
              <a:rPr sz="1300" b="1">
                <a:solidFill>
                  <a:srgbClr val="FFFFFF"/>
                </a:solidFill>
                <a:latin typeface="DM Sans"/>
              </a:rPr>
              <a:t>4 of the 5 most in-demand workplace skills are human skills.</a:t>
            </a:r>
          </a:p>
        </p:txBody>
      </p:sp>
      <p:sp>
        <p:nvSpPr>
          <p:cNvPr id="15" name="TextBox 14"/>
          <p:cNvSpPr txBox="1"/>
          <p:nvPr/>
        </p:nvSpPr>
        <p:spPr>
          <a:xfrm>
            <a:off x="6931152" y="2999232"/>
            <a:ext cx="4937760" cy="502920"/>
          </a:xfrm>
          <a:prstGeom prst="rect">
            <a:avLst/>
          </a:prstGeom>
          <a:noFill/>
        </p:spPr>
        <p:txBody>
          <a:bodyPr wrap="square">
            <a:spAutoFit/>
          </a:bodyPr>
          <a:lstStyle/>
          <a:p>
            <a:pPr algn="l"/>
            <a:r>
              <a:rPr sz="1100" b="0">
                <a:solidFill>
                  <a:srgbClr val="E8F4E8"/>
                </a:solidFill>
                <a:latin typeface="DM Sans"/>
              </a:rPr>
              <a:t>Self-awareness, resilience, flexibility, agility. Yet schools rarely teach them.</a:t>
            </a:r>
          </a:p>
        </p:txBody>
      </p:sp>
      <p:sp>
        <p:nvSpPr>
          <p:cNvPr id="16" name="Rectangle 15"/>
          <p:cNvSpPr/>
          <p:nvPr/>
        </p:nvSpPr>
        <p:spPr>
          <a:xfrm>
            <a:off x="411480" y="3730752"/>
            <a:ext cx="5212080" cy="1719072"/>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3840480"/>
            <a:ext cx="4937760" cy="347472"/>
          </a:xfrm>
          <a:prstGeom prst="rect">
            <a:avLst/>
          </a:prstGeom>
          <a:noFill/>
        </p:spPr>
        <p:txBody>
          <a:bodyPr wrap="square">
            <a:spAutoFit/>
          </a:bodyPr>
          <a:lstStyle/>
          <a:p>
            <a:pPr algn="l"/>
            <a:r>
              <a:rPr sz="1000" b="1">
                <a:solidFill>
                  <a:srgbClr val="C8963C"/>
                </a:solidFill>
                <a:latin typeface="DM Sans"/>
              </a:rPr>
              <a:t>📊 Albert Bandura, Stanford University</a:t>
            </a:r>
          </a:p>
        </p:txBody>
      </p:sp>
      <p:sp>
        <p:nvSpPr>
          <p:cNvPr id="18" name="TextBox 17"/>
          <p:cNvSpPr txBox="1"/>
          <p:nvPr/>
        </p:nvSpPr>
        <p:spPr>
          <a:xfrm>
            <a:off x="576072" y="4187952"/>
            <a:ext cx="4937760" cy="566928"/>
          </a:xfrm>
          <a:prstGeom prst="rect">
            <a:avLst/>
          </a:prstGeom>
          <a:noFill/>
        </p:spPr>
        <p:txBody>
          <a:bodyPr wrap="square">
            <a:spAutoFit/>
          </a:bodyPr>
          <a:lstStyle/>
          <a:p>
            <a:pPr algn="l"/>
            <a:r>
              <a:rPr sz="1300" b="1">
                <a:solidFill>
                  <a:srgbClr val="FFFFFF"/>
                </a:solidFill>
                <a:latin typeface="DM Sans"/>
              </a:rPr>
              <a:t>Self-efficacy is a stronger predictor of success than actual ability.</a:t>
            </a:r>
          </a:p>
        </p:txBody>
      </p:sp>
      <p:sp>
        <p:nvSpPr>
          <p:cNvPr id="19" name="TextBox 18"/>
          <p:cNvSpPr txBox="1"/>
          <p:nvPr/>
        </p:nvSpPr>
        <p:spPr>
          <a:xfrm>
            <a:off x="576072" y="4809744"/>
            <a:ext cx="4937760" cy="502920"/>
          </a:xfrm>
          <a:prstGeom prst="rect">
            <a:avLst/>
          </a:prstGeom>
          <a:noFill/>
        </p:spPr>
        <p:txBody>
          <a:bodyPr wrap="square">
            <a:spAutoFit/>
          </a:bodyPr>
          <a:lstStyle/>
          <a:p>
            <a:pPr algn="l"/>
            <a:r>
              <a:rPr sz="1100" b="0">
                <a:solidFill>
                  <a:srgbClr val="E8F4E8"/>
                </a:solidFill>
                <a:latin typeface="DM Sans"/>
              </a:rPr>
              <a:t>What your child believes about themselves matters more than what they know.</a:t>
            </a:r>
          </a:p>
        </p:txBody>
      </p:sp>
      <p:sp>
        <p:nvSpPr>
          <p:cNvPr id="20" name="Rectangle 19"/>
          <p:cNvSpPr/>
          <p:nvPr/>
        </p:nvSpPr>
        <p:spPr>
          <a:xfrm>
            <a:off x="6766560" y="3730752"/>
            <a:ext cx="5212080" cy="1719072"/>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31152" y="3840480"/>
            <a:ext cx="4937760" cy="347472"/>
          </a:xfrm>
          <a:prstGeom prst="rect">
            <a:avLst/>
          </a:prstGeom>
          <a:noFill/>
        </p:spPr>
        <p:txBody>
          <a:bodyPr wrap="square">
            <a:spAutoFit/>
          </a:bodyPr>
          <a:lstStyle/>
          <a:p>
            <a:pPr algn="l"/>
            <a:r>
              <a:rPr sz="1000" b="1">
                <a:solidFill>
                  <a:srgbClr val="C8963C"/>
                </a:solidFill>
                <a:latin typeface="DM Sans"/>
              </a:rPr>
              <a:t>📊 Yale Center for Emotional Intelligence</a:t>
            </a:r>
          </a:p>
        </p:txBody>
      </p:sp>
      <p:sp>
        <p:nvSpPr>
          <p:cNvPr id="22" name="TextBox 21"/>
          <p:cNvSpPr txBox="1"/>
          <p:nvPr/>
        </p:nvSpPr>
        <p:spPr>
          <a:xfrm>
            <a:off x="6931152" y="4187952"/>
            <a:ext cx="4937760" cy="566928"/>
          </a:xfrm>
          <a:prstGeom prst="rect">
            <a:avLst/>
          </a:prstGeom>
          <a:noFill/>
        </p:spPr>
        <p:txBody>
          <a:bodyPr wrap="square">
            <a:spAutoFit/>
          </a:bodyPr>
          <a:lstStyle/>
          <a:p>
            <a:pPr algn="l"/>
            <a:r>
              <a:rPr sz="1300" b="1">
                <a:solidFill>
                  <a:srgbClr val="FFFFFF"/>
                </a:solidFill>
                <a:latin typeface="DM Sans"/>
              </a:rPr>
              <a:t>EQ predicts adult career success more reliably than IQ alone.</a:t>
            </a:r>
          </a:p>
        </p:txBody>
      </p:sp>
      <p:sp>
        <p:nvSpPr>
          <p:cNvPr id="23" name="TextBox 22"/>
          <p:cNvSpPr txBox="1"/>
          <p:nvPr/>
        </p:nvSpPr>
        <p:spPr>
          <a:xfrm>
            <a:off x="6931152" y="4809744"/>
            <a:ext cx="4937760" cy="502920"/>
          </a:xfrm>
          <a:prstGeom prst="rect">
            <a:avLst/>
          </a:prstGeom>
          <a:noFill/>
        </p:spPr>
        <p:txBody>
          <a:bodyPr wrap="square">
            <a:spAutoFit/>
          </a:bodyPr>
          <a:lstStyle/>
          <a:p>
            <a:pPr algn="l"/>
            <a:r>
              <a:rPr sz="1100" b="0">
                <a:solidFill>
                  <a:srgbClr val="E8F4E8"/>
                </a:solidFill>
                <a:latin typeface="DM Sans"/>
              </a:rPr>
              <a:t>The skills dismissed as 'soft' are the ones that determine outcomes.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8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Why Childhood Is The Window</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The best time to build these skills is now —
before the patterns harden.</a:t>
            </a:r>
          </a:p>
        </p:txBody>
      </p:sp>
      <p:sp>
        <p:nvSpPr>
          <p:cNvPr id="8" name="TextBox 7"/>
          <p:cNvSpPr txBox="1"/>
          <p:nvPr/>
        </p:nvSpPr>
        <p:spPr>
          <a:xfrm>
            <a:off x="594360" y="2011680"/>
            <a:ext cx="10515600" cy="384048"/>
          </a:xfrm>
          <a:prstGeom prst="rect">
            <a:avLst/>
          </a:prstGeom>
          <a:noFill/>
        </p:spPr>
        <p:txBody>
          <a:bodyPr wrap="square">
            <a:spAutoFit/>
          </a:bodyPr>
          <a:lstStyle/>
          <a:p>
            <a:pPr algn="l"/>
            <a:r>
              <a:rPr sz="1400" b="1">
                <a:solidFill>
                  <a:srgbClr val="1A3A1A"/>
                </a:solidFill>
                <a:latin typeface="DM Sans"/>
              </a:rPr>
              <a:t>🧠  The brain is most malleable in childhood.</a:t>
            </a:r>
          </a:p>
        </p:txBody>
      </p:sp>
      <p:sp>
        <p:nvSpPr>
          <p:cNvPr id="9" name="TextBox 8"/>
          <p:cNvSpPr txBox="1"/>
          <p:nvPr/>
        </p:nvSpPr>
        <p:spPr>
          <a:xfrm>
            <a:off x="594360" y="2395728"/>
            <a:ext cx="10515600" cy="658368"/>
          </a:xfrm>
          <a:prstGeom prst="rect">
            <a:avLst/>
          </a:prstGeom>
          <a:noFill/>
        </p:spPr>
        <p:txBody>
          <a:bodyPr wrap="square">
            <a:spAutoFit/>
          </a:bodyPr>
          <a:lstStyle/>
          <a:p>
            <a:pPr algn="l"/>
            <a:r>
              <a:rPr sz="1250" b="0">
                <a:solidFill>
                  <a:srgbClr val="445544"/>
                </a:solidFill>
                <a:latin typeface="DM Sans"/>
              </a:rPr>
              <a:t>Neuroplasticity research shows that habits and responses formed early are the ones that persist. The longer they go unaddressed, the harder they are to change.</a:t>
            </a:r>
          </a:p>
        </p:txBody>
      </p:sp>
      <p:sp>
        <p:nvSpPr>
          <p:cNvPr id="10" name="TextBox 9"/>
          <p:cNvSpPr txBox="1"/>
          <p:nvPr/>
        </p:nvSpPr>
        <p:spPr>
          <a:xfrm>
            <a:off x="594360" y="3383280"/>
            <a:ext cx="10515600" cy="384048"/>
          </a:xfrm>
          <a:prstGeom prst="rect">
            <a:avLst/>
          </a:prstGeom>
          <a:noFill/>
        </p:spPr>
        <p:txBody>
          <a:bodyPr wrap="square">
            <a:spAutoFit/>
          </a:bodyPr>
          <a:lstStyle/>
          <a:p>
            <a:pPr algn="l"/>
            <a:r>
              <a:rPr sz="1400" b="1">
                <a:solidFill>
                  <a:srgbClr val="1A3A1A"/>
                </a:solidFill>
                <a:latin typeface="DM Sans"/>
              </a:rPr>
              <a:t>⚡  Stress physically reduces cognitive function.</a:t>
            </a:r>
          </a:p>
        </p:txBody>
      </p:sp>
      <p:sp>
        <p:nvSpPr>
          <p:cNvPr id="11" name="TextBox 10"/>
          <p:cNvSpPr txBox="1"/>
          <p:nvPr/>
        </p:nvSpPr>
        <p:spPr>
          <a:xfrm>
            <a:off x="594360" y="3767328"/>
            <a:ext cx="10515600" cy="658368"/>
          </a:xfrm>
          <a:prstGeom prst="rect">
            <a:avLst/>
          </a:prstGeom>
          <a:noFill/>
        </p:spPr>
        <p:txBody>
          <a:bodyPr wrap="square">
            <a:spAutoFit/>
          </a:bodyPr>
          <a:lstStyle/>
          <a:p>
            <a:pPr algn="l"/>
            <a:r>
              <a:rPr sz="1250" b="0">
                <a:solidFill>
                  <a:srgbClr val="445544"/>
                </a:solidFill>
                <a:latin typeface="DM Sans"/>
              </a:rPr>
              <a:t>Research from HeartMath Institute: negative emotional states measurably impair memory, focus, and decision-making. Your child cannot think clearly when in a stress response — no matter how well prepared.</a:t>
            </a:r>
          </a:p>
        </p:txBody>
      </p:sp>
      <p:sp>
        <p:nvSpPr>
          <p:cNvPr id="12" name="TextBox 11"/>
          <p:cNvSpPr txBox="1"/>
          <p:nvPr/>
        </p:nvSpPr>
        <p:spPr>
          <a:xfrm>
            <a:off x="594360" y="4754880"/>
            <a:ext cx="10515600" cy="384048"/>
          </a:xfrm>
          <a:prstGeom prst="rect">
            <a:avLst/>
          </a:prstGeom>
          <a:noFill/>
        </p:spPr>
        <p:txBody>
          <a:bodyPr wrap="square">
            <a:spAutoFit/>
          </a:bodyPr>
          <a:lstStyle/>
          <a:p>
            <a:pPr algn="l"/>
            <a:r>
              <a:rPr sz="1400" b="1">
                <a:solidFill>
                  <a:srgbClr val="1A3A1A"/>
                </a:solidFill>
                <a:latin typeface="DM Sans"/>
              </a:rPr>
              <a:t>🌱  Emotion regulation is a learnable skill.</a:t>
            </a:r>
          </a:p>
        </p:txBody>
      </p:sp>
      <p:sp>
        <p:nvSpPr>
          <p:cNvPr id="13" name="TextBox 12"/>
          <p:cNvSpPr txBox="1"/>
          <p:nvPr/>
        </p:nvSpPr>
        <p:spPr>
          <a:xfrm>
            <a:off x="594360" y="5138928"/>
            <a:ext cx="10515600" cy="658368"/>
          </a:xfrm>
          <a:prstGeom prst="rect">
            <a:avLst/>
          </a:prstGeom>
          <a:noFill/>
        </p:spPr>
        <p:txBody>
          <a:bodyPr wrap="square">
            <a:spAutoFit/>
          </a:bodyPr>
          <a:lstStyle/>
          <a:p>
            <a:pPr algn="l"/>
            <a:r>
              <a:rPr sz="1250" b="0">
                <a:solidFill>
                  <a:srgbClr val="445544"/>
                </a:solidFill>
                <a:latin typeface="DM Sans"/>
              </a:rPr>
              <a:t>UC Berkeley's Greater Good Science Center confirms: children who learn to regulate emotional responses perform better academically, socially, and in long-term well-being.</a:t>
            </a:r>
          </a:p>
        </p:txBody>
      </p:sp>
      <p:sp>
        <p:nvSpPr>
          <p:cNvPr id="14" name="Rectangle 13"/>
          <p:cNvSpPr/>
          <p:nvPr/>
        </p:nvSpPr>
        <p:spPr>
          <a:xfrm>
            <a:off x="411480" y="5852160"/>
            <a:ext cx="11365992" cy="658368"/>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43600"/>
            <a:ext cx="11091672" cy="475488"/>
          </a:xfrm>
          <a:prstGeom prst="rect">
            <a:avLst/>
          </a:prstGeom>
          <a:noFill/>
        </p:spPr>
        <p:txBody>
          <a:bodyPr wrap="square">
            <a:spAutoFit/>
          </a:bodyPr>
          <a:lstStyle/>
          <a:p>
            <a:pPr algn="ctr"/>
            <a:r>
              <a:rPr sz="1300" b="1">
                <a:solidFill>
                  <a:srgbClr val="C8963C"/>
                </a:solidFill>
                <a:latin typeface="Playfair Display"/>
              </a:rPr>
              <a:t>This is not a crisis intervention. It is an investment at exactly the right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9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What ThinkRoot Actually Does</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Not therapy. Not tutoring. Not more content.
A structured, repeatable method.</a:t>
            </a:r>
          </a:p>
        </p:txBody>
      </p:sp>
      <p:sp>
        <p:nvSpPr>
          <p:cNvPr id="8" name="TextBox 7"/>
          <p:cNvSpPr txBox="1"/>
          <p:nvPr/>
        </p:nvSpPr>
        <p:spPr>
          <a:xfrm>
            <a:off x="594360" y="2011680"/>
            <a:ext cx="10515600" cy="365760"/>
          </a:xfrm>
          <a:prstGeom prst="rect">
            <a:avLst/>
          </a:prstGeom>
          <a:noFill/>
        </p:spPr>
        <p:txBody>
          <a:bodyPr wrap="square">
            <a:spAutoFit/>
          </a:bodyPr>
          <a:lstStyle/>
          <a:p>
            <a:pPr algn="l"/>
            <a:r>
              <a:rPr sz="1300" b="0">
                <a:solidFill>
                  <a:srgbClr val="445544"/>
                </a:solidFill>
                <a:latin typeface="DM Sans"/>
              </a:rPr>
              <a:t>The AAA Method — three steps children learn to use in any difficult moment:</a:t>
            </a:r>
          </a:p>
        </p:txBody>
      </p:sp>
      <p:sp>
        <p:nvSpPr>
          <p:cNvPr id="9" name="Rectangle 8"/>
          <p:cNvSpPr/>
          <p:nvPr/>
        </p:nvSpPr>
        <p:spPr>
          <a:xfrm>
            <a:off x="411480" y="2514600"/>
            <a:ext cx="3566160" cy="301752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79192"/>
            <a:ext cx="3291840" cy="438912"/>
          </a:xfrm>
          <a:prstGeom prst="rect">
            <a:avLst/>
          </a:prstGeom>
          <a:noFill/>
        </p:spPr>
        <p:txBody>
          <a:bodyPr wrap="square">
            <a:spAutoFit/>
          </a:bodyPr>
          <a:lstStyle/>
          <a:p>
            <a:pPr algn="l"/>
            <a:r>
              <a:rPr sz="1700" b="1">
                <a:solidFill>
                  <a:srgbClr val="C8963C"/>
                </a:solidFill>
                <a:latin typeface="Playfair Display"/>
              </a:rPr>
              <a:t>A  —  Awareness</a:t>
            </a:r>
          </a:p>
        </p:txBody>
      </p:sp>
      <p:sp>
        <p:nvSpPr>
          <p:cNvPr id="11" name="TextBox 10"/>
          <p:cNvSpPr txBox="1"/>
          <p:nvPr/>
        </p:nvSpPr>
        <p:spPr>
          <a:xfrm>
            <a:off x="594360" y="3172968"/>
            <a:ext cx="3291840" cy="2194560"/>
          </a:xfrm>
          <a:prstGeom prst="rect">
            <a:avLst/>
          </a:prstGeom>
          <a:noFill/>
        </p:spPr>
        <p:txBody>
          <a:bodyPr wrap="square">
            <a:spAutoFit/>
          </a:bodyPr>
          <a:lstStyle/>
          <a:p>
            <a:pPr algn="l"/>
            <a:r>
              <a:rPr sz="1150" b="0">
                <a:solidFill>
                  <a:srgbClr val="FFFFFF"/>
                </a:solidFill>
                <a:latin typeface="DM Sans"/>
              </a:rPr>
              <a:t>Notice what is happening in your mind and body before it escalates.
Catch the thought, the feeling, the physical signal — early.
This is the step most children have never been taught.</a:t>
            </a:r>
          </a:p>
        </p:txBody>
      </p:sp>
      <p:sp>
        <p:nvSpPr>
          <p:cNvPr id="12" name="Rectangle 11"/>
          <p:cNvSpPr/>
          <p:nvPr/>
        </p:nvSpPr>
        <p:spPr>
          <a:xfrm>
            <a:off x="4206240" y="2514600"/>
            <a:ext cx="3566160" cy="301752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679192"/>
            <a:ext cx="3291840" cy="438912"/>
          </a:xfrm>
          <a:prstGeom prst="rect">
            <a:avLst/>
          </a:prstGeom>
          <a:noFill/>
        </p:spPr>
        <p:txBody>
          <a:bodyPr wrap="square">
            <a:spAutoFit/>
          </a:bodyPr>
          <a:lstStyle/>
          <a:p>
            <a:pPr algn="l"/>
            <a:r>
              <a:rPr sz="1700" b="1">
                <a:solidFill>
                  <a:srgbClr val="C8963C"/>
                </a:solidFill>
                <a:latin typeface="Playfair Display"/>
              </a:rPr>
              <a:t>A  —  Accept</a:t>
            </a:r>
          </a:p>
        </p:txBody>
      </p:sp>
      <p:sp>
        <p:nvSpPr>
          <p:cNvPr id="14" name="TextBox 13"/>
          <p:cNvSpPr txBox="1"/>
          <p:nvPr/>
        </p:nvSpPr>
        <p:spPr>
          <a:xfrm>
            <a:off x="4389120" y="3172968"/>
            <a:ext cx="3291840" cy="2194560"/>
          </a:xfrm>
          <a:prstGeom prst="rect">
            <a:avLst/>
          </a:prstGeom>
          <a:noFill/>
        </p:spPr>
        <p:txBody>
          <a:bodyPr wrap="square">
            <a:spAutoFit/>
          </a:bodyPr>
          <a:lstStyle/>
          <a:p>
            <a:pPr algn="l"/>
            <a:r>
              <a:rPr sz="1150" b="0">
                <a:solidFill>
                  <a:srgbClr val="FFFFFF"/>
                </a:solidFill>
                <a:latin typeface="DM Sans"/>
              </a:rPr>
              <a:t>Acknowledge the thought or feeling without fighting it or pushing it away.
Suppression makes patterns stronger. Acceptance is what allows transformation.
This step is what separates ThinkRoot from generic coping techniques.</a:t>
            </a:r>
          </a:p>
        </p:txBody>
      </p:sp>
      <p:sp>
        <p:nvSpPr>
          <p:cNvPr id="15" name="Rectangle 14"/>
          <p:cNvSpPr/>
          <p:nvPr/>
        </p:nvSpPr>
        <p:spPr>
          <a:xfrm>
            <a:off x="8001000" y="2514600"/>
            <a:ext cx="3566160" cy="301752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2679192"/>
            <a:ext cx="3291840" cy="438912"/>
          </a:xfrm>
          <a:prstGeom prst="rect">
            <a:avLst/>
          </a:prstGeom>
          <a:noFill/>
        </p:spPr>
        <p:txBody>
          <a:bodyPr wrap="square">
            <a:spAutoFit/>
          </a:bodyPr>
          <a:lstStyle/>
          <a:p>
            <a:pPr algn="l"/>
            <a:r>
              <a:rPr sz="1700" b="1">
                <a:solidFill>
                  <a:srgbClr val="C8963C"/>
                </a:solidFill>
                <a:latin typeface="Playfair Display"/>
              </a:rPr>
              <a:t>A  —  Action</a:t>
            </a:r>
          </a:p>
        </p:txBody>
      </p:sp>
      <p:sp>
        <p:nvSpPr>
          <p:cNvPr id="17" name="TextBox 16"/>
          <p:cNvSpPr txBox="1"/>
          <p:nvPr/>
        </p:nvSpPr>
        <p:spPr>
          <a:xfrm>
            <a:off x="8183880" y="3172968"/>
            <a:ext cx="3291840" cy="2194560"/>
          </a:xfrm>
          <a:prstGeom prst="rect">
            <a:avLst/>
          </a:prstGeom>
          <a:noFill/>
        </p:spPr>
        <p:txBody>
          <a:bodyPr wrap="square">
            <a:spAutoFit/>
          </a:bodyPr>
          <a:lstStyle/>
          <a:p>
            <a:pPr algn="l"/>
            <a:r>
              <a:rPr sz="1150" b="0">
                <a:solidFill>
                  <a:srgbClr val="FFFFFF"/>
                </a:solidFill>
                <a:latin typeface="DM Sans"/>
              </a:rPr>
              <a:t>Use a specific, practised technique to redirect and choose a steadier response.
The Five Power Technique is the concrete Action tool — under 3 minutes, no equipment, memorised and usable anywhere: before a test, after a mistake, at bedtime.</a:t>
            </a:r>
          </a:p>
        </p:txBody>
      </p:sp>
      <p:sp>
        <p:nvSpPr>
          <p:cNvPr id="18" name="Rectangle 17"/>
          <p:cNvSpPr/>
          <p:nvPr/>
        </p:nvSpPr>
        <p:spPr>
          <a:xfrm>
            <a:off x="411480" y="5669280"/>
            <a:ext cx="11365992" cy="5029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5733288"/>
            <a:ext cx="11091672" cy="411480"/>
          </a:xfrm>
          <a:prstGeom prst="rect">
            <a:avLst/>
          </a:prstGeom>
          <a:noFill/>
        </p:spPr>
        <p:txBody>
          <a:bodyPr wrap="square">
            <a:spAutoFit/>
          </a:bodyPr>
          <a:lstStyle/>
          <a:p>
            <a:pPr algn="ctr"/>
            <a:r>
              <a:rPr sz="1250" b="1">
                <a:solidFill>
                  <a:srgbClr val="1A3A1A"/>
                </a:solidFill>
                <a:latin typeface="DM Sans"/>
              </a:rPr>
              <a:t>All three steps together create genuine inner agency — the ability to work with your own mind. We call this self-intelligence.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10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What Children Actually Do — The 5-Day Arc</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Five days. Five building blocks. One complete toolkit.</a:t>
            </a:r>
          </a:p>
        </p:txBody>
      </p:sp>
      <p:sp>
        <p:nvSpPr>
          <p:cNvPr id="8" name="Rectangle 7"/>
          <p:cNvSpPr/>
          <p:nvPr/>
        </p:nvSpPr>
        <p:spPr>
          <a:xfrm>
            <a:off x="320040" y="1920240"/>
            <a:ext cx="2103120" cy="3291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920240"/>
            <a:ext cx="2103120" cy="47548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975104"/>
            <a:ext cx="1920240" cy="365760"/>
          </a:xfrm>
          <a:prstGeom prst="rect">
            <a:avLst/>
          </a:prstGeom>
          <a:noFill/>
        </p:spPr>
        <p:txBody>
          <a:bodyPr wrap="square">
            <a:spAutoFit/>
          </a:bodyPr>
          <a:lstStyle/>
          <a:p>
            <a:pPr algn="ctr"/>
            <a:r>
              <a:rPr sz="1200" b="1">
                <a:solidFill>
                  <a:srgbClr val="1A3A1A"/>
                </a:solidFill>
                <a:latin typeface="DM Sans"/>
              </a:rPr>
              <a:t>Day 1</a:t>
            </a:r>
          </a:p>
        </p:txBody>
      </p:sp>
      <p:sp>
        <p:nvSpPr>
          <p:cNvPr id="11" name="TextBox 10"/>
          <p:cNvSpPr txBox="1"/>
          <p:nvPr/>
        </p:nvSpPr>
        <p:spPr>
          <a:xfrm>
            <a:off x="429768" y="2468880"/>
            <a:ext cx="1920240" cy="438912"/>
          </a:xfrm>
          <a:prstGeom prst="rect">
            <a:avLst/>
          </a:prstGeom>
          <a:noFill/>
        </p:spPr>
        <p:txBody>
          <a:bodyPr wrap="square">
            <a:spAutoFit/>
          </a:bodyPr>
          <a:lstStyle/>
          <a:p>
            <a:pPr algn="l"/>
            <a:r>
              <a:rPr sz="1300" b="1">
                <a:solidFill>
                  <a:srgbClr val="C8963C"/>
                </a:solidFill>
                <a:latin typeface="Playfair Display"/>
              </a:rPr>
              <a:t>The Brain Web</a:t>
            </a:r>
          </a:p>
        </p:txBody>
      </p:sp>
      <p:sp>
        <p:nvSpPr>
          <p:cNvPr id="12" name="TextBox 11"/>
          <p:cNvSpPr txBox="1"/>
          <p:nvPr/>
        </p:nvSpPr>
        <p:spPr>
          <a:xfrm>
            <a:off x="429768" y="2971800"/>
            <a:ext cx="1920240" cy="2103120"/>
          </a:xfrm>
          <a:prstGeom prst="rect">
            <a:avLst/>
          </a:prstGeom>
          <a:noFill/>
        </p:spPr>
        <p:txBody>
          <a:bodyPr wrap="square">
            <a:spAutoFit/>
          </a:bodyPr>
          <a:lstStyle/>
          <a:p>
            <a:pPr algn="l"/>
            <a:r>
              <a:rPr sz="1050" b="0">
                <a:solidFill>
                  <a:srgbClr val="FFFFFF"/>
                </a:solidFill>
                <a:latin typeface="DM Sans"/>
              </a:rPr>
              <a:t>How thoughts connect and spread. Children map their own thought patterns. Introduction to AAA and the Five Power Technique.</a:t>
            </a:r>
          </a:p>
        </p:txBody>
      </p:sp>
      <p:sp>
        <p:nvSpPr>
          <p:cNvPr id="13" name="Rectangle 12"/>
          <p:cNvSpPr/>
          <p:nvPr/>
        </p:nvSpPr>
        <p:spPr>
          <a:xfrm>
            <a:off x="2651760" y="1920240"/>
            <a:ext cx="2103120" cy="3291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51760" y="1920240"/>
            <a:ext cx="2103120" cy="47548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1488" y="1975104"/>
            <a:ext cx="1920240" cy="365760"/>
          </a:xfrm>
          <a:prstGeom prst="rect">
            <a:avLst/>
          </a:prstGeom>
          <a:noFill/>
        </p:spPr>
        <p:txBody>
          <a:bodyPr wrap="square">
            <a:spAutoFit/>
          </a:bodyPr>
          <a:lstStyle/>
          <a:p>
            <a:pPr algn="ctr"/>
            <a:r>
              <a:rPr sz="1200" b="1">
                <a:solidFill>
                  <a:srgbClr val="1A3A1A"/>
                </a:solidFill>
                <a:latin typeface="DM Sans"/>
              </a:rPr>
              <a:t>Day 2</a:t>
            </a:r>
          </a:p>
        </p:txBody>
      </p:sp>
      <p:sp>
        <p:nvSpPr>
          <p:cNvPr id="16" name="TextBox 15"/>
          <p:cNvSpPr txBox="1"/>
          <p:nvPr/>
        </p:nvSpPr>
        <p:spPr>
          <a:xfrm>
            <a:off x="2761488" y="2468880"/>
            <a:ext cx="1920240" cy="438912"/>
          </a:xfrm>
          <a:prstGeom prst="rect">
            <a:avLst/>
          </a:prstGeom>
          <a:noFill/>
        </p:spPr>
        <p:txBody>
          <a:bodyPr wrap="square">
            <a:spAutoFit/>
          </a:bodyPr>
          <a:lstStyle/>
          <a:p>
            <a:pPr algn="l"/>
            <a:r>
              <a:rPr sz="1300" b="1">
                <a:solidFill>
                  <a:srgbClr val="C8963C"/>
                </a:solidFill>
                <a:latin typeface="Playfair Display"/>
              </a:rPr>
              <a:t>Brain Weather</a:t>
            </a:r>
          </a:p>
        </p:txBody>
      </p:sp>
      <p:sp>
        <p:nvSpPr>
          <p:cNvPr id="17" name="TextBox 16"/>
          <p:cNvSpPr txBox="1"/>
          <p:nvPr/>
        </p:nvSpPr>
        <p:spPr>
          <a:xfrm>
            <a:off x="2761488" y="2971800"/>
            <a:ext cx="1920240" cy="2103120"/>
          </a:xfrm>
          <a:prstGeom prst="rect">
            <a:avLst/>
          </a:prstGeom>
          <a:noFill/>
        </p:spPr>
        <p:txBody>
          <a:bodyPr wrap="square">
            <a:spAutoFit/>
          </a:bodyPr>
          <a:lstStyle/>
          <a:p>
            <a:pPr algn="l"/>
            <a:r>
              <a:rPr sz="1050" b="0">
                <a:solidFill>
                  <a:srgbClr val="FFFFFF"/>
                </a:solidFill>
                <a:latin typeface="DM Sans"/>
              </a:rPr>
              <a:t>Emotional states mapped as weather — sun, storms, fog, rain. Three Specifics gratitude practice (UC Berkeley). Children learn to read their own inner forecast.</a:t>
            </a:r>
          </a:p>
        </p:txBody>
      </p:sp>
      <p:sp>
        <p:nvSpPr>
          <p:cNvPr id="18" name="Rectangle 17"/>
          <p:cNvSpPr/>
          <p:nvPr/>
        </p:nvSpPr>
        <p:spPr>
          <a:xfrm>
            <a:off x="4983480" y="1920240"/>
            <a:ext cx="2103120" cy="3291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83480" y="1920240"/>
            <a:ext cx="2103120" cy="47548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93208" y="1975104"/>
            <a:ext cx="1920240" cy="365760"/>
          </a:xfrm>
          <a:prstGeom prst="rect">
            <a:avLst/>
          </a:prstGeom>
          <a:noFill/>
        </p:spPr>
        <p:txBody>
          <a:bodyPr wrap="square">
            <a:spAutoFit/>
          </a:bodyPr>
          <a:lstStyle/>
          <a:p>
            <a:pPr algn="ctr"/>
            <a:r>
              <a:rPr sz="1200" b="1">
                <a:solidFill>
                  <a:srgbClr val="1A3A1A"/>
                </a:solidFill>
                <a:latin typeface="DM Sans"/>
              </a:rPr>
              <a:t>Day 3</a:t>
            </a:r>
          </a:p>
        </p:txBody>
      </p:sp>
      <p:sp>
        <p:nvSpPr>
          <p:cNvPr id="21" name="TextBox 20"/>
          <p:cNvSpPr txBox="1"/>
          <p:nvPr/>
        </p:nvSpPr>
        <p:spPr>
          <a:xfrm>
            <a:off x="5093208" y="2468880"/>
            <a:ext cx="1920240" cy="438912"/>
          </a:xfrm>
          <a:prstGeom prst="rect">
            <a:avLst/>
          </a:prstGeom>
          <a:noFill/>
        </p:spPr>
        <p:txBody>
          <a:bodyPr wrap="square">
            <a:spAutoFit/>
          </a:bodyPr>
          <a:lstStyle/>
          <a:p>
            <a:pPr algn="l"/>
            <a:r>
              <a:rPr sz="1300" b="1">
                <a:solidFill>
                  <a:srgbClr val="C8963C"/>
                </a:solidFill>
                <a:latin typeface="Playfair Display"/>
              </a:rPr>
              <a:t>The Feeling Body</a:t>
            </a:r>
          </a:p>
        </p:txBody>
      </p:sp>
      <p:sp>
        <p:nvSpPr>
          <p:cNvPr id="22" name="TextBox 21"/>
          <p:cNvSpPr txBox="1"/>
          <p:nvPr/>
        </p:nvSpPr>
        <p:spPr>
          <a:xfrm>
            <a:off x="5093208" y="2971800"/>
            <a:ext cx="1920240" cy="2103120"/>
          </a:xfrm>
          <a:prstGeom prst="rect">
            <a:avLst/>
          </a:prstGeom>
          <a:noFill/>
        </p:spPr>
        <p:txBody>
          <a:bodyPr wrap="square">
            <a:spAutoFit/>
          </a:bodyPr>
          <a:lstStyle/>
          <a:p>
            <a:pPr algn="l"/>
            <a:r>
              <a:rPr sz="1050" b="0">
                <a:solidFill>
                  <a:srgbClr val="FFFFFF"/>
                </a:solidFill>
                <a:latin typeface="DM Sans"/>
              </a:rPr>
              <a:t>Where feelings live in the body. Body scan and Heart Coherence Breathing (HeartMath Institute). Children learn to work with physical stress signals directly.</a:t>
            </a:r>
          </a:p>
        </p:txBody>
      </p:sp>
      <p:sp>
        <p:nvSpPr>
          <p:cNvPr id="23" name="Rectangle 22"/>
          <p:cNvSpPr/>
          <p:nvPr/>
        </p:nvSpPr>
        <p:spPr>
          <a:xfrm>
            <a:off x="7315200" y="1920240"/>
            <a:ext cx="2103120" cy="3291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0" y="1920240"/>
            <a:ext cx="2103120" cy="47548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4928" y="1975104"/>
            <a:ext cx="1920240" cy="365760"/>
          </a:xfrm>
          <a:prstGeom prst="rect">
            <a:avLst/>
          </a:prstGeom>
          <a:noFill/>
        </p:spPr>
        <p:txBody>
          <a:bodyPr wrap="square">
            <a:spAutoFit/>
          </a:bodyPr>
          <a:lstStyle/>
          <a:p>
            <a:pPr algn="ctr"/>
            <a:r>
              <a:rPr sz="1200" b="1">
                <a:solidFill>
                  <a:srgbClr val="1A3A1A"/>
                </a:solidFill>
                <a:latin typeface="DM Sans"/>
              </a:rPr>
              <a:t>Day 4</a:t>
            </a:r>
          </a:p>
        </p:txBody>
      </p:sp>
      <p:sp>
        <p:nvSpPr>
          <p:cNvPr id="26" name="TextBox 25"/>
          <p:cNvSpPr txBox="1"/>
          <p:nvPr/>
        </p:nvSpPr>
        <p:spPr>
          <a:xfrm>
            <a:off x="7424928" y="2468880"/>
            <a:ext cx="1920240" cy="438912"/>
          </a:xfrm>
          <a:prstGeom prst="rect">
            <a:avLst/>
          </a:prstGeom>
          <a:noFill/>
        </p:spPr>
        <p:txBody>
          <a:bodyPr wrap="square">
            <a:spAutoFit/>
          </a:bodyPr>
          <a:lstStyle/>
          <a:p>
            <a:pPr algn="l"/>
            <a:r>
              <a:rPr sz="1300" b="1">
                <a:solidFill>
                  <a:srgbClr val="C8963C"/>
                </a:solidFill>
                <a:latin typeface="Playfair Display"/>
              </a:rPr>
              <a:t>Upgrade the Thought</a:t>
            </a:r>
          </a:p>
        </p:txBody>
      </p:sp>
      <p:sp>
        <p:nvSpPr>
          <p:cNvPr id="27" name="TextBox 26"/>
          <p:cNvSpPr txBox="1"/>
          <p:nvPr/>
        </p:nvSpPr>
        <p:spPr>
          <a:xfrm>
            <a:off x="7424928" y="2971800"/>
            <a:ext cx="1920240" cy="2103120"/>
          </a:xfrm>
          <a:prstGeom prst="rect">
            <a:avLst/>
          </a:prstGeom>
          <a:noFill/>
        </p:spPr>
        <p:txBody>
          <a:bodyPr wrap="square">
            <a:spAutoFit/>
          </a:bodyPr>
          <a:lstStyle/>
          <a:p>
            <a:pPr algn="l"/>
            <a:r>
              <a:rPr sz="1050" b="0">
                <a:solidFill>
                  <a:srgbClr val="FFFFFF"/>
                </a:solidFill>
                <a:latin typeface="DM Sans"/>
              </a:rPr>
              <a:t>Transforming storm thoughts into sunshine thoughts. Kindness Ripple activity. Self-compassion practice (Kristin Neff, UT Austin).</a:t>
            </a:r>
          </a:p>
        </p:txBody>
      </p:sp>
      <p:sp>
        <p:nvSpPr>
          <p:cNvPr id="28" name="Rectangle 27"/>
          <p:cNvSpPr/>
          <p:nvPr/>
        </p:nvSpPr>
        <p:spPr>
          <a:xfrm>
            <a:off x="9646920" y="1920240"/>
            <a:ext cx="2103120" cy="3291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46920" y="1920240"/>
            <a:ext cx="2103120" cy="47548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56648" y="1975104"/>
            <a:ext cx="1920240" cy="365760"/>
          </a:xfrm>
          <a:prstGeom prst="rect">
            <a:avLst/>
          </a:prstGeom>
          <a:noFill/>
        </p:spPr>
        <p:txBody>
          <a:bodyPr wrap="square">
            <a:spAutoFit/>
          </a:bodyPr>
          <a:lstStyle/>
          <a:p>
            <a:pPr algn="ctr"/>
            <a:r>
              <a:rPr sz="1200" b="1">
                <a:solidFill>
                  <a:srgbClr val="1A3A1A"/>
                </a:solidFill>
                <a:latin typeface="DM Sans"/>
              </a:rPr>
              <a:t>Day 5</a:t>
            </a:r>
          </a:p>
        </p:txBody>
      </p:sp>
      <p:sp>
        <p:nvSpPr>
          <p:cNvPr id="31" name="TextBox 30"/>
          <p:cNvSpPr txBox="1"/>
          <p:nvPr/>
        </p:nvSpPr>
        <p:spPr>
          <a:xfrm>
            <a:off x="9756648" y="2468880"/>
            <a:ext cx="1920240" cy="438912"/>
          </a:xfrm>
          <a:prstGeom prst="rect">
            <a:avLst/>
          </a:prstGeom>
          <a:noFill/>
        </p:spPr>
        <p:txBody>
          <a:bodyPr wrap="square">
            <a:spAutoFit/>
          </a:bodyPr>
          <a:lstStyle/>
          <a:p>
            <a:pPr algn="l"/>
            <a:r>
              <a:rPr sz="1300" b="1">
                <a:solidFill>
                  <a:srgbClr val="C8963C"/>
                </a:solidFill>
                <a:latin typeface="Playfair Display"/>
              </a:rPr>
              <a:t>I Am the Author</a:t>
            </a:r>
          </a:p>
        </p:txBody>
      </p:sp>
      <p:sp>
        <p:nvSpPr>
          <p:cNvPr id="32" name="TextBox 31"/>
          <p:cNvSpPr txBox="1"/>
          <p:nvPr/>
        </p:nvSpPr>
        <p:spPr>
          <a:xfrm>
            <a:off x="9756648" y="2971800"/>
            <a:ext cx="1920240" cy="2103120"/>
          </a:xfrm>
          <a:prstGeom prst="rect">
            <a:avLst/>
          </a:prstGeom>
          <a:noFill/>
        </p:spPr>
        <p:txBody>
          <a:bodyPr wrap="square">
            <a:spAutoFit/>
          </a:bodyPr>
          <a:lstStyle/>
          <a:p>
            <a:pPr algn="l"/>
            <a:r>
              <a:rPr sz="1050" b="0">
                <a:solidFill>
                  <a:srgbClr val="FFFFFF"/>
                </a:solidFill>
                <a:latin typeface="DM Sans"/>
              </a:rPr>
              <a:t>Full integration. Children build their personal Resilience Toolkit. Five Power Technique led by children themselves. Completion certificates.</a:t>
            </a:r>
          </a:p>
        </p:txBody>
      </p:sp>
      <p:sp>
        <p:nvSpPr>
          <p:cNvPr id="33" name="Rectangle 32"/>
          <p:cNvSpPr/>
          <p:nvPr/>
        </p:nvSpPr>
        <p:spPr>
          <a:xfrm>
            <a:off x="320040" y="5349240"/>
            <a:ext cx="11548872" cy="5029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5413248"/>
            <a:ext cx="11274552" cy="411480"/>
          </a:xfrm>
          <a:prstGeom prst="rect">
            <a:avLst/>
          </a:prstGeom>
          <a:noFill/>
        </p:spPr>
        <p:txBody>
          <a:bodyPr wrap="square">
            <a:spAutoFit/>
          </a:bodyPr>
          <a:lstStyle/>
          <a:p>
            <a:pPr algn="ctr"/>
            <a:r>
              <a:rPr sz="1150" b="0">
                <a:solidFill>
                  <a:srgbClr val="1A3A1A"/>
                </a:solidFill>
                <a:latin typeface="DM Sans"/>
              </a:rPr>
              <a:t>Every session: guided discussion · reflection · skill practice · home practice card  ·  Small groups · 1 hour · Grades 2–4 and 5–8 separated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11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Real Results</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From real children. In real situations.</a:t>
            </a:r>
          </a:p>
        </p:txBody>
      </p:sp>
      <p:sp>
        <p:nvSpPr>
          <p:cNvPr id="8" name="Rectangle 7"/>
          <p:cNvSpPr/>
          <p:nvPr/>
        </p:nvSpPr>
        <p:spPr>
          <a:xfrm>
            <a:off x="411480" y="1920240"/>
            <a:ext cx="5212080" cy="15727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920240"/>
            <a:ext cx="54864" cy="157276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011680"/>
            <a:ext cx="4937760" cy="1188720"/>
          </a:xfrm>
          <a:prstGeom prst="rect">
            <a:avLst/>
          </a:prstGeom>
          <a:noFill/>
        </p:spPr>
        <p:txBody>
          <a:bodyPr wrap="square">
            <a:spAutoFit/>
          </a:bodyPr>
          <a:lstStyle/>
          <a:p>
            <a:pPr algn="l"/>
            <a:r>
              <a:rPr sz="1150" b="0">
                <a:solidFill>
                  <a:srgbClr val="1A3A1A"/>
                </a:solidFill>
                <a:latin typeface="DM Sans"/>
              </a:rPr>
              <a:t>"She learned to pause before reacting. Her daily life became calmer. Her teachers noticed. Her relationships improved."</a:t>
            </a:r>
          </a:p>
        </p:txBody>
      </p:sp>
      <p:sp>
        <p:nvSpPr>
          <p:cNvPr id="11" name="TextBox 10"/>
          <p:cNvSpPr txBox="1"/>
          <p:nvPr/>
        </p:nvSpPr>
        <p:spPr>
          <a:xfrm>
            <a:off x="594360" y="3145536"/>
            <a:ext cx="4937760" cy="292608"/>
          </a:xfrm>
          <a:prstGeom prst="rect">
            <a:avLst/>
          </a:prstGeom>
          <a:noFill/>
        </p:spPr>
        <p:txBody>
          <a:bodyPr wrap="square">
            <a:spAutoFit/>
          </a:bodyPr>
          <a:lstStyle/>
          <a:p>
            <a:pPr algn="l"/>
            <a:r>
              <a:rPr sz="1100" b="1">
                <a:solidFill>
                  <a:srgbClr val="C8963C"/>
                </a:solidFill>
                <a:latin typeface="DM Sans"/>
              </a:rPr>
              <a:t>— HM, Middle School</a:t>
            </a:r>
          </a:p>
        </p:txBody>
      </p:sp>
      <p:sp>
        <p:nvSpPr>
          <p:cNvPr id="12" name="Rectangle 11"/>
          <p:cNvSpPr/>
          <p:nvPr/>
        </p:nvSpPr>
        <p:spPr>
          <a:xfrm>
            <a:off x="6766560" y="1920240"/>
            <a:ext cx="5212080" cy="15727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66560" y="1920240"/>
            <a:ext cx="54864" cy="157276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2011680"/>
            <a:ext cx="4937760" cy="1188720"/>
          </a:xfrm>
          <a:prstGeom prst="rect">
            <a:avLst/>
          </a:prstGeom>
          <a:noFill/>
        </p:spPr>
        <p:txBody>
          <a:bodyPr wrap="square">
            <a:spAutoFit/>
          </a:bodyPr>
          <a:lstStyle/>
          <a:p>
            <a:pPr algn="l"/>
            <a:r>
              <a:rPr sz="1150" b="0">
                <a:solidFill>
                  <a:srgbClr val="1A3A1A"/>
                </a:solidFill>
                <a:latin typeface="DM Sans"/>
              </a:rPr>
              <a:t>"He used the technique during exams to relax, regulate, and stay composed. His performance improved."</a:t>
            </a:r>
          </a:p>
        </p:txBody>
      </p:sp>
      <p:sp>
        <p:nvSpPr>
          <p:cNvPr id="15" name="TextBox 14"/>
          <p:cNvSpPr txBox="1"/>
          <p:nvPr/>
        </p:nvSpPr>
        <p:spPr>
          <a:xfrm>
            <a:off x="6949440" y="3145536"/>
            <a:ext cx="4937760" cy="292608"/>
          </a:xfrm>
          <a:prstGeom prst="rect">
            <a:avLst/>
          </a:prstGeom>
          <a:noFill/>
        </p:spPr>
        <p:txBody>
          <a:bodyPr wrap="square">
            <a:spAutoFit/>
          </a:bodyPr>
          <a:lstStyle/>
          <a:p>
            <a:pPr algn="l"/>
            <a:r>
              <a:rPr sz="1100" b="1">
                <a:solidFill>
                  <a:srgbClr val="C8963C"/>
                </a:solidFill>
                <a:latin typeface="DM Sans"/>
              </a:rPr>
              <a:t>— RR, Middle School</a:t>
            </a:r>
          </a:p>
        </p:txBody>
      </p:sp>
      <p:sp>
        <p:nvSpPr>
          <p:cNvPr id="16" name="Rectangle 15"/>
          <p:cNvSpPr/>
          <p:nvPr/>
        </p:nvSpPr>
        <p:spPr>
          <a:xfrm>
            <a:off x="411480" y="3602736"/>
            <a:ext cx="5212080" cy="15727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602736"/>
            <a:ext cx="54864" cy="157276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694176"/>
            <a:ext cx="4937760" cy="1188720"/>
          </a:xfrm>
          <a:prstGeom prst="rect">
            <a:avLst/>
          </a:prstGeom>
          <a:noFill/>
        </p:spPr>
        <p:txBody>
          <a:bodyPr wrap="square">
            <a:spAutoFit/>
          </a:bodyPr>
          <a:lstStyle/>
          <a:p>
            <a:pPr algn="l"/>
            <a:r>
              <a:rPr sz="1150" b="0">
                <a:solidFill>
                  <a:srgbClr val="1A3A1A"/>
                </a:solidFill>
                <a:latin typeface="DM Sans"/>
              </a:rPr>
              <a:t>"She went from giving up when work felt difficult to breaking problems into steps and persisting."</a:t>
            </a:r>
          </a:p>
        </p:txBody>
      </p:sp>
      <p:sp>
        <p:nvSpPr>
          <p:cNvPr id="19" name="TextBox 18"/>
          <p:cNvSpPr txBox="1"/>
          <p:nvPr/>
        </p:nvSpPr>
        <p:spPr>
          <a:xfrm>
            <a:off x="594360" y="4828032"/>
            <a:ext cx="4937760" cy="292608"/>
          </a:xfrm>
          <a:prstGeom prst="rect">
            <a:avLst/>
          </a:prstGeom>
          <a:noFill/>
        </p:spPr>
        <p:txBody>
          <a:bodyPr wrap="square">
            <a:spAutoFit/>
          </a:bodyPr>
          <a:lstStyle/>
          <a:p>
            <a:pPr algn="l"/>
            <a:r>
              <a:rPr sz="1100" b="1">
                <a:solidFill>
                  <a:srgbClr val="C8963C"/>
                </a:solidFill>
                <a:latin typeface="DM Sans"/>
              </a:rPr>
              <a:t>— Elementary school student</a:t>
            </a:r>
          </a:p>
        </p:txBody>
      </p:sp>
      <p:sp>
        <p:nvSpPr>
          <p:cNvPr id="20" name="Rectangle 19"/>
          <p:cNvSpPr/>
          <p:nvPr/>
        </p:nvSpPr>
        <p:spPr>
          <a:xfrm>
            <a:off x="6766560" y="3602736"/>
            <a:ext cx="5212080" cy="157276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66560" y="3602736"/>
            <a:ext cx="54864" cy="157276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3694176"/>
            <a:ext cx="4937760" cy="1188720"/>
          </a:xfrm>
          <a:prstGeom prst="rect">
            <a:avLst/>
          </a:prstGeom>
          <a:noFill/>
        </p:spPr>
        <p:txBody>
          <a:bodyPr wrap="square">
            <a:spAutoFit/>
          </a:bodyPr>
          <a:lstStyle/>
          <a:p>
            <a:pPr algn="l"/>
            <a:r>
              <a:rPr sz="1150" b="0">
                <a:solidFill>
                  <a:srgbClr val="1A3A1A"/>
                </a:solidFill>
                <a:latin typeface="DM Sans"/>
              </a:rPr>
              <a:t>"One student went from failing in math to improving his grades — and eventually helping classmates who were struggling in the same subject."</a:t>
            </a:r>
          </a:p>
        </p:txBody>
      </p:sp>
      <p:sp>
        <p:nvSpPr>
          <p:cNvPr id="23" name="TextBox 22"/>
          <p:cNvSpPr txBox="1"/>
          <p:nvPr/>
        </p:nvSpPr>
        <p:spPr>
          <a:xfrm>
            <a:off x="6949440" y="4828032"/>
            <a:ext cx="4937760" cy="292608"/>
          </a:xfrm>
          <a:prstGeom prst="rect">
            <a:avLst/>
          </a:prstGeom>
          <a:noFill/>
        </p:spPr>
        <p:txBody>
          <a:bodyPr wrap="square">
            <a:spAutoFit/>
          </a:bodyPr>
          <a:lstStyle/>
          <a:p>
            <a:pPr algn="l"/>
            <a:r>
              <a:rPr sz="1100" b="1">
                <a:solidFill>
                  <a:srgbClr val="C8963C"/>
                </a:solidFill>
                <a:latin typeface="DM Sans"/>
              </a:rPr>
              <a:t>— MT, Elementary School</a:t>
            </a:r>
          </a:p>
        </p:txBody>
      </p:sp>
      <p:sp>
        <p:nvSpPr>
          <p:cNvPr id="24" name="Rectangle 23"/>
          <p:cNvSpPr/>
          <p:nvPr/>
        </p:nvSpPr>
        <p:spPr>
          <a:xfrm>
            <a:off x="411480" y="5852160"/>
            <a:ext cx="11365992" cy="658368"/>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943600"/>
            <a:ext cx="11091672" cy="475488"/>
          </a:xfrm>
          <a:prstGeom prst="rect">
            <a:avLst/>
          </a:prstGeom>
          <a:noFill/>
        </p:spPr>
        <p:txBody>
          <a:bodyPr wrap="square">
            <a:spAutoFit/>
          </a:bodyPr>
          <a:lstStyle/>
          <a:p>
            <a:pPr algn="ctr"/>
            <a:r>
              <a:rPr sz="1300" b="1">
                <a:solidFill>
                  <a:srgbClr val="C8963C"/>
                </a:solidFill>
                <a:latin typeface="Playfair Display"/>
              </a:rPr>
              <a:t>These are not exceptional children. They are ordinary children who were given a tool they did not have before.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12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The Programme: Resilience Lab</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Two formats. One goal. Right for Grades 2–8.</a:t>
            </a:r>
          </a:p>
        </p:txBody>
      </p:sp>
      <p:sp>
        <p:nvSpPr>
          <p:cNvPr id="8" name="Rectangle 7"/>
          <p:cNvSpPr/>
          <p:nvPr/>
        </p:nvSpPr>
        <p:spPr>
          <a:xfrm>
            <a:off x="411480" y="1920240"/>
            <a:ext cx="5212080" cy="3291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84832"/>
            <a:ext cx="4937760" cy="438912"/>
          </a:xfrm>
          <a:prstGeom prst="rect">
            <a:avLst/>
          </a:prstGeom>
          <a:noFill/>
        </p:spPr>
        <p:txBody>
          <a:bodyPr wrap="square">
            <a:spAutoFit/>
          </a:bodyPr>
          <a:lstStyle/>
          <a:p>
            <a:pPr algn="l"/>
            <a:r>
              <a:rPr sz="2000" b="1">
                <a:solidFill>
                  <a:srgbClr val="C8963C"/>
                </a:solidFill>
                <a:latin typeface="Playfair Display"/>
              </a:rPr>
              <a:t>5-Day Intensive</a:t>
            </a:r>
          </a:p>
        </p:txBody>
      </p:sp>
      <p:sp>
        <p:nvSpPr>
          <p:cNvPr id="10" name="TextBox 9"/>
          <p:cNvSpPr txBox="1"/>
          <p:nvPr/>
        </p:nvSpPr>
        <p:spPr>
          <a:xfrm>
            <a:off x="594360" y="2578608"/>
            <a:ext cx="4937760" cy="2468880"/>
          </a:xfrm>
          <a:prstGeom prst="rect">
            <a:avLst/>
          </a:prstGeom>
          <a:noFill/>
        </p:spPr>
        <p:txBody>
          <a:bodyPr wrap="square">
            <a:spAutoFit/>
          </a:bodyPr>
          <a:lstStyle/>
          <a:p>
            <a:pPr algn="l"/>
            <a:r>
              <a:rPr sz="1300" b="0">
                <a:solidFill>
                  <a:srgbClr val="FFFFFF"/>
                </a:solidFill>
                <a:latin typeface="DM Sans"/>
              </a:rPr>
              <a:t>One focused week</a:t>
            </a:r>
          </a:p>
          <a:p>
            <a:pPr algn="l"/>
            <a:r>
              <a:rPr sz="1300" b="0">
                <a:solidFill>
                  <a:srgbClr val="FFFFFF"/>
                </a:solidFill>
                <a:latin typeface="DM Sans"/>
              </a:rPr>
              <a:t>1 hour per day, Monday–Friday</a:t>
            </a:r>
          </a:p>
          <a:p>
            <a:pPr algn="l"/>
            <a:r>
              <a:rPr sz="1300" b="0">
                <a:solidFill>
                  <a:srgbClr val="FFFFFF"/>
                </a:solidFill>
                <a:latin typeface="DM Sans"/>
              </a:rPr>
              <a:t>Small groups</a:t>
            </a:r>
          </a:p>
          <a:p>
            <a:pPr algn="l"/>
            <a:r>
              <a:rPr sz="1200" b="0">
                <a:solidFill>
                  <a:srgbClr val="FFFFFF"/>
                </a:solidFill>
                <a:latin typeface="DM Sans"/>
              </a:rPr>
              <a:t/>
            </a:r>
          </a:p>
          <a:p>
            <a:pPr algn="l"/>
            <a:r>
              <a:rPr sz="1200" b="1">
                <a:solidFill>
                  <a:srgbClr val="C8963C"/>
                </a:solidFill>
                <a:latin typeface="DM Sans"/>
              </a:rPr>
              <a:t>Best for: children who benefit from immersion and momentum</a:t>
            </a:r>
          </a:p>
        </p:txBody>
      </p:sp>
      <p:sp>
        <p:nvSpPr>
          <p:cNvPr id="11" name="Rectangle 10"/>
          <p:cNvSpPr/>
          <p:nvPr/>
        </p:nvSpPr>
        <p:spPr>
          <a:xfrm>
            <a:off x="6537960" y="1920240"/>
            <a:ext cx="5212080" cy="3291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2084832"/>
            <a:ext cx="4937760" cy="438912"/>
          </a:xfrm>
          <a:prstGeom prst="rect">
            <a:avLst/>
          </a:prstGeom>
          <a:noFill/>
        </p:spPr>
        <p:txBody>
          <a:bodyPr wrap="square">
            <a:spAutoFit/>
          </a:bodyPr>
          <a:lstStyle/>
          <a:p>
            <a:pPr algn="l"/>
            <a:r>
              <a:rPr sz="2000" b="1">
                <a:solidFill>
                  <a:srgbClr val="C8963C"/>
                </a:solidFill>
                <a:latin typeface="Playfair Display"/>
              </a:rPr>
              <a:t>6-Week Series</a:t>
            </a:r>
          </a:p>
        </p:txBody>
      </p:sp>
      <p:sp>
        <p:nvSpPr>
          <p:cNvPr id="13" name="TextBox 12"/>
          <p:cNvSpPr txBox="1"/>
          <p:nvPr/>
        </p:nvSpPr>
        <p:spPr>
          <a:xfrm>
            <a:off x="6720840" y="2578608"/>
            <a:ext cx="4937760" cy="2468880"/>
          </a:xfrm>
          <a:prstGeom prst="rect">
            <a:avLst/>
          </a:prstGeom>
          <a:noFill/>
        </p:spPr>
        <p:txBody>
          <a:bodyPr wrap="square">
            <a:spAutoFit/>
          </a:bodyPr>
          <a:lstStyle/>
          <a:p>
            <a:pPr algn="l"/>
            <a:r>
              <a:rPr sz="1300" b="0">
                <a:solidFill>
                  <a:srgbClr val="FFFFFF"/>
                </a:solidFill>
                <a:latin typeface="DM Sans"/>
              </a:rPr>
              <a:t>One session per week for 6 weeks</a:t>
            </a:r>
          </a:p>
          <a:p>
            <a:pPr algn="l"/>
            <a:r>
              <a:rPr sz="1300" b="0">
                <a:solidFill>
                  <a:srgbClr val="FFFFFF"/>
                </a:solidFill>
                <a:latin typeface="DM Sans"/>
              </a:rPr>
              <a:t>1 hour per session</a:t>
            </a:r>
          </a:p>
          <a:p>
            <a:pPr algn="l"/>
            <a:r>
              <a:rPr sz="1300" b="0">
                <a:solidFill>
                  <a:srgbClr val="FFFFFF"/>
                </a:solidFill>
                <a:latin typeface="DM Sans"/>
              </a:rPr>
              <a:t>Small groups</a:t>
            </a:r>
          </a:p>
          <a:p>
            <a:pPr algn="l"/>
            <a:r>
              <a:rPr sz="1200" b="0">
                <a:solidFill>
                  <a:srgbClr val="FFFFFF"/>
                </a:solidFill>
                <a:latin typeface="DM Sans"/>
              </a:rPr>
              <a:t/>
            </a:r>
          </a:p>
          <a:p>
            <a:pPr algn="l"/>
            <a:r>
              <a:rPr sz="1200" b="1">
                <a:solidFill>
                  <a:srgbClr val="C8963C"/>
                </a:solidFill>
                <a:latin typeface="DM Sans"/>
              </a:rPr>
              <a:t>Best for: children who benefit from reflection time between sessions</a:t>
            </a:r>
          </a:p>
        </p:txBody>
      </p:sp>
      <p:sp>
        <p:nvSpPr>
          <p:cNvPr id="14" name="Rectangle 13"/>
          <p:cNvSpPr/>
          <p:nvPr/>
        </p:nvSpPr>
        <p:spPr>
          <a:xfrm>
            <a:off x="411480" y="5321808"/>
            <a:ext cx="11365992" cy="68580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76672"/>
            <a:ext cx="11091672" cy="548640"/>
          </a:xfrm>
          <a:prstGeom prst="rect">
            <a:avLst/>
          </a:prstGeom>
          <a:noFill/>
        </p:spPr>
        <p:txBody>
          <a:bodyPr wrap="square">
            <a:spAutoFit/>
          </a:bodyPr>
          <a:lstStyle/>
          <a:p>
            <a:pPr algn="ctr"/>
            <a:r>
              <a:rPr sz="1250" b="0">
                <a:solidFill>
                  <a:srgbClr val="1A3A1A"/>
                </a:solidFill>
                <a:latin typeface="DM Sans"/>
              </a:rPr>
              <a:t>Both formats: Grades 2–4 and Grades 5–8  ·  Mission San Jose, Fremont  ·  Online option on demand  ·  Summer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13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About Tina</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I come from your world.</a:t>
            </a:r>
          </a:p>
        </p:txBody>
      </p:sp>
      <p:sp>
        <p:nvSpPr>
          <p:cNvPr id="8" name="Rectangle 7"/>
          <p:cNvSpPr/>
          <p:nvPr/>
        </p:nvSpPr>
        <p:spPr>
          <a:xfrm>
            <a:off x="411480" y="1920240"/>
            <a:ext cx="3474720" cy="411480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920240"/>
            <a:ext cx="3474720" cy="4114800"/>
          </a:xfrm>
          <a:prstGeom prst="rect">
            <a:avLst/>
          </a:prstGeom>
          <a:noFill/>
        </p:spPr>
        <p:txBody>
          <a:bodyPr wrap="square">
            <a:spAutoFit/>
          </a:bodyPr>
          <a:lstStyle/>
          <a:p>
            <a:pPr algn="ctr"/>
            <a:r>
              <a:rPr sz="1400" b="0">
                <a:solidFill>
                  <a:srgbClr val="445544"/>
                </a:solidFill>
                <a:latin typeface="DM Sans"/>
              </a:rPr>
              <a:t>[Photo of Tina]</a:t>
            </a:r>
          </a:p>
        </p:txBody>
      </p:sp>
      <p:sp>
        <p:nvSpPr>
          <p:cNvPr id="10" name="TextBox 9"/>
          <p:cNvSpPr txBox="1"/>
          <p:nvPr/>
        </p:nvSpPr>
        <p:spPr>
          <a:xfrm>
            <a:off x="4160520" y="1920240"/>
            <a:ext cx="7680960" cy="3200400"/>
          </a:xfrm>
          <a:prstGeom prst="rect">
            <a:avLst/>
          </a:prstGeom>
          <a:noFill/>
        </p:spPr>
        <p:txBody>
          <a:bodyPr wrap="square">
            <a:spAutoFit/>
          </a:bodyPr>
          <a:lstStyle/>
          <a:p>
            <a:pPr algn="l"/>
            <a:r>
              <a:rPr sz="1500" b="1">
                <a:solidFill>
                  <a:srgbClr val="1A3A1A"/>
                </a:solidFill>
                <a:latin typeface="DM Sans"/>
              </a:rPr>
              <a:t>Tina Puri  |  Founder &amp; Program Director</a:t>
            </a:r>
          </a:p>
          <a:p>
            <a:pPr algn="l"/>
            <a:r>
              <a:rPr sz="1250" b="0">
                <a:solidFill>
                  <a:srgbClr val="445544"/>
                </a:solidFill>
                <a:latin typeface="DM Sans"/>
              </a:rPr>
              <a:t/>
            </a:r>
          </a:p>
          <a:p>
            <a:pPr algn="l"/>
            <a:r>
              <a:rPr sz="1250" b="0">
                <a:solidFill>
                  <a:srgbClr val="445544"/>
                </a:solidFill>
                <a:latin typeface="DM Sans"/>
              </a:rPr>
              <a:t>✦  Certified Wellness Educator</a:t>
            </a:r>
          </a:p>
          <a:p>
            <a:pPr algn="l"/>
            <a:r>
              <a:rPr sz="1250" b="0">
                <a:solidFill>
                  <a:srgbClr val="445544"/>
                </a:solidFill>
                <a:latin typeface="DM Sans"/>
              </a:rPr>
              <a:t>✦  Senior Peer Counselor — certified by the cities of Fremont, Union City, and Newark</a:t>
            </a:r>
          </a:p>
          <a:p>
            <a:pPr algn="l"/>
            <a:r>
              <a:rPr sz="1250" b="0">
                <a:solidFill>
                  <a:srgbClr val="445544"/>
                </a:solidFill>
                <a:latin typeface="DM Sans"/>
              </a:rPr>
              <a:t>✦  Former software professional — 20+ years in the industry</a:t>
            </a:r>
          </a:p>
          <a:p>
            <a:pPr algn="l"/>
            <a:r>
              <a:rPr sz="1250" b="0">
                <a:solidFill>
                  <a:srgbClr val="445544"/>
                </a:solidFill>
                <a:latin typeface="DM Sans"/>
              </a:rPr>
              <a:t>✦  Parent volunteer — Stanford University Challenge Success programme (Dr. Denise Pope)</a:t>
            </a:r>
          </a:p>
          <a:p>
            <a:pPr algn="l"/>
            <a:r>
              <a:rPr sz="1250" b="0">
                <a:solidFill>
                  <a:srgbClr val="445544"/>
                </a:solidFill>
                <a:latin typeface="DM Sans"/>
              </a:rPr>
              <a:t>✦  Has worked with children, teens, adults, and seniors across schools and community settings</a:t>
            </a:r>
          </a:p>
          <a:p>
            <a:pPr algn="l"/>
            <a:r>
              <a:rPr sz="1250" b="0">
                <a:solidFill>
                  <a:srgbClr val="445544"/>
                </a:solidFill>
                <a:latin typeface="DM Sans"/>
              </a:rPr>
              <a:t>✦  Co-founded Rewired to Inspire — four-year intergenerational community programme recognised
    by Tri-City Voice and Congressman Michael M. Honda</a:t>
            </a:r>
          </a:p>
        </p:txBody>
      </p:sp>
      <p:sp>
        <p:nvSpPr>
          <p:cNvPr id="11" name="Rectangle 10"/>
          <p:cNvSpPr/>
          <p:nvPr/>
        </p:nvSpPr>
        <p:spPr>
          <a:xfrm>
            <a:off x="4160520" y="5166360"/>
            <a:ext cx="7680960" cy="100584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5166360"/>
            <a:ext cx="54864" cy="10058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5257800"/>
            <a:ext cx="7406640" cy="868680"/>
          </a:xfrm>
          <a:prstGeom prst="rect">
            <a:avLst/>
          </a:prstGeom>
          <a:noFill/>
        </p:spPr>
        <p:txBody>
          <a:bodyPr wrap="square">
            <a:spAutoFit/>
          </a:bodyPr>
          <a:lstStyle/>
          <a:p>
            <a:pPr algn="l"/>
            <a:r>
              <a:rPr sz="1200" b="0">
                <a:solidFill>
                  <a:srgbClr val="FFFFFF"/>
                </a:solidFill>
                <a:latin typeface="DM Sans"/>
              </a:rPr>
              <a:t>"I teach this because I have seen how deeply these skills can change a life. ThinkRoot is the result of years of personal practice, scientific study, and direct work with real students and families."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3D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365760"/>
            <a:ext cx="10515600" cy="594360"/>
          </a:xfrm>
          <a:prstGeom prst="rect">
            <a:avLst/>
          </a:prstGeom>
          <a:noFill/>
        </p:spPr>
        <p:txBody>
          <a:bodyPr wrap="square">
            <a:spAutoFit/>
          </a:bodyPr>
          <a:lstStyle/>
          <a:p>
            <a:pPr algn="l"/>
            <a:r>
              <a:rPr sz="2400" b="1">
                <a:solidFill>
                  <a:srgbClr val="C8963C"/>
                </a:solidFill>
                <a:latin typeface="Playfair Display"/>
              </a:rPr>
              <a:t>You have invested in everything that goes in.</a:t>
            </a:r>
          </a:p>
        </p:txBody>
      </p:sp>
      <p:sp>
        <p:nvSpPr>
          <p:cNvPr id="6" name="TextBox 5"/>
          <p:cNvSpPr txBox="1"/>
          <p:nvPr/>
        </p:nvSpPr>
        <p:spPr>
          <a:xfrm>
            <a:off x="594360" y="1005840"/>
            <a:ext cx="10515600" cy="384048"/>
          </a:xfrm>
          <a:prstGeom prst="rect">
            <a:avLst/>
          </a:prstGeom>
          <a:noFill/>
        </p:spPr>
        <p:txBody>
          <a:bodyPr wrap="square">
            <a:spAutoFit/>
          </a:bodyPr>
          <a:lstStyle/>
          <a:p>
            <a:pPr algn="l"/>
            <a:r>
              <a:rPr sz="1800" b="0">
                <a:solidFill>
                  <a:srgbClr val="FFFFFF"/>
                </a:solidFill>
                <a:latin typeface="Playfair Display"/>
              </a:rPr>
              <a:t>What holds it all together?</a:t>
            </a:r>
          </a:p>
        </p:txBody>
      </p:sp>
      <p:sp>
        <p:nvSpPr>
          <p:cNvPr id="7" name="TextBox 6"/>
          <p:cNvSpPr txBox="1"/>
          <p:nvPr/>
        </p:nvSpPr>
        <p:spPr>
          <a:xfrm>
            <a:off x="594360" y="1554480"/>
            <a:ext cx="10515600" cy="3474720"/>
          </a:xfrm>
          <a:prstGeom prst="rect">
            <a:avLst/>
          </a:prstGeom>
          <a:noFill/>
        </p:spPr>
        <p:txBody>
          <a:bodyPr wrap="square">
            <a:spAutoFit/>
          </a:bodyPr>
          <a:lstStyle/>
          <a:p>
            <a:pPr algn="l"/>
            <a:r>
              <a:rPr sz="1500" b="0">
                <a:solidFill>
                  <a:srgbClr val="E8F4E8"/>
                </a:solidFill>
                <a:latin typeface="DM Sans"/>
              </a:rPr>
              <a:t>Your child has knowledge.</a:t>
            </a:r>
          </a:p>
          <a:p>
            <a:pPr algn="l"/>
            <a:r>
              <a:rPr sz="1500" b="1">
                <a:solidFill>
                  <a:srgbClr val="FFFFFF"/>
                </a:solidFill>
                <a:latin typeface="DM Sans"/>
              </a:rPr>
              <a:t>But can they use it when the pressure is real?</a:t>
            </a:r>
          </a:p>
          <a:p>
            <a:pPr algn="l"/>
            <a:r>
              <a:rPr sz="800" b="0">
                <a:solidFill>
                  <a:srgbClr val="FFFFFF"/>
                </a:solidFill>
                <a:latin typeface="DM Sans"/>
              </a:rPr>
              <a:t/>
            </a:r>
          </a:p>
          <a:p>
            <a:pPr algn="l"/>
            <a:r>
              <a:rPr sz="1500" b="0">
                <a:solidFill>
                  <a:srgbClr val="E8F4E8"/>
                </a:solidFill>
                <a:latin typeface="DM Sans"/>
              </a:rPr>
              <a:t>Your child has ability.</a:t>
            </a:r>
          </a:p>
          <a:p>
            <a:pPr algn="l"/>
            <a:r>
              <a:rPr sz="1500" b="1">
                <a:solidFill>
                  <a:srgbClr val="FFFFFF"/>
                </a:solidFill>
                <a:latin typeface="DM Sans"/>
              </a:rPr>
              <a:t>But can they recover when they fall?</a:t>
            </a:r>
          </a:p>
          <a:p>
            <a:pPr algn="l"/>
            <a:r>
              <a:rPr sz="800" b="0">
                <a:solidFill>
                  <a:srgbClr val="FFFFFF"/>
                </a:solidFill>
                <a:latin typeface="DM Sans"/>
              </a:rPr>
              <a:t/>
            </a:r>
          </a:p>
          <a:p>
            <a:pPr algn="l"/>
            <a:r>
              <a:rPr sz="1500" b="0">
                <a:solidFill>
                  <a:srgbClr val="E8F4E8"/>
                </a:solidFill>
                <a:latin typeface="DM Sans"/>
              </a:rPr>
              <a:t>Your child has opportunity.</a:t>
            </a:r>
          </a:p>
          <a:p>
            <a:pPr algn="l"/>
            <a:r>
              <a:rPr sz="1500" b="1">
                <a:solidFill>
                  <a:srgbClr val="FFFFFF"/>
                </a:solidFill>
                <a:latin typeface="DM Sans"/>
              </a:rPr>
              <a:t>But can they believe in themselves when doubt rises?</a:t>
            </a:r>
          </a:p>
        </p:txBody>
      </p:sp>
      <p:sp>
        <p:nvSpPr>
          <p:cNvPr id="8" name="Rectangle 7"/>
          <p:cNvSpPr/>
          <p:nvPr/>
        </p:nvSpPr>
        <p:spPr>
          <a:xfrm>
            <a:off x="411480" y="5029200"/>
            <a:ext cx="11365992" cy="1828"/>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120640"/>
            <a:ext cx="10515600" cy="457200"/>
          </a:xfrm>
          <a:prstGeom prst="rect">
            <a:avLst/>
          </a:prstGeom>
          <a:noFill/>
        </p:spPr>
        <p:txBody>
          <a:bodyPr wrap="square">
            <a:spAutoFit/>
          </a:bodyPr>
          <a:lstStyle/>
          <a:p>
            <a:pPr algn="l"/>
            <a:r>
              <a:rPr sz="1600" b="1">
                <a:solidFill>
                  <a:srgbClr val="C8963C"/>
                </a:solidFill>
                <a:latin typeface="Playfair Display"/>
              </a:rPr>
              <a:t>The skills that answer yes to those questions — they are not born. They are built.</a:t>
            </a:r>
          </a:p>
        </p:txBody>
      </p:sp>
      <p:sp>
        <p:nvSpPr>
          <p:cNvPr id="10" name="TextBox 9"/>
          <p:cNvSpPr txBox="1"/>
          <p:nvPr/>
        </p:nvSpPr>
        <p:spPr>
          <a:xfrm>
            <a:off x="594360" y="5669280"/>
            <a:ext cx="10515600" cy="384048"/>
          </a:xfrm>
          <a:prstGeom prst="rect">
            <a:avLst/>
          </a:prstGeom>
          <a:noFill/>
        </p:spPr>
        <p:txBody>
          <a:bodyPr wrap="square">
            <a:spAutoFit/>
          </a:bodyPr>
          <a:lstStyle/>
          <a:p>
            <a:pPr algn="l"/>
            <a:r>
              <a:rPr sz="1500" b="0">
                <a:solidFill>
                  <a:srgbClr val="FFFFFF"/>
                </a:solidFill>
                <a:latin typeface="Playfair Display"/>
              </a:rPr>
              <a:t>And the window to build them well is now.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2743200" cy="347472"/>
          </a:xfrm>
          <a:prstGeom prst="rect">
            <a:avLst/>
          </a:prstGeom>
          <a:noFill/>
        </p:spPr>
        <p:txBody>
          <a:bodyPr wrap="square">
            <a:spAutoFit/>
          </a:bodyPr>
          <a:lstStyle/>
          <a:p>
            <a:pPr algn="l"/>
            <a:r>
              <a:rPr sz="900" b="0">
                <a:solidFill>
                  <a:srgbClr val="C8963C"/>
                </a:solidFill>
                <a:latin typeface="DM Sans"/>
              </a:rPr>
              <a:t>SLIDE 15 OF 15</a:t>
            </a:r>
          </a:p>
        </p:txBody>
      </p:sp>
      <p:sp>
        <p:nvSpPr>
          <p:cNvPr id="5" name="TextBox 4"/>
          <p:cNvSpPr txBox="1"/>
          <p:nvPr/>
        </p:nvSpPr>
        <p:spPr>
          <a:xfrm>
            <a:off x="411480" y="438912"/>
            <a:ext cx="10972800" cy="438912"/>
          </a:xfrm>
          <a:prstGeom prst="rect">
            <a:avLst/>
          </a:prstGeom>
          <a:noFill/>
        </p:spPr>
        <p:txBody>
          <a:bodyPr wrap="square">
            <a:spAutoFit/>
          </a:bodyPr>
          <a:lstStyle/>
          <a:p>
            <a:pPr algn="l"/>
            <a:r>
              <a:rPr sz="2000" b="1">
                <a:solidFill>
                  <a:srgbClr val="FFFFFF"/>
                </a:solidFill>
                <a:latin typeface="Playfair Display"/>
              </a:rPr>
              <a:t>Next Step</a:t>
            </a:r>
          </a:p>
        </p:txBody>
      </p:sp>
      <p:sp>
        <p:nvSpPr>
          <p:cNvPr id="6" name="Rectangle 5"/>
          <p:cNvSpPr/>
          <p:nvPr/>
        </p:nvSpPr>
        <p:spPr>
          <a:xfrm>
            <a:off x="411480" y="1051560"/>
            <a:ext cx="54864" cy="77724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10789920" cy="777240"/>
          </a:xfrm>
          <a:prstGeom prst="rect">
            <a:avLst/>
          </a:prstGeom>
          <a:noFill/>
        </p:spPr>
        <p:txBody>
          <a:bodyPr wrap="square">
            <a:spAutoFit/>
          </a:bodyPr>
          <a:lstStyle/>
          <a:p>
            <a:pPr algn="l"/>
            <a:r>
              <a:rPr sz="2600" b="1">
                <a:solidFill>
                  <a:srgbClr val="1A3A1A"/>
                </a:solidFill>
                <a:latin typeface="Playfair Display"/>
              </a:rPr>
              <a:t>No commitment. Just tell us you're interested.</a:t>
            </a:r>
          </a:p>
        </p:txBody>
      </p:sp>
      <p:sp>
        <p:nvSpPr>
          <p:cNvPr id="8" name="Rectangle 7"/>
          <p:cNvSpPr/>
          <p:nvPr/>
        </p:nvSpPr>
        <p:spPr>
          <a:xfrm>
            <a:off x="411480" y="1920240"/>
            <a:ext cx="11365992" cy="566928"/>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11680"/>
            <a:ext cx="11091672" cy="411480"/>
          </a:xfrm>
          <a:prstGeom prst="rect">
            <a:avLst/>
          </a:prstGeom>
          <a:noFill/>
        </p:spPr>
        <p:txBody>
          <a:bodyPr wrap="square">
            <a:spAutoFit/>
          </a:bodyPr>
          <a:lstStyle/>
          <a:p>
            <a:pPr algn="ctr"/>
            <a:r>
              <a:rPr sz="2000" b="1">
                <a:solidFill>
                  <a:srgbClr val="C8963C"/>
                </a:solidFill>
                <a:latin typeface="Playfair Display"/>
              </a:rPr>
              <a:t>Join the Priority Interest List</a:t>
            </a:r>
          </a:p>
        </p:txBody>
      </p:sp>
      <p:sp>
        <p:nvSpPr>
          <p:cNvPr id="10" name="TextBox 9"/>
          <p:cNvSpPr txBox="1"/>
          <p:nvPr/>
        </p:nvSpPr>
        <p:spPr>
          <a:xfrm>
            <a:off x="594360" y="2606040"/>
            <a:ext cx="11091672" cy="502920"/>
          </a:xfrm>
          <a:prstGeom prst="rect">
            <a:avLst/>
          </a:prstGeom>
          <a:noFill/>
        </p:spPr>
        <p:txBody>
          <a:bodyPr wrap="square">
            <a:spAutoFit/>
          </a:bodyPr>
          <a:lstStyle/>
          <a:p>
            <a:pPr algn="ctr"/>
            <a:r>
              <a:rPr sz="1300" b="0">
                <a:solidFill>
                  <a:srgbClr val="445544"/>
                </a:solidFill>
                <a:latin typeface="DM Sans"/>
              </a:rPr>
              <a:t>We are currently forming groups for Summer 2026.  Groups are small — formed by grade, location, and schedule.</a:t>
            </a:r>
          </a:p>
        </p:txBody>
      </p:sp>
      <p:sp>
        <p:nvSpPr>
          <p:cNvPr id="11" name="Rectangle 10"/>
          <p:cNvSpPr/>
          <p:nvPr/>
        </p:nvSpPr>
        <p:spPr>
          <a:xfrm>
            <a:off x="1828800" y="3246120"/>
            <a:ext cx="457200" cy="45720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3246120"/>
            <a:ext cx="457200" cy="457200"/>
          </a:xfrm>
          <a:prstGeom prst="rect">
            <a:avLst/>
          </a:prstGeom>
          <a:noFill/>
        </p:spPr>
        <p:txBody>
          <a:bodyPr wrap="square">
            <a:spAutoFit/>
          </a:bodyPr>
          <a:lstStyle/>
          <a:p>
            <a:pPr algn="ctr"/>
            <a:r>
              <a:rPr sz="1600" b="1">
                <a:solidFill>
                  <a:srgbClr val="FFFFFF"/>
                </a:solidFill>
                <a:latin typeface="DM Sans"/>
              </a:rPr>
              <a:t>1</a:t>
            </a:r>
          </a:p>
        </p:txBody>
      </p:sp>
      <p:sp>
        <p:nvSpPr>
          <p:cNvPr id="13" name="TextBox 12"/>
          <p:cNvSpPr txBox="1"/>
          <p:nvPr/>
        </p:nvSpPr>
        <p:spPr>
          <a:xfrm>
            <a:off x="2423160" y="3300984"/>
            <a:ext cx="7772400" cy="384048"/>
          </a:xfrm>
          <a:prstGeom prst="rect">
            <a:avLst/>
          </a:prstGeom>
          <a:noFill/>
        </p:spPr>
        <p:txBody>
          <a:bodyPr wrap="square">
            <a:spAutoFit/>
          </a:bodyPr>
          <a:lstStyle/>
          <a:p>
            <a:pPr algn="l"/>
            <a:r>
              <a:rPr sz="1400" b="0">
                <a:solidFill>
                  <a:srgbClr val="1A3A1A"/>
                </a:solidFill>
                <a:latin typeface="DM Sans"/>
              </a:rPr>
              <a:t>Visit the website and join the interest list</a:t>
            </a:r>
          </a:p>
        </p:txBody>
      </p:sp>
      <p:sp>
        <p:nvSpPr>
          <p:cNvPr id="14" name="Rectangle 13"/>
          <p:cNvSpPr/>
          <p:nvPr/>
        </p:nvSpPr>
        <p:spPr>
          <a:xfrm>
            <a:off x="1828800" y="3904488"/>
            <a:ext cx="457200" cy="45720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0" y="3904488"/>
            <a:ext cx="457200" cy="457200"/>
          </a:xfrm>
          <a:prstGeom prst="rect">
            <a:avLst/>
          </a:prstGeom>
          <a:noFill/>
        </p:spPr>
        <p:txBody>
          <a:bodyPr wrap="square">
            <a:spAutoFit/>
          </a:bodyPr>
          <a:lstStyle/>
          <a:p>
            <a:pPr algn="ctr"/>
            <a:r>
              <a:rPr sz="1600" b="1">
                <a:solidFill>
                  <a:srgbClr val="FFFFFF"/>
                </a:solidFill>
                <a:latin typeface="DM Sans"/>
              </a:rPr>
              <a:t>2</a:t>
            </a:r>
          </a:p>
        </p:txBody>
      </p:sp>
      <p:sp>
        <p:nvSpPr>
          <p:cNvPr id="16" name="TextBox 15"/>
          <p:cNvSpPr txBox="1"/>
          <p:nvPr/>
        </p:nvSpPr>
        <p:spPr>
          <a:xfrm>
            <a:off x="2423160" y="3959352"/>
            <a:ext cx="7772400" cy="384048"/>
          </a:xfrm>
          <a:prstGeom prst="rect">
            <a:avLst/>
          </a:prstGeom>
          <a:noFill/>
        </p:spPr>
        <p:txBody>
          <a:bodyPr wrap="square">
            <a:spAutoFit/>
          </a:bodyPr>
          <a:lstStyle/>
          <a:p>
            <a:pPr algn="l"/>
            <a:r>
              <a:rPr sz="1400" b="0">
                <a:solidFill>
                  <a:srgbClr val="1A3A1A"/>
                </a:solidFill>
                <a:latin typeface="DM Sans"/>
              </a:rPr>
              <a:t>We will reach out when a group is forming near you</a:t>
            </a:r>
          </a:p>
        </p:txBody>
      </p:sp>
      <p:sp>
        <p:nvSpPr>
          <p:cNvPr id="17" name="Rectangle 16"/>
          <p:cNvSpPr/>
          <p:nvPr/>
        </p:nvSpPr>
        <p:spPr>
          <a:xfrm>
            <a:off x="1828800" y="4562856"/>
            <a:ext cx="457200" cy="457200"/>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0" y="4562856"/>
            <a:ext cx="457200" cy="457200"/>
          </a:xfrm>
          <a:prstGeom prst="rect">
            <a:avLst/>
          </a:prstGeom>
          <a:noFill/>
        </p:spPr>
        <p:txBody>
          <a:bodyPr wrap="square">
            <a:spAutoFit/>
          </a:bodyPr>
          <a:lstStyle/>
          <a:p>
            <a:pPr algn="ctr"/>
            <a:r>
              <a:rPr sz="1600" b="1">
                <a:solidFill>
                  <a:srgbClr val="FFFFFF"/>
                </a:solidFill>
                <a:latin typeface="DM Sans"/>
              </a:rPr>
              <a:t>3</a:t>
            </a:r>
          </a:p>
        </p:txBody>
      </p:sp>
      <p:sp>
        <p:nvSpPr>
          <p:cNvPr id="19" name="TextBox 18"/>
          <p:cNvSpPr txBox="1"/>
          <p:nvPr/>
        </p:nvSpPr>
        <p:spPr>
          <a:xfrm>
            <a:off x="2423160" y="4617720"/>
            <a:ext cx="7772400" cy="384048"/>
          </a:xfrm>
          <a:prstGeom prst="rect">
            <a:avLst/>
          </a:prstGeom>
          <a:noFill/>
        </p:spPr>
        <p:txBody>
          <a:bodyPr wrap="square">
            <a:spAutoFit/>
          </a:bodyPr>
          <a:lstStyle/>
          <a:p>
            <a:pPr algn="l"/>
            <a:r>
              <a:rPr sz="1400" b="0">
                <a:solidFill>
                  <a:srgbClr val="1A3A1A"/>
                </a:solidFill>
                <a:latin typeface="DM Sans"/>
              </a:rPr>
              <a:t>No payment. No obligation. Just priority access.</a:t>
            </a:r>
          </a:p>
        </p:txBody>
      </p:sp>
      <p:sp>
        <p:nvSpPr>
          <p:cNvPr id="20" name="Rectangle 19"/>
          <p:cNvSpPr/>
          <p:nvPr/>
        </p:nvSpPr>
        <p:spPr>
          <a:xfrm>
            <a:off x="411480" y="5349240"/>
            <a:ext cx="11365992" cy="914"/>
          </a:xfrm>
          <a:prstGeom prst="rect">
            <a:avLst/>
          </a:prstGeom>
          <a:solidFill>
            <a:srgbClr val="C89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0" y="5440680"/>
            <a:ext cx="8229600" cy="685800"/>
          </a:xfrm>
          <a:prstGeom prst="rect">
            <a:avLst/>
          </a:prstGeom>
          <a:noFill/>
        </p:spPr>
        <p:txBody>
          <a:bodyPr wrap="square">
            <a:spAutoFit/>
          </a:bodyPr>
          <a:lstStyle/>
          <a:p>
            <a:pPr algn="l"/>
            <a:r>
              <a:rPr sz="1300" b="0">
                <a:solidFill>
                  <a:srgbClr val="1A3A1A"/>
                </a:solidFill>
                <a:latin typeface="DM Sans"/>
              </a:rPr>
              <a:t>🌐  vjra.net</a:t>
            </a:r>
          </a:p>
          <a:p>
            <a:pPr algn="l"/>
            <a:r>
              <a:rPr sz="1300" b="0">
                <a:solidFill>
                  <a:srgbClr val="1A3A1A"/>
                </a:solidFill>
                <a:latin typeface="DM Sans"/>
              </a:rPr>
              <a:t>📧  thinkyoungleaders@gmail.com</a:t>
            </a:r>
          </a:p>
        </p:txBody>
      </p:sp>
      <p:sp>
        <p:nvSpPr>
          <p:cNvPr id="22" name="TextBox 21"/>
          <p:cNvSpPr txBox="1"/>
          <p:nvPr/>
        </p:nvSpPr>
        <p:spPr>
          <a:xfrm>
            <a:off x="594360" y="6172200"/>
            <a:ext cx="11091672" cy="411480"/>
          </a:xfrm>
          <a:prstGeom prst="rect">
            <a:avLst/>
          </a:prstGeom>
          <a:noFill/>
        </p:spPr>
        <p:txBody>
          <a:bodyPr wrap="square">
            <a:spAutoFit/>
          </a:bodyPr>
          <a:lstStyle/>
          <a:p>
            <a:pPr algn="ctr"/>
            <a:r>
              <a:rPr sz="1250" b="0">
                <a:solidFill>
                  <a:srgbClr val="445544"/>
                </a:solidFill>
                <a:latin typeface="DM Sans"/>
              </a:rPr>
              <a:t>"The earlier you express interest, the better we can match your child to the right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