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being here. I know most parents in this room are already doing a great deal for their children. You are investing in academics, activities, enrichment, and opportunity. My goal today is not to add pressure. It is to show you a missing layer that many children still need, even when they are doing well on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children are bright, well-supported, and full of potential. That is not the issue. The issue is that pressure reveals something deeper. In a hard moment, children do not automatically draw on their intelligence. They fall back on the internal patterns already running underneath that intelligence.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limits many children is not poverty, lack of opportunity, or lack of intelligence. Your children have loving parents who have sacrificed enormously. They have tutors, activities, good schools, and resources. And yet many of them are still struggling in ways all of that cannot fully fix. Because the issue is internal. It is the thought pattern, the emotional habit, the automatic reaction that takes over when life gets hard.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Parents usually recognize this before anyone names it. The child who panics before an exam, shuts down after one mistake, avoids challenge, compares constantly, or becomes overwhelmed too quickly is not showing a fixed personality. They are showing a skill gap in how they handle internal 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I want to meet parents with respect. You have already invested in so much that goes into your child: knowledge, opportunity, and ability. The deeper question is whether your child can still use those assets when the moment is hard. The skills that make that possible are not simply inborn. They are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Schools teach knowledge, performance, achievement, and how to follow systems. What they rarely teach directly is how to recover, stay steady, respond to frustration, work with self-doubt, or keep going when confidence drops.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timing argument matters. Harvard's Center on the Developing Child emphasizes that timing matters in development: early experiences shape brain architecture, and young brains are especially sensitive to the environments and patterns they are learning from. Harvard's stress research also shows that excessive stress disrupts brain systems tied to learning and memory. In plain language, a stressed child may know the material, but have poorer access to it in the moment. And research from Yale's Center for Emotional Intelligence and UC Berkeley's Greater Good Science Center supports explicit teaching of emotion skills because stronger emotional regulation is linked to better academic, social, and longer-term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know this audience is analytical, so this slide is where I make the case plainly. First, the CDC data shows that emotional struggle is not a fringe issue. Second, workplace trend reporting increasingly points to human skills as future-relevant, especially capacities like self-awareness, resilience, flexibility, and agility. Third, Bandura's self-efficacy work matters because children do not only need ability; they need the belief that they can use that ability under challenge. And fourth, Yale and Berkeley reinforce that emotional skill and self-regulation are not separate from success. They shape how children function, recover, and grow.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mechanism slide. Bandura helps explain the first block: belief changes performance, because children with stronger self-efficacy persist longer and disengage less quickly. Harvard's stress research supports the second block: pressure changes cognition, so emotional steadiness and academic performance are linked. The third block is about patterning: repeated reactions become more automatic over time. And the fourth block explains why this cannot be a one-off talk. Practice matters because repeated guided use of a tool makes a healthier response more available when the next hard moment arrives.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patterning argument in plain English. If a child repeatedly responds with panic, shutdown, avoidance, or harsh self-talk, the response becomes easier to trigger. Over time, what starts as a moment becomes a more familiar way of meeting life. That is why earlier intervention has leverage: it is easier to build a different response while the pattern is still more flexible.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ThinkRoot method. Awareness helps the child notice earlier. Accept helps them stop fighting what is already there. Action gives them a concrete response. This is also where ThinkRoot goes deeper than surface-level behavior correction. We are working with the root of the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children build is highly practical. Better judgment. More responsibility. More emotional steadiness. Stronger recovery after setbacks. And more confidence when life is not going smoothly.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I show parents the program is not vague. The sequence is intentional. Week by week, students build a toolkit. The table also lets me point to recognizable research anchors without turning the talk into a lecture. The point is not that parents memorize each source. The point is that they can see the program is structured, cumulative, and grounded in real developmental science.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distinction matters. The 5-day Resilience Lab is not a different philosophy. It is the shorter entry point into the same work. The 6-week sequence is the fuller architecture and the deeper developmental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Parents usually want to know whether this shows up in real life. These examples matter because they are observable. Less reactivity. Better sleep and focus. More academic confidence. More calm in exams. That is what practical transfer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Parents respond to this work because it is not fluffy. It is practical. It is structured. It produces observable changes. It supports academics and daily life rather than competing with them. And it addresses what parents are already seeing at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this resonates with you, the next step is simple. Join the priority interest list. Let us know whether the 5-day or 6-week format is of interest. And if enough families are interested, we can also explore bringing this into a school or community setting.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backup slide for presenter use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vjra17.github.io/thinkroot-site/" TargetMode="External"/><Relationship Id="rId2" Type="http://schemas.openxmlformats.org/officeDocument/2006/relationships/image" Target="../media/image-1-1.jpe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vjra17.github.io/thinkroot-site/" TargetMode="External"/><Relationship Id="rId2" Type="http://schemas.openxmlformats.org/officeDocument/2006/relationships/image" Target="../media/image-17-1.jpe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D24"/>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73D24"/>
          </a:solidFill>
          <a:ln w="12700">
            <a:solidFill>
              <a:srgbClr val="173D24"/>
            </a:solidFill>
            <a:prstDash val="solid"/>
          </a:ln>
        </p:spPr>
      </p:sp>
      <p:sp>
        <p:nvSpPr>
          <p:cNvPr id="3" name="Shape 1"/>
          <p:cNvSpPr/>
          <p:nvPr/>
        </p:nvSpPr>
        <p:spPr>
          <a:xfrm>
            <a:off x="566928" y="1325880"/>
            <a:ext cx="73152" cy="2788920"/>
          </a:xfrm>
          <a:prstGeom prst="rect">
            <a:avLst/>
          </a:prstGeom>
          <a:solidFill>
            <a:srgbClr val="C89C3D"/>
          </a:solidFill>
          <a:ln w="12700">
            <a:solidFill>
              <a:srgbClr val="C89C3D"/>
            </a:solidFill>
            <a:prstDash val="solid"/>
          </a:ln>
        </p:spPr>
      </p:sp>
      <p:sp>
        <p:nvSpPr>
          <p:cNvPr id="4" name="Text 2"/>
          <p:cNvSpPr/>
          <p:nvPr/>
        </p:nvSpPr>
        <p:spPr>
          <a:xfrm>
            <a:off x="768096" y="1042416"/>
            <a:ext cx="4206240" cy="228600"/>
          </a:xfrm>
          <a:prstGeom prst="rect">
            <a:avLst/>
          </a:prstGeom>
          <a:noFill/>
          <a:ln/>
        </p:spPr>
        <p:txBody>
          <a:bodyPr wrap="square" lIns="0" tIns="0" rIns="0" bIns="0" rtlCol="0" anchor="ctr">
            <a:normAutofit/>
          </a:bodyPr>
          <a:lstStyle/>
          <a:p>
            <a:pPr indent="0" marL="0">
              <a:buNone/>
            </a:pPr>
            <a:r>
              <a:rPr lang="en-US" sz="1200" b="1" dirty="0">
                <a:solidFill>
                  <a:srgbClr val="C89C3D"/>
                </a:solidFill>
                <a:latin typeface="Aptos" pitchFamily="34" charset="0"/>
                <a:ea typeface="Aptos" pitchFamily="34" charset="-122"/>
                <a:cs typeface="Aptos" pitchFamily="34" charset="-120"/>
              </a:rPr>
              <a:t>THINKROOT YOUNG LEADERS</a:t>
            </a:r>
            <a:endParaRPr lang="en-US" sz="1200" dirty="0"/>
          </a:p>
        </p:txBody>
      </p:sp>
      <p:sp>
        <p:nvSpPr>
          <p:cNvPr id="5" name="Text 3"/>
          <p:cNvSpPr/>
          <p:nvPr/>
        </p:nvSpPr>
        <p:spPr>
          <a:xfrm>
            <a:off x="768096" y="1417320"/>
            <a:ext cx="5623560" cy="132588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Georgia" pitchFamily="34" charset="0"/>
                <a:ea typeface="Georgia" pitchFamily="34" charset="-122"/>
                <a:cs typeface="Georgia" pitchFamily="34" charset="-120"/>
              </a:rPr>
              <a:t>Building Children</a:t>
            </a:r>
            <a:endParaRPr lang="en-US" sz="2800" dirty="0"/>
          </a:p>
          <a:p>
            <a:pPr indent="0" marL="0">
              <a:buNone/>
            </a:pPr>
            <a:r>
              <a:rPr lang="en-US" sz="2800" b="1" dirty="0">
                <a:solidFill>
                  <a:srgbClr val="FFFFFF"/>
                </a:solidFill>
                <a:latin typeface="Georgia" pitchFamily="34" charset="0"/>
                <a:ea typeface="Georgia" pitchFamily="34" charset="-122"/>
                <a:cs typeface="Georgia" pitchFamily="34" charset="-120"/>
              </a:rPr>
              <a:t>Who Can Handle Life</a:t>
            </a:r>
            <a:endParaRPr lang="en-US" sz="2800" dirty="0"/>
          </a:p>
        </p:txBody>
      </p:sp>
      <p:sp>
        <p:nvSpPr>
          <p:cNvPr id="6" name="Text 4"/>
          <p:cNvSpPr/>
          <p:nvPr/>
        </p:nvSpPr>
        <p:spPr>
          <a:xfrm>
            <a:off x="768096" y="2944368"/>
            <a:ext cx="5349240" cy="365760"/>
          </a:xfrm>
          <a:prstGeom prst="rect">
            <a:avLst/>
          </a:prstGeom>
          <a:noFill/>
          <a:ln/>
        </p:spPr>
        <p:txBody>
          <a:bodyPr wrap="square" lIns="0" tIns="0" rIns="0" bIns="0" rtlCol="0" anchor="ctr">
            <a:normAutofit/>
          </a:bodyPr>
          <a:lstStyle/>
          <a:p>
            <a:pPr indent="0" marL="0">
              <a:buNone/>
            </a:pPr>
            <a:r>
              <a:rPr lang="en-US" sz="1500" dirty="0">
                <a:solidFill>
                  <a:srgbClr val="F6F0E6"/>
                </a:solidFill>
                <a:latin typeface="Aptos" pitchFamily="34" charset="0"/>
                <a:ea typeface="Aptos" pitchFamily="34" charset="-122"/>
                <a:cs typeface="Aptos" pitchFamily="34" charset="-120"/>
              </a:rPr>
              <a:t>An introduction to ThinkRoot Young Leaders and Resilience Lab</a:t>
            </a:r>
            <a:endParaRPr lang="en-US" sz="1500" dirty="0"/>
          </a:p>
        </p:txBody>
      </p:sp>
      <p:sp>
        <p:nvSpPr>
          <p:cNvPr id="7" name="Text 5"/>
          <p:cNvSpPr/>
          <p:nvPr/>
        </p:nvSpPr>
        <p:spPr>
          <a:xfrm>
            <a:off x="768096" y="3657600"/>
            <a:ext cx="5212080" cy="914400"/>
          </a:xfrm>
          <a:prstGeom prst="rect">
            <a:avLst/>
          </a:prstGeom>
          <a:noFill/>
          <a:ln/>
        </p:spPr>
        <p:txBody>
          <a:bodyPr wrap="square" lIns="0" tIns="0" rIns="0" bIns="0" rtlCol="0" anchor="ctr">
            <a:normAutofit/>
          </a:bodyPr>
          <a:lstStyle/>
          <a:p>
            <a:pPr indent="0" marL="0">
              <a:buNone/>
            </a:pPr>
            <a:r>
              <a:rPr lang="en-US" sz="1500" dirty="0">
                <a:solidFill>
                  <a:srgbClr val="F6F0E6"/>
                </a:solidFill>
                <a:latin typeface="Aptos" pitchFamily="34" charset="0"/>
                <a:ea typeface="Aptos" pitchFamily="34" charset="-122"/>
                <a:cs typeface="Aptos" pitchFamily="34" charset="-120"/>
              </a:rPr>
              <a:t>A scientific, practical framework for helping children build steadiness, judgment, and resilience before pressure takes over.</a:t>
            </a:r>
            <a:endParaRPr lang="en-US" sz="1500" dirty="0"/>
          </a:p>
        </p:txBody>
      </p:sp>
      <p:sp>
        <p:nvSpPr>
          <p:cNvPr id="8" name="Shape 6"/>
          <p:cNvSpPr/>
          <p:nvPr/>
        </p:nvSpPr>
        <p:spPr>
          <a:xfrm>
            <a:off x="768096" y="5870448"/>
            <a:ext cx="5349240" cy="9144"/>
          </a:xfrm>
          <a:prstGeom prst="rect">
            <a:avLst/>
          </a:prstGeom>
          <a:solidFill>
            <a:srgbClr val="C89C3D"/>
          </a:solidFill>
          <a:ln w="12700">
            <a:solidFill>
              <a:srgbClr val="C89C3D"/>
            </a:solidFill>
            <a:prstDash val="solid"/>
          </a:ln>
        </p:spPr>
      </p:sp>
      <p:sp>
        <p:nvSpPr>
          <p:cNvPr id="9" name="Text 7"/>
          <p:cNvSpPr/>
          <p:nvPr/>
        </p:nvSpPr>
        <p:spPr>
          <a:xfrm>
            <a:off x="768096" y="5998464"/>
            <a:ext cx="5486400" cy="164592"/>
          </a:xfrm>
          <a:prstGeom prst="rect">
            <a:avLst/>
          </a:prstGeom>
          <a:noFill/>
          <a:ln/>
        </p:spPr>
        <p:txBody>
          <a:bodyPr wrap="square" lIns="0" tIns="0" rIns="0" bIns="0" rtlCol="0" anchor="ctr">
            <a:normAutofit/>
          </a:bodyPr>
          <a:lstStyle/>
          <a:p>
            <a:pPr indent="0" marL="0">
              <a:buNone/>
            </a:pPr>
            <a:r>
              <a:rPr lang="en-US" sz="1100" dirty="0">
                <a:solidFill>
                  <a:srgbClr val="C89C3D"/>
                </a:solidFill>
                <a:latin typeface="Aptos" pitchFamily="34" charset="0"/>
                <a:ea typeface="Aptos" pitchFamily="34" charset="-122"/>
                <a:cs typeface="Aptos" pitchFamily="34" charset="-120"/>
              </a:rPr>
              <a:t>Tina Puri | Founder, ThinkRoot Young Leaders</a:t>
            </a:r>
            <a:endParaRPr lang="en-US" sz="1100" dirty="0"/>
          </a:p>
        </p:txBody>
      </p:sp>
      <p:sp>
        <p:nvSpPr>
          <p:cNvPr id="10" name="Text 8">
            <a:hlinkClick r:id="rId1" tooltip=""/>
          </p:cNvPr>
          <p:cNvSpPr/>
          <p:nvPr/>
        </p:nvSpPr>
        <p:spPr>
          <a:xfrm>
            <a:off x="768096" y="6245352"/>
            <a:ext cx="5669280" cy="164592"/>
          </a:xfrm>
          <a:prstGeom prst="rect">
            <a:avLst/>
          </a:prstGeom>
          <a:noFill/>
          <a:ln/>
        </p:spPr>
        <p:txBody>
          <a:bodyPr wrap="square" lIns="0" tIns="0" rIns="0" bIns="0" rtlCol="0" anchor="ctr">
            <a:normAutofit/>
          </a:bodyPr>
          <a:lstStyle/>
          <a:p>
            <a:pPr indent="0" marL="0">
              <a:buNone/>
            </a:pPr>
            <a:r>
              <a:rPr lang="en-US" sz="1050" u="sng" dirty="0">
                <a:solidFill>
                  <a:srgbClr val="F6F0E6"/>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https://vjra17.github.io/thinkroot-site/</a:t>
            </a:r>
            <a:endParaRPr lang="en-US" sz="1050" dirty="0"/>
          </a:p>
        </p:txBody>
      </p:sp>
      <p:sp>
        <p:nvSpPr>
          <p:cNvPr id="11" name="Shape 9"/>
          <p:cNvSpPr/>
          <p:nvPr/>
        </p:nvSpPr>
        <p:spPr>
          <a:xfrm>
            <a:off x="8092440" y="960120"/>
            <a:ext cx="3429000" cy="5120640"/>
          </a:xfrm>
          <a:prstGeom prst="roundRect">
            <a:avLst/>
          </a:prstGeom>
          <a:solidFill>
            <a:srgbClr val="EFE6D8"/>
          </a:solidFill>
          <a:ln w="12700">
            <a:solidFill>
              <a:srgbClr val="C89C3D"/>
            </a:solidFill>
            <a:prstDash val="solid"/>
          </a:ln>
        </p:spPr>
      </p:sp>
      <p:pic>
        <p:nvPicPr>
          <p:cNvPr id="12" name="Image 0" descr="/Users/tina/Documents/code/thinkroot-site/tina.jpeg">    </p:cNvPr>
          <p:cNvPicPr>
            <a:picLocks noChangeAspect="1"/>
          </p:cNvPicPr>
          <p:nvPr/>
        </p:nvPicPr>
        <p:blipFill>
          <a:blip r:embed="rId2"/>
          <a:srcRect l="0" r="0" t="0" b="0"/>
          <a:stretch/>
        </p:blipFill>
        <p:spPr>
          <a:xfrm>
            <a:off x="8165592" y="1033272"/>
            <a:ext cx="3282696" cy="4974336"/>
          </a:xfrm>
          <a:prstGeom prst="rect">
            <a:avLst/>
          </a:prstGeom>
        </p:spPr>
      </p:pic>
      <p:sp>
        <p:nvSpPr>
          <p:cNvPr id="13" name="Text 10"/>
          <p:cNvSpPr/>
          <p:nvPr/>
        </p:nvSpPr>
        <p:spPr>
          <a:xfrm>
            <a:off x="8156448" y="6144768"/>
            <a:ext cx="3291840" cy="384048"/>
          </a:xfrm>
          <a:prstGeom prst="rect">
            <a:avLst/>
          </a:prstGeom>
          <a:noFill/>
          <a:ln/>
        </p:spPr>
        <p:txBody>
          <a:bodyPr wrap="square" lIns="508" tIns="508" rIns="508" bIns="508" rtlCol="0" anchor="ctr">
            <a:normAutofit/>
          </a:bodyPr>
          <a:lstStyle/>
          <a:p>
            <a:pPr algn="ctr" indent="0" marL="0">
              <a:buNone/>
            </a:pPr>
            <a:r>
              <a:rPr lang="en-US" sz="1050" dirty="0">
                <a:solidFill>
                  <a:srgbClr val="F6F0E6"/>
                </a:solidFill>
                <a:latin typeface="Aptos" pitchFamily="34" charset="0"/>
                <a:ea typeface="Aptos" pitchFamily="34" charset="-122"/>
                <a:cs typeface="Aptos" pitchFamily="34" charset="-120"/>
              </a:rPr>
              <a:t>Certified Wellness Educator</a:t>
            </a:r>
            <a:endParaRPr lang="en-US" sz="1050" dirty="0"/>
          </a:p>
          <a:p>
            <a:pPr algn="ctr" indent="0" marL="0">
              <a:buNone/>
            </a:pPr>
            <a:r>
              <a:rPr lang="en-US" sz="1050" dirty="0">
                <a:solidFill>
                  <a:srgbClr val="F6F0E6"/>
                </a:solidFill>
                <a:latin typeface="Aptos" pitchFamily="34" charset="0"/>
                <a:ea typeface="Aptos" pitchFamily="34" charset="-122"/>
                <a:cs typeface="Aptos" pitchFamily="34" charset="-120"/>
              </a:rPr>
              <a:t>Senior Peer Counselor</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0E6"/>
        </a:solidFill>
      </p:bgPr>
    </p:bg>
    <p:spTree>
      <p:nvGrpSpPr>
        <p:cNvPr id="1" name=""/>
        <p:cNvGrpSpPr/>
        <p:nvPr/>
      </p:nvGrpSpPr>
      <p:grpSpPr>
        <a:xfrm>
          <a:off x="0" y="0"/>
          <a:ext cx="0" cy="0"/>
          <a:chOff x="0" y="0"/>
          <a:chExt cx="0" cy="0"/>
        </a:xfrm>
      </p:grpSpPr>
      <p:sp>
        <p:nvSpPr>
          <p:cNvPr id="2" name="Shape 0"/>
          <p:cNvSpPr/>
          <p:nvPr/>
        </p:nvSpPr>
        <p:spPr>
          <a:xfrm>
            <a:off x="0" y="0"/>
            <a:ext cx="12191695" cy="713232"/>
          </a:xfrm>
          <a:prstGeom prst="rect">
            <a:avLst/>
          </a:prstGeom>
          <a:solidFill>
            <a:srgbClr val="173D24"/>
          </a:solidFill>
          <a:ln w="12700">
            <a:solidFill>
              <a:srgbClr val="173D24"/>
            </a:solidFill>
            <a:prstDash val="solid"/>
          </a:ln>
        </p:spPr>
      </p:sp>
      <p:sp>
        <p:nvSpPr>
          <p:cNvPr id="3" name="Text 1"/>
          <p:cNvSpPr/>
          <p:nvPr/>
        </p:nvSpPr>
        <p:spPr>
          <a:xfrm>
            <a:off x="475488" y="146304"/>
            <a:ext cx="1828800" cy="146304"/>
          </a:xfrm>
          <a:prstGeom prst="rect">
            <a:avLst/>
          </a:prstGeom>
          <a:noFill/>
          <a:ln/>
        </p:spPr>
        <p:txBody>
          <a:bodyPr wrap="square" lIns="0" tIns="0" rIns="0" bIns="0" rtlCol="0" anchor="ctr">
            <a:normAutofit/>
          </a:bodyPr>
          <a:lstStyle/>
          <a:p>
            <a:pPr indent="0" marL="0">
              <a:buNone/>
            </a:pPr>
            <a:r>
              <a:rPr lang="en-US" sz="900" b="1" dirty="0">
                <a:solidFill>
                  <a:srgbClr val="C89C3D"/>
                </a:solidFill>
                <a:latin typeface="Aptos" pitchFamily="34" charset="0"/>
                <a:ea typeface="Aptos" pitchFamily="34" charset="-122"/>
                <a:cs typeface="Aptos" pitchFamily="34" charset="-120"/>
              </a:rPr>
              <a:t>SLIDE 2 OF 17</a:t>
            </a:r>
            <a:endParaRPr lang="en-US" sz="900" dirty="0"/>
          </a:p>
        </p:txBody>
      </p:sp>
      <p:sp>
        <p:nvSpPr>
          <p:cNvPr id="4" name="Text 2"/>
          <p:cNvSpPr/>
          <p:nvPr/>
        </p:nvSpPr>
        <p:spPr>
          <a:xfrm>
            <a:off x="475488" y="283464"/>
            <a:ext cx="8138160" cy="237744"/>
          </a:xfrm>
          <a:prstGeom prst="rect">
            <a:avLst/>
          </a:prstGeom>
          <a:noFill/>
          <a:ln/>
        </p:spPr>
        <p:txBody>
          <a:bodyPr wrap="square" lIns="0" tIns="0" rIns="0" bIns="0" rtlCol="0" anchor="ctr">
            <a:normAutofit/>
          </a:bodyPr>
          <a:lstStyle/>
          <a:p>
            <a:pPr indent="0" marL="0">
              <a:buNone/>
            </a:pPr>
            <a:r>
              <a:rPr lang="en-US" sz="2200" b="1" dirty="0">
                <a:solidFill>
                  <a:srgbClr val="FFFFFF"/>
                </a:solidFill>
                <a:latin typeface="Georgia" pitchFamily="34" charset="0"/>
                <a:ea typeface="Georgia" pitchFamily="34" charset="-122"/>
                <a:cs typeface="Georgia" pitchFamily="34" charset="-120"/>
              </a:rPr>
              <a:t>What really takes over when life gets hard?</a:t>
            </a:r>
            <a:endParaRPr lang="en-US" sz="2200" dirty="0"/>
          </a:p>
        </p:txBody>
      </p:sp>
      <p:sp>
        <p:nvSpPr>
          <p:cNvPr id="5" name="Text 3"/>
          <p:cNvSpPr/>
          <p:nvPr/>
        </p:nvSpPr>
        <p:spPr>
          <a:xfrm>
            <a:off x="9006840" y="173736"/>
            <a:ext cx="2697480" cy="146304"/>
          </a:xfrm>
          <a:prstGeom prst="rect">
            <a:avLst/>
          </a:prstGeom>
          <a:noFill/>
          <a:ln/>
        </p:spPr>
        <p:txBody>
          <a:bodyPr wrap="square" lIns="0" tIns="0" rIns="0" bIns="0" rtlCol="0" anchor="ctr">
            <a:normAutofit/>
          </a:bodyPr>
          <a:lstStyle/>
          <a:p>
            <a:pPr algn="r" indent="0" marL="0">
              <a:buNone/>
            </a:pPr>
            <a:r>
              <a:rPr lang="en-US" sz="900" b="1" dirty="0">
                <a:solidFill>
                  <a:srgbClr val="F6F0E6"/>
                </a:solidFill>
                <a:latin typeface="Aptos" pitchFamily="34" charset="0"/>
                <a:ea typeface="Aptos" pitchFamily="34" charset="-122"/>
                <a:cs typeface="Aptos" pitchFamily="34" charset="-120"/>
              </a:rPr>
              <a:t>WAKE-UP</a:t>
            </a:r>
            <a:endParaRPr lang="en-US" sz="900" dirty="0"/>
          </a:p>
        </p:txBody>
      </p:sp>
      <p:sp>
        <p:nvSpPr>
          <p:cNvPr id="6" name="Shape 4"/>
          <p:cNvSpPr/>
          <p:nvPr/>
        </p:nvSpPr>
        <p:spPr>
          <a:xfrm>
            <a:off x="475488" y="932688"/>
            <a:ext cx="64008" cy="694944"/>
          </a:xfrm>
          <a:prstGeom prst="rect">
            <a:avLst/>
          </a:prstGeom>
          <a:solidFill>
            <a:srgbClr val="C89C3D"/>
          </a:solidFill>
          <a:ln w="12700">
            <a:solidFill>
              <a:srgbClr val="C89C3D"/>
            </a:solidFill>
            <a:prstDash val="solid"/>
          </a:ln>
        </p:spPr>
      </p:sp>
      <p:sp>
        <p:nvSpPr>
          <p:cNvPr id="7" name="Text 5"/>
          <p:cNvSpPr/>
          <p:nvPr/>
        </p:nvSpPr>
        <p:spPr>
          <a:xfrm>
            <a:off x="658368" y="960120"/>
            <a:ext cx="11064240" cy="585216"/>
          </a:xfrm>
          <a:prstGeom prst="rect">
            <a:avLst/>
          </a:prstGeom>
          <a:noFill/>
          <a:ln/>
        </p:spPr>
        <p:txBody>
          <a:bodyPr wrap="square" lIns="0" tIns="0" rIns="0" bIns="0" rtlCol="0" anchor="ctr">
            <a:normAutofit/>
          </a:bodyPr>
          <a:lstStyle/>
          <a:p>
            <a:pPr indent="0" marL="0">
              <a:buNone/>
            </a:pPr>
            <a:r>
              <a:rPr lang="en-US" sz="2400" b="1" dirty="0">
                <a:solidFill>
                  <a:srgbClr val="173D24"/>
                </a:solidFill>
                <a:latin typeface="Georgia" pitchFamily="34" charset="0"/>
                <a:ea typeface="Georgia" pitchFamily="34" charset="-122"/>
                <a:cs typeface="Georgia" pitchFamily="34" charset="-120"/>
              </a:rPr>
              <a:t>Strong hardware is not enough.</a:t>
            </a:r>
            <a:endParaRPr lang="en-US" sz="2400" dirty="0"/>
          </a:p>
        </p:txBody>
      </p:sp>
      <p:sp>
        <p:nvSpPr>
          <p:cNvPr id="8" name="Shape 6"/>
          <p:cNvSpPr/>
          <p:nvPr/>
        </p:nvSpPr>
        <p:spPr>
          <a:xfrm>
            <a:off x="658368" y="1700784"/>
            <a:ext cx="4709160" cy="2331720"/>
          </a:xfrm>
          <a:prstGeom prst="roundRect">
            <a:avLst/>
          </a:prstGeom>
          <a:solidFill>
            <a:srgbClr val="FFFFFF"/>
          </a:solidFill>
          <a:ln w="12700">
            <a:solidFill>
              <a:srgbClr val="D2C5AE"/>
            </a:solidFill>
            <a:prstDash val="solid"/>
          </a:ln>
        </p:spPr>
      </p:sp>
      <p:sp>
        <p:nvSpPr>
          <p:cNvPr id="9" name="Text 7"/>
          <p:cNvSpPr/>
          <p:nvPr/>
        </p:nvSpPr>
        <p:spPr>
          <a:xfrm>
            <a:off x="859536" y="1901952"/>
            <a:ext cx="4315968" cy="1097280"/>
          </a:xfrm>
          <a:prstGeom prst="rect">
            <a:avLst/>
          </a:prstGeom>
          <a:noFill/>
          <a:ln/>
        </p:spPr>
        <p:txBody>
          <a:bodyPr wrap="square" lIns="508" tIns="508" rIns="508" bIns="508" rtlCol="0" anchor="ctr">
            <a:normAutofit/>
          </a:bodyPr>
          <a:lstStyle/>
          <a:p>
            <a:pPr indent="0" marL="0">
              <a:buNone/>
            </a:pPr>
            <a:r>
              <a:rPr lang="en-US" sz="2200" b="1" dirty="0">
                <a:solidFill>
                  <a:srgbClr val="173D24"/>
                </a:solidFill>
                <a:latin typeface="Georgia" pitchFamily="34" charset="0"/>
                <a:ea typeface="Georgia" pitchFamily="34" charset="-122"/>
                <a:cs typeface="Georgia" pitchFamily="34" charset="-120"/>
              </a:rPr>
              <a:t>Many children today have strong hardware: intelligence, opportunity, and support. But under pressure, the internal patterns underneath often take over.</a:t>
            </a:r>
            <a:endParaRPr lang="en-US" sz="2200" dirty="0"/>
          </a:p>
        </p:txBody>
      </p:sp>
      <p:sp>
        <p:nvSpPr>
          <p:cNvPr id="10" name="Text 8"/>
          <p:cNvSpPr/>
          <p:nvPr/>
        </p:nvSpPr>
        <p:spPr>
          <a:xfrm>
            <a:off x="859536" y="3163824"/>
            <a:ext cx="4315968" cy="502920"/>
          </a:xfrm>
          <a:prstGeom prst="rect">
            <a:avLst/>
          </a:prstGeom>
          <a:noFill/>
          <a:ln/>
        </p:spPr>
        <p:txBody>
          <a:bodyPr wrap="square" lIns="508" tIns="508" rIns="508" bIns="508" rtlCol="0" anchor="ctr">
            <a:normAutofit/>
          </a:bodyPr>
          <a:lstStyle/>
          <a:p>
            <a:pPr indent="0" marL="0">
              <a:buNone/>
            </a:pPr>
            <a:r>
              <a:rPr lang="en-US" sz="1400" dirty="0">
                <a:solidFill>
                  <a:srgbClr val="5E6A61"/>
                </a:solidFill>
                <a:latin typeface="Aptos" pitchFamily="34" charset="0"/>
                <a:ea typeface="Aptos" pitchFamily="34" charset="-122"/>
                <a:cs typeface="Aptos" pitchFamily="34" charset="-120"/>
              </a:rPr>
              <a:t>Success, structure, and opportunity matter. They do not automatically build judgment, recovery, or a steadier response under stress.</a:t>
            </a:r>
            <a:endParaRPr lang="en-US" sz="1400" dirty="0"/>
          </a:p>
        </p:txBody>
      </p:sp>
      <p:sp>
        <p:nvSpPr>
          <p:cNvPr id="11" name="Shape 9"/>
          <p:cNvSpPr/>
          <p:nvPr/>
        </p:nvSpPr>
        <p:spPr>
          <a:xfrm>
            <a:off x="5897880" y="1810512"/>
            <a:ext cx="1691640" cy="438912"/>
          </a:xfrm>
          <a:prstGeom prst="roundRect">
            <a:avLst/>
          </a:prstGeom>
          <a:solidFill>
            <a:srgbClr val="E9F2EA"/>
          </a:solidFill>
          <a:ln w="12700">
            <a:solidFill>
              <a:srgbClr val="D2C5AE"/>
            </a:solidFill>
            <a:prstDash val="solid"/>
          </a:ln>
        </p:spPr>
      </p:sp>
      <p:sp>
        <p:nvSpPr>
          <p:cNvPr id="12" name="Text 10"/>
          <p:cNvSpPr/>
          <p:nvPr/>
        </p:nvSpPr>
        <p:spPr>
          <a:xfrm>
            <a:off x="5971032" y="1865376"/>
            <a:ext cx="1545336" cy="347472"/>
          </a:xfrm>
          <a:prstGeom prst="rect">
            <a:avLst/>
          </a:prstGeom>
          <a:noFill/>
          <a:ln/>
        </p:spPr>
        <p:txBody>
          <a:bodyPr wrap="square" lIns="0" tIns="0" rIns="0" bIns="0" rtlCol="0" anchor="ctr">
            <a:normAutofit/>
          </a:bodyPr>
          <a:lstStyle/>
          <a:p>
            <a:pPr algn="ctr" indent="0" marL="0">
              <a:buNone/>
            </a:pPr>
            <a:r>
              <a:rPr lang="en-US" sz="1050" b="1" dirty="0">
                <a:solidFill>
                  <a:srgbClr val="173D24"/>
                </a:solidFill>
                <a:latin typeface="Aptos" pitchFamily="34" charset="0"/>
                <a:ea typeface="Aptos" pitchFamily="34" charset="-122"/>
                <a:cs typeface="Aptos" pitchFamily="34" charset="-120"/>
              </a:rPr>
              <a:t>INTELLIGENCE</a:t>
            </a:r>
            <a:endParaRPr lang="en-US" sz="1050" dirty="0"/>
          </a:p>
        </p:txBody>
      </p:sp>
      <p:sp>
        <p:nvSpPr>
          <p:cNvPr id="13" name="Shape 11"/>
          <p:cNvSpPr/>
          <p:nvPr/>
        </p:nvSpPr>
        <p:spPr>
          <a:xfrm>
            <a:off x="7754112" y="1810512"/>
            <a:ext cx="1691640" cy="438912"/>
          </a:xfrm>
          <a:prstGeom prst="roundRect">
            <a:avLst/>
          </a:prstGeom>
          <a:solidFill>
            <a:srgbClr val="E9F2EA"/>
          </a:solidFill>
          <a:ln w="12700">
            <a:solidFill>
              <a:srgbClr val="D2C5AE"/>
            </a:solidFill>
            <a:prstDash val="solid"/>
          </a:ln>
        </p:spPr>
      </p:sp>
      <p:sp>
        <p:nvSpPr>
          <p:cNvPr id="14" name="Text 12"/>
          <p:cNvSpPr/>
          <p:nvPr/>
        </p:nvSpPr>
        <p:spPr>
          <a:xfrm>
            <a:off x="7827264" y="1865376"/>
            <a:ext cx="1545336" cy="347472"/>
          </a:xfrm>
          <a:prstGeom prst="rect">
            <a:avLst/>
          </a:prstGeom>
          <a:noFill/>
          <a:ln/>
        </p:spPr>
        <p:txBody>
          <a:bodyPr wrap="square" lIns="0" tIns="0" rIns="0" bIns="0" rtlCol="0" anchor="ctr">
            <a:normAutofit/>
          </a:bodyPr>
          <a:lstStyle/>
          <a:p>
            <a:pPr algn="ctr" indent="0" marL="0">
              <a:buNone/>
            </a:pPr>
            <a:r>
              <a:rPr lang="en-US" sz="1050" b="1" dirty="0">
                <a:solidFill>
                  <a:srgbClr val="173D24"/>
                </a:solidFill>
                <a:latin typeface="Aptos" pitchFamily="34" charset="0"/>
                <a:ea typeface="Aptos" pitchFamily="34" charset="-122"/>
                <a:cs typeface="Aptos" pitchFamily="34" charset="-120"/>
              </a:rPr>
              <a:t>OPPORTUNITY</a:t>
            </a:r>
            <a:endParaRPr lang="en-US" sz="1050" dirty="0"/>
          </a:p>
        </p:txBody>
      </p:sp>
      <p:sp>
        <p:nvSpPr>
          <p:cNvPr id="15" name="Shape 13"/>
          <p:cNvSpPr/>
          <p:nvPr/>
        </p:nvSpPr>
        <p:spPr>
          <a:xfrm>
            <a:off x="9610344" y="1810512"/>
            <a:ext cx="1691640" cy="438912"/>
          </a:xfrm>
          <a:prstGeom prst="roundRect">
            <a:avLst/>
          </a:prstGeom>
          <a:solidFill>
            <a:srgbClr val="E9F2EA"/>
          </a:solidFill>
          <a:ln w="12700">
            <a:solidFill>
              <a:srgbClr val="D2C5AE"/>
            </a:solidFill>
            <a:prstDash val="solid"/>
          </a:ln>
        </p:spPr>
      </p:sp>
      <p:sp>
        <p:nvSpPr>
          <p:cNvPr id="16" name="Text 14"/>
          <p:cNvSpPr/>
          <p:nvPr/>
        </p:nvSpPr>
        <p:spPr>
          <a:xfrm>
            <a:off x="9683496" y="1865376"/>
            <a:ext cx="1545336" cy="347472"/>
          </a:xfrm>
          <a:prstGeom prst="rect">
            <a:avLst/>
          </a:prstGeom>
          <a:noFill/>
          <a:ln/>
        </p:spPr>
        <p:txBody>
          <a:bodyPr wrap="square" lIns="0" tIns="0" rIns="0" bIns="0" rtlCol="0" anchor="ctr">
            <a:normAutofit/>
          </a:bodyPr>
          <a:lstStyle/>
          <a:p>
            <a:pPr algn="ctr" indent="0" marL="0">
              <a:buNone/>
            </a:pPr>
            <a:r>
              <a:rPr lang="en-US" sz="1050" b="1" dirty="0">
                <a:solidFill>
                  <a:srgbClr val="173D24"/>
                </a:solidFill>
                <a:latin typeface="Aptos" pitchFamily="34" charset="0"/>
                <a:ea typeface="Aptos" pitchFamily="34" charset="-122"/>
                <a:cs typeface="Aptos" pitchFamily="34" charset="-120"/>
              </a:rPr>
              <a:t>SUPPORT</a:t>
            </a:r>
            <a:endParaRPr lang="en-US" sz="1050" dirty="0"/>
          </a:p>
        </p:txBody>
      </p:sp>
      <p:sp>
        <p:nvSpPr>
          <p:cNvPr id="17" name="Shape 15"/>
          <p:cNvSpPr/>
          <p:nvPr/>
        </p:nvSpPr>
        <p:spPr>
          <a:xfrm>
            <a:off x="6729984" y="2249424"/>
            <a:ext cx="0" cy="438912"/>
          </a:xfrm>
          <a:prstGeom prst="line">
            <a:avLst/>
          </a:prstGeom>
          <a:noFill/>
          <a:ln w="12700">
            <a:solidFill>
              <a:srgbClr val="C89C3D"/>
            </a:solidFill>
            <a:prstDash val="solid"/>
          </a:ln>
        </p:spPr>
      </p:sp>
      <p:sp>
        <p:nvSpPr>
          <p:cNvPr id="18" name="Shape 16"/>
          <p:cNvSpPr/>
          <p:nvPr/>
        </p:nvSpPr>
        <p:spPr>
          <a:xfrm>
            <a:off x="8586216" y="2249424"/>
            <a:ext cx="0" cy="438912"/>
          </a:xfrm>
          <a:prstGeom prst="line">
            <a:avLst/>
          </a:prstGeom>
          <a:noFill/>
          <a:ln w="12700">
            <a:solidFill>
              <a:srgbClr val="C89C3D"/>
            </a:solidFill>
            <a:prstDash val="solid"/>
          </a:ln>
        </p:spPr>
      </p:sp>
      <p:sp>
        <p:nvSpPr>
          <p:cNvPr id="19" name="Shape 17"/>
          <p:cNvSpPr/>
          <p:nvPr/>
        </p:nvSpPr>
        <p:spPr>
          <a:xfrm>
            <a:off x="10442448" y="2249424"/>
            <a:ext cx="0" cy="438912"/>
          </a:xfrm>
          <a:prstGeom prst="line">
            <a:avLst/>
          </a:prstGeom>
          <a:noFill/>
          <a:ln w="12700">
            <a:solidFill>
              <a:srgbClr val="C89C3D"/>
            </a:solidFill>
            <a:prstDash val="solid"/>
          </a:ln>
        </p:spPr>
      </p:sp>
      <p:sp>
        <p:nvSpPr>
          <p:cNvPr id="20" name="Shape 18"/>
          <p:cNvSpPr/>
          <p:nvPr/>
        </p:nvSpPr>
        <p:spPr>
          <a:xfrm>
            <a:off x="6729984" y="2688336"/>
            <a:ext cx="3712464" cy="0"/>
          </a:xfrm>
          <a:prstGeom prst="line">
            <a:avLst/>
          </a:prstGeom>
          <a:noFill/>
          <a:ln w="12700">
            <a:solidFill>
              <a:srgbClr val="C89C3D"/>
            </a:solidFill>
            <a:prstDash val="solid"/>
          </a:ln>
        </p:spPr>
      </p:sp>
      <p:sp>
        <p:nvSpPr>
          <p:cNvPr id="21" name="Shape 19"/>
          <p:cNvSpPr/>
          <p:nvPr/>
        </p:nvSpPr>
        <p:spPr>
          <a:xfrm>
            <a:off x="8586216" y="2688336"/>
            <a:ext cx="0" cy="402336"/>
          </a:xfrm>
          <a:prstGeom prst="line">
            <a:avLst/>
          </a:prstGeom>
          <a:noFill/>
          <a:ln w="12700">
            <a:solidFill>
              <a:srgbClr val="C89C3D"/>
            </a:solidFill>
            <a:prstDash val="solid"/>
          </a:ln>
        </p:spPr>
      </p:sp>
      <p:sp>
        <p:nvSpPr>
          <p:cNvPr id="22" name="Shape 20"/>
          <p:cNvSpPr/>
          <p:nvPr/>
        </p:nvSpPr>
        <p:spPr>
          <a:xfrm>
            <a:off x="6510528" y="3127248"/>
            <a:ext cx="4160520" cy="1024128"/>
          </a:xfrm>
          <a:prstGeom prst="roundRect">
            <a:avLst/>
          </a:prstGeom>
          <a:solidFill>
            <a:srgbClr val="173D24"/>
          </a:solidFill>
          <a:ln w="12700">
            <a:solidFill>
              <a:srgbClr val="173D24"/>
            </a:solidFill>
            <a:prstDash val="solid"/>
          </a:ln>
        </p:spPr>
      </p:sp>
      <p:sp>
        <p:nvSpPr>
          <p:cNvPr id="23" name="Text 21"/>
          <p:cNvSpPr/>
          <p:nvPr/>
        </p:nvSpPr>
        <p:spPr>
          <a:xfrm>
            <a:off x="6675120" y="3310128"/>
            <a:ext cx="3822192" cy="237744"/>
          </a:xfrm>
          <a:prstGeom prst="rect">
            <a:avLst/>
          </a:prstGeom>
          <a:noFill/>
          <a:ln/>
        </p:spPr>
        <p:txBody>
          <a:bodyPr wrap="square" lIns="508" tIns="508" rIns="508" bIns="508" rtlCol="0" anchor="ctr">
            <a:normAutofit/>
          </a:bodyPr>
          <a:lstStyle/>
          <a:p>
            <a:pPr algn="ctr" indent="0" marL="0">
              <a:buNone/>
            </a:pPr>
            <a:r>
              <a:rPr lang="en-US" sz="1200" b="1" dirty="0">
                <a:solidFill>
                  <a:srgbClr val="C89C3D"/>
                </a:solidFill>
                <a:latin typeface="Aptos" pitchFamily="34" charset="0"/>
                <a:ea typeface="Aptos" pitchFamily="34" charset="-122"/>
                <a:cs typeface="Aptos" pitchFamily="34" charset="-120"/>
              </a:rPr>
              <a:t>INTERNAL PATTERNS</a:t>
            </a:r>
            <a:endParaRPr lang="en-US" sz="1200" dirty="0"/>
          </a:p>
        </p:txBody>
      </p:sp>
      <p:sp>
        <p:nvSpPr>
          <p:cNvPr id="24" name="Text 22"/>
          <p:cNvSpPr/>
          <p:nvPr/>
        </p:nvSpPr>
        <p:spPr>
          <a:xfrm>
            <a:off x="6821424" y="3621024"/>
            <a:ext cx="3529584" cy="438912"/>
          </a:xfrm>
          <a:prstGeom prst="rect">
            <a:avLst/>
          </a:prstGeom>
          <a:noFill/>
          <a:ln/>
        </p:spPr>
        <p:txBody>
          <a:bodyPr wrap="square" lIns="508" tIns="508" rIns="508" bIns="508" rtlCol="0" anchor="ctr">
            <a:normAutofit/>
          </a:bodyPr>
          <a:lstStyle/>
          <a:p>
            <a:pPr algn="ctr" indent="0" marL="0">
              <a:buNone/>
            </a:pPr>
            <a:r>
              <a:rPr lang="en-US" sz="1250" dirty="0">
                <a:solidFill>
                  <a:srgbClr val="FFFFFF"/>
                </a:solidFill>
                <a:latin typeface="Aptos" pitchFamily="34" charset="0"/>
                <a:ea typeface="Aptos" pitchFamily="34" charset="-122"/>
                <a:cs typeface="Aptos" pitchFamily="34" charset="-120"/>
              </a:rPr>
              <a:t>self-talk</a:t>
            </a:r>
            <a:endParaRPr lang="en-US" sz="1250" dirty="0"/>
          </a:p>
          <a:p>
            <a:pPr algn="ctr" indent="0" marL="0">
              <a:buNone/>
            </a:pPr>
            <a:r>
              <a:rPr lang="en-US" sz="1250" dirty="0">
                <a:solidFill>
                  <a:srgbClr val="FFFFFF"/>
                </a:solidFill>
                <a:latin typeface="Aptos" pitchFamily="34" charset="0"/>
                <a:ea typeface="Aptos" pitchFamily="34" charset="-122"/>
                <a:cs typeface="Aptos" pitchFamily="34" charset="-120"/>
              </a:rPr>
              <a:t>stress response</a:t>
            </a:r>
            <a:endParaRPr lang="en-US" sz="1250" dirty="0"/>
          </a:p>
          <a:p>
            <a:pPr algn="ctr" indent="0" marL="0">
              <a:buNone/>
            </a:pPr>
            <a:r>
              <a:rPr lang="en-US" sz="1250" dirty="0">
                <a:solidFill>
                  <a:srgbClr val="FFFFFF"/>
                </a:solidFill>
                <a:latin typeface="Aptos" pitchFamily="34" charset="0"/>
                <a:ea typeface="Aptos" pitchFamily="34" charset="-122"/>
                <a:cs typeface="Aptos" pitchFamily="34" charset="-120"/>
              </a:rPr>
              <a:t>emotional habits</a:t>
            </a:r>
            <a:endParaRPr lang="en-US" sz="1250" dirty="0"/>
          </a:p>
          <a:p>
            <a:pPr algn="ctr" indent="0" marL="0">
              <a:buNone/>
            </a:pPr>
            <a:r>
              <a:rPr lang="en-US" sz="1250" dirty="0">
                <a:solidFill>
                  <a:srgbClr val="FFFFFF"/>
                </a:solidFill>
                <a:latin typeface="Aptos" pitchFamily="34" charset="0"/>
                <a:ea typeface="Aptos" pitchFamily="34" charset="-122"/>
                <a:cs typeface="Aptos" pitchFamily="34" charset="-120"/>
              </a:rPr>
              <a:t>automatic reactions</a:t>
            </a:r>
            <a:endParaRPr lang="en-US" sz="1250" dirty="0"/>
          </a:p>
        </p:txBody>
      </p:sp>
      <p:sp>
        <p:nvSpPr>
          <p:cNvPr id="25" name="Shape 23"/>
          <p:cNvSpPr/>
          <p:nvPr/>
        </p:nvSpPr>
        <p:spPr>
          <a:xfrm>
            <a:off x="6272784" y="4443984"/>
            <a:ext cx="4626864" cy="804672"/>
          </a:xfrm>
          <a:prstGeom prst="roundRect">
            <a:avLst/>
          </a:prstGeom>
          <a:solidFill>
            <a:srgbClr val="C89C3D"/>
          </a:solidFill>
          <a:ln w="12700">
            <a:solidFill>
              <a:srgbClr val="C89C3D"/>
            </a:solidFill>
            <a:prstDash val="solid"/>
          </a:ln>
        </p:spPr>
      </p:sp>
      <p:sp>
        <p:nvSpPr>
          <p:cNvPr id="26" name="Text 24"/>
          <p:cNvSpPr/>
          <p:nvPr/>
        </p:nvSpPr>
        <p:spPr>
          <a:xfrm>
            <a:off x="6473952" y="4663440"/>
            <a:ext cx="4224528" cy="201168"/>
          </a:xfrm>
          <a:prstGeom prst="rect">
            <a:avLst/>
          </a:prstGeom>
          <a:noFill/>
          <a:ln/>
        </p:spPr>
        <p:txBody>
          <a:bodyPr wrap="square" lIns="0" tIns="0" rIns="0" bIns="0" rtlCol="0" anchor="ctr">
            <a:normAutofit/>
          </a:bodyPr>
          <a:lstStyle/>
          <a:p>
            <a:pPr algn="ctr" indent="0" marL="0">
              <a:buNone/>
            </a:pPr>
            <a:r>
              <a:rPr lang="en-US" sz="1700" b="1" dirty="0">
                <a:solidFill>
                  <a:srgbClr val="173D24"/>
                </a:solidFill>
                <a:latin typeface="Georgia" pitchFamily="34" charset="0"/>
                <a:ea typeface="Georgia" pitchFamily="34" charset="-122"/>
                <a:cs typeface="Georgia" pitchFamily="34" charset="-120"/>
              </a:rPr>
              <a:t>Under pressure, these patterns often take over first.</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0E6"/>
        </a:solidFill>
      </p:bgPr>
    </p:bg>
    <p:spTree>
      <p:nvGrpSpPr>
        <p:cNvPr id="1" name=""/>
        <p:cNvGrpSpPr/>
        <p:nvPr/>
      </p:nvGrpSpPr>
      <p:grpSpPr>
        <a:xfrm>
          <a:off x="0" y="0"/>
          <a:ext cx="0" cy="0"/>
          <a:chOff x="0" y="0"/>
          <a:chExt cx="0" cy="0"/>
        </a:xfrm>
      </p:grpSpPr>
      <p:sp>
        <p:nvSpPr>
          <p:cNvPr id="2" name="Shape 0"/>
          <p:cNvSpPr/>
          <p:nvPr/>
        </p:nvSpPr>
        <p:spPr>
          <a:xfrm>
            <a:off x="0" y="0"/>
            <a:ext cx="12191695" cy="713232"/>
          </a:xfrm>
          <a:prstGeom prst="rect">
            <a:avLst/>
          </a:prstGeom>
          <a:solidFill>
            <a:srgbClr val="173D24"/>
          </a:solidFill>
          <a:ln w="12700">
            <a:solidFill>
              <a:srgbClr val="173D24"/>
            </a:solidFill>
            <a:prstDash val="solid"/>
          </a:ln>
        </p:spPr>
      </p:sp>
      <p:sp>
        <p:nvSpPr>
          <p:cNvPr id="3" name="Text 1"/>
          <p:cNvSpPr/>
          <p:nvPr/>
        </p:nvSpPr>
        <p:spPr>
          <a:xfrm>
            <a:off x="475488" y="146304"/>
            <a:ext cx="1828800" cy="146304"/>
          </a:xfrm>
          <a:prstGeom prst="rect">
            <a:avLst/>
          </a:prstGeom>
          <a:noFill/>
          <a:ln/>
        </p:spPr>
        <p:txBody>
          <a:bodyPr wrap="square" lIns="0" tIns="0" rIns="0" bIns="0" rtlCol="0" anchor="ctr">
            <a:normAutofit/>
          </a:bodyPr>
          <a:lstStyle/>
          <a:p>
            <a:pPr indent="0" marL="0">
              <a:buNone/>
            </a:pPr>
            <a:r>
              <a:rPr lang="en-US" sz="900" b="1" dirty="0">
                <a:solidFill>
                  <a:srgbClr val="C89C3D"/>
                </a:solidFill>
                <a:latin typeface="Aptos" pitchFamily="34" charset="0"/>
                <a:ea typeface="Aptos" pitchFamily="34" charset="-122"/>
                <a:cs typeface="Aptos" pitchFamily="34" charset="-120"/>
              </a:rPr>
              <a:t>SLIDE 3 OF 17</a:t>
            </a:r>
            <a:endParaRPr lang="en-US" sz="900" dirty="0"/>
          </a:p>
        </p:txBody>
      </p:sp>
      <p:sp>
        <p:nvSpPr>
          <p:cNvPr id="4" name="Text 2"/>
          <p:cNvSpPr/>
          <p:nvPr/>
        </p:nvSpPr>
        <p:spPr>
          <a:xfrm>
            <a:off x="475488" y="283464"/>
            <a:ext cx="8138160" cy="237744"/>
          </a:xfrm>
          <a:prstGeom prst="rect">
            <a:avLst/>
          </a:prstGeom>
          <a:noFill/>
          <a:ln/>
        </p:spPr>
        <p:txBody>
          <a:bodyPr wrap="square" lIns="0" tIns="0" rIns="0" bIns="0" rtlCol="0" anchor="ctr">
            <a:normAutofit/>
          </a:bodyPr>
          <a:lstStyle/>
          <a:p>
            <a:pPr indent="0" marL="0">
              <a:buNone/>
            </a:pPr>
            <a:r>
              <a:rPr lang="en-US" sz="2200" b="1" dirty="0">
                <a:solidFill>
                  <a:srgbClr val="FFFFFF"/>
                </a:solidFill>
                <a:latin typeface="Georgia" pitchFamily="34" charset="0"/>
                <a:ea typeface="Georgia" pitchFamily="34" charset="-122"/>
                <a:cs typeface="Georgia" pitchFamily="34" charset="-120"/>
              </a:rPr>
              <a:t>The real limitation is often invisible.</a:t>
            </a:r>
            <a:endParaRPr lang="en-US" sz="2200" dirty="0"/>
          </a:p>
        </p:txBody>
      </p:sp>
      <p:sp>
        <p:nvSpPr>
          <p:cNvPr id="5" name="Text 3"/>
          <p:cNvSpPr/>
          <p:nvPr/>
        </p:nvSpPr>
        <p:spPr>
          <a:xfrm>
            <a:off x="9006840" y="173736"/>
            <a:ext cx="2697480" cy="146304"/>
          </a:xfrm>
          <a:prstGeom prst="rect">
            <a:avLst/>
          </a:prstGeom>
          <a:noFill/>
          <a:ln/>
        </p:spPr>
        <p:txBody>
          <a:bodyPr wrap="square" lIns="0" tIns="0" rIns="0" bIns="0" rtlCol="0" anchor="ctr">
            <a:normAutofit/>
          </a:bodyPr>
          <a:lstStyle/>
          <a:p>
            <a:pPr algn="r" indent="0" marL="0">
              <a:buNone/>
            </a:pPr>
            <a:r>
              <a:rPr lang="en-US" sz="900" b="1" dirty="0">
                <a:solidFill>
                  <a:srgbClr val="F6F0E6"/>
                </a:solidFill>
                <a:latin typeface="Aptos" pitchFamily="34" charset="0"/>
                <a:ea typeface="Aptos" pitchFamily="34" charset="-122"/>
                <a:cs typeface="Aptos" pitchFamily="34" charset="-120"/>
              </a:rPr>
              <a:t>SEE IT CLEARLY</a:t>
            </a:r>
            <a:endParaRPr lang="en-US" sz="900" dirty="0"/>
          </a:p>
        </p:txBody>
      </p:sp>
      <p:sp>
        <p:nvSpPr>
          <p:cNvPr id="6" name="Shape 4"/>
          <p:cNvSpPr/>
          <p:nvPr/>
        </p:nvSpPr>
        <p:spPr>
          <a:xfrm>
            <a:off x="475488" y="932688"/>
            <a:ext cx="64008" cy="694944"/>
          </a:xfrm>
          <a:prstGeom prst="rect">
            <a:avLst/>
          </a:prstGeom>
          <a:solidFill>
            <a:srgbClr val="C89C3D"/>
          </a:solidFill>
          <a:ln w="12700">
            <a:solidFill>
              <a:srgbClr val="C89C3D"/>
            </a:solidFill>
            <a:prstDash val="solid"/>
          </a:ln>
        </p:spPr>
      </p:sp>
      <p:sp>
        <p:nvSpPr>
          <p:cNvPr id="7" name="Text 5"/>
          <p:cNvSpPr/>
          <p:nvPr/>
        </p:nvSpPr>
        <p:spPr>
          <a:xfrm>
            <a:off x="658368" y="960120"/>
            <a:ext cx="11064240" cy="585216"/>
          </a:xfrm>
          <a:prstGeom prst="rect">
            <a:avLst/>
          </a:prstGeom>
          <a:noFill/>
          <a:ln/>
        </p:spPr>
        <p:txBody>
          <a:bodyPr wrap="square" lIns="0" tIns="0" rIns="0" bIns="0" rtlCol="0" anchor="ctr">
            <a:normAutofit/>
          </a:bodyPr>
          <a:lstStyle/>
          <a:p>
            <a:pPr indent="0" marL="0">
              <a:buNone/>
            </a:pPr>
            <a:r>
              <a:rPr lang="en-US" sz="2400" b="1" dirty="0">
                <a:solidFill>
                  <a:srgbClr val="173D24"/>
                </a:solidFill>
                <a:latin typeface="Georgia" pitchFamily="34" charset="0"/>
                <a:ea typeface="Georgia" pitchFamily="34" charset="-122"/>
                <a:cs typeface="Georgia" pitchFamily="34" charset="-120"/>
              </a:rPr>
              <a:t>What holds a child back is often not what adults assume.</a:t>
            </a:r>
            <a:endParaRPr lang="en-US" sz="2400" dirty="0"/>
          </a:p>
        </p:txBody>
      </p:sp>
      <p:sp>
        <p:nvSpPr>
          <p:cNvPr id="8" name="Shape 6"/>
          <p:cNvSpPr/>
          <p:nvPr/>
        </p:nvSpPr>
        <p:spPr>
          <a:xfrm>
            <a:off x="658368" y="1755648"/>
            <a:ext cx="2743200" cy="3611880"/>
          </a:xfrm>
          <a:prstGeom prst="roundRect">
            <a:avLst/>
          </a:prstGeom>
          <a:solidFill>
            <a:srgbClr val="FFFFFF"/>
          </a:solidFill>
          <a:ln w="12700">
            <a:solidFill>
              <a:srgbClr val="D2C5AE"/>
            </a:solidFill>
            <a:prstDash val="solid"/>
          </a:ln>
        </p:spPr>
      </p:sp>
      <p:sp>
        <p:nvSpPr>
          <p:cNvPr id="9" name="Text 7"/>
          <p:cNvSpPr/>
          <p:nvPr/>
        </p:nvSpPr>
        <p:spPr>
          <a:xfrm>
            <a:off x="841248" y="1956816"/>
            <a:ext cx="2377440" cy="219456"/>
          </a:xfrm>
          <a:prstGeom prst="rect">
            <a:avLst/>
          </a:prstGeom>
          <a:noFill/>
          <a:ln/>
        </p:spPr>
        <p:txBody>
          <a:bodyPr wrap="square" lIns="508" tIns="508" rIns="508" bIns="508" rtlCol="0" anchor="ctr">
            <a:normAutofit/>
          </a:bodyPr>
          <a:lstStyle/>
          <a:p>
            <a:pPr indent="0" marL="0">
              <a:buNone/>
            </a:pPr>
            <a:r>
              <a:rPr lang="en-US" sz="1800" b="1" dirty="0">
                <a:solidFill>
                  <a:srgbClr val="173D24"/>
                </a:solidFill>
                <a:latin typeface="Georgia" pitchFamily="34" charset="0"/>
                <a:ea typeface="Georgia" pitchFamily="34" charset="-122"/>
                <a:cs typeface="Georgia" pitchFamily="34" charset="-120"/>
              </a:rPr>
              <a:t>What it is not</a:t>
            </a:r>
            <a:endParaRPr lang="en-US" sz="1800" dirty="0"/>
          </a:p>
        </p:txBody>
      </p:sp>
      <p:sp>
        <p:nvSpPr>
          <p:cNvPr id="10" name="Shape 8"/>
          <p:cNvSpPr/>
          <p:nvPr/>
        </p:nvSpPr>
        <p:spPr>
          <a:xfrm>
            <a:off x="877824" y="2395728"/>
            <a:ext cx="2286000" cy="621792"/>
          </a:xfrm>
          <a:prstGeom prst="roundRect">
            <a:avLst/>
          </a:prstGeom>
          <a:solidFill>
            <a:srgbClr val="E9F2EA"/>
          </a:solidFill>
          <a:ln w="12700">
            <a:solidFill>
              <a:srgbClr val="D2C5AE"/>
            </a:solidFill>
            <a:prstDash val="solid"/>
          </a:ln>
        </p:spPr>
      </p:sp>
      <p:sp>
        <p:nvSpPr>
          <p:cNvPr id="11" name="Text 9"/>
          <p:cNvSpPr/>
          <p:nvPr/>
        </p:nvSpPr>
        <p:spPr>
          <a:xfrm>
            <a:off x="1024128" y="2596896"/>
            <a:ext cx="1956816" cy="164592"/>
          </a:xfrm>
          <a:prstGeom prst="rect">
            <a:avLst/>
          </a:prstGeom>
          <a:noFill/>
          <a:ln/>
        </p:spPr>
        <p:txBody>
          <a:bodyPr wrap="square" lIns="508" tIns="508" rIns="508" bIns="508" rtlCol="0" anchor="ctr">
            <a:normAutofit/>
          </a:bodyPr>
          <a:lstStyle/>
          <a:p>
            <a:pPr algn="ctr" indent="0" marL="0">
              <a:buNone/>
            </a:pPr>
            <a:r>
              <a:rPr lang="en-US" sz="1300" b="1" dirty="0">
                <a:solidFill>
                  <a:srgbClr val="173D24"/>
                </a:solidFill>
                <a:latin typeface="Aptos" pitchFamily="34" charset="0"/>
                <a:ea typeface="Aptos" pitchFamily="34" charset="-122"/>
                <a:cs typeface="Aptos" pitchFamily="34" charset="-120"/>
              </a:rPr>
              <a:t>Lack of intelligence</a:t>
            </a:r>
            <a:endParaRPr lang="en-US" sz="1300" dirty="0"/>
          </a:p>
        </p:txBody>
      </p:sp>
      <p:sp>
        <p:nvSpPr>
          <p:cNvPr id="12" name="Shape 10"/>
          <p:cNvSpPr/>
          <p:nvPr/>
        </p:nvSpPr>
        <p:spPr>
          <a:xfrm>
            <a:off x="877824" y="3291840"/>
            <a:ext cx="2286000" cy="621792"/>
          </a:xfrm>
          <a:prstGeom prst="roundRect">
            <a:avLst/>
          </a:prstGeom>
          <a:solidFill>
            <a:srgbClr val="E9F2EA"/>
          </a:solidFill>
          <a:ln w="12700">
            <a:solidFill>
              <a:srgbClr val="D2C5AE"/>
            </a:solidFill>
            <a:prstDash val="solid"/>
          </a:ln>
        </p:spPr>
      </p:sp>
      <p:sp>
        <p:nvSpPr>
          <p:cNvPr id="13" name="Text 11"/>
          <p:cNvSpPr/>
          <p:nvPr/>
        </p:nvSpPr>
        <p:spPr>
          <a:xfrm>
            <a:off x="1024128" y="3493008"/>
            <a:ext cx="1956816" cy="164592"/>
          </a:xfrm>
          <a:prstGeom prst="rect">
            <a:avLst/>
          </a:prstGeom>
          <a:noFill/>
          <a:ln/>
        </p:spPr>
        <p:txBody>
          <a:bodyPr wrap="square" lIns="508" tIns="508" rIns="508" bIns="508" rtlCol="0" anchor="ctr">
            <a:normAutofit/>
          </a:bodyPr>
          <a:lstStyle/>
          <a:p>
            <a:pPr algn="ctr" indent="0" marL="0">
              <a:buNone/>
            </a:pPr>
            <a:r>
              <a:rPr lang="en-US" sz="1300" b="1" dirty="0">
                <a:solidFill>
                  <a:srgbClr val="173D24"/>
                </a:solidFill>
                <a:latin typeface="Aptos" pitchFamily="34" charset="0"/>
                <a:ea typeface="Aptos" pitchFamily="34" charset="-122"/>
                <a:cs typeface="Aptos" pitchFamily="34" charset="-120"/>
              </a:rPr>
              <a:t>Lack of opportunity</a:t>
            </a:r>
            <a:endParaRPr lang="en-US" sz="1300" dirty="0"/>
          </a:p>
        </p:txBody>
      </p:sp>
      <p:sp>
        <p:nvSpPr>
          <p:cNvPr id="14" name="Shape 12"/>
          <p:cNvSpPr/>
          <p:nvPr/>
        </p:nvSpPr>
        <p:spPr>
          <a:xfrm>
            <a:off x="877824" y="4187952"/>
            <a:ext cx="2286000" cy="621792"/>
          </a:xfrm>
          <a:prstGeom prst="roundRect">
            <a:avLst/>
          </a:prstGeom>
          <a:solidFill>
            <a:srgbClr val="E9F2EA"/>
          </a:solidFill>
          <a:ln w="12700">
            <a:solidFill>
              <a:srgbClr val="D2C5AE"/>
            </a:solidFill>
            <a:prstDash val="solid"/>
          </a:ln>
        </p:spPr>
      </p:sp>
      <p:sp>
        <p:nvSpPr>
          <p:cNvPr id="15" name="Text 13"/>
          <p:cNvSpPr/>
          <p:nvPr/>
        </p:nvSpPr>
        <p:spPr>
          <a:xfrm>
            <a:off x="1024128" y="4389120"/>
            <a:ext cx="1956816" cy="164592"/>
          </a:xfrm>
          <a:prstGeom prst="rect">
            <a:avLst/>
          </a:prstGeom>
          <a:noFill/>
          <a:ln/>
        </p:spPr>
        <p:txBody>
          <a:bodyPr wrap="square" lIns="508" tIns="508" rIns="508" bIns="508" rtlCol="0" anchor="ctr">
            <a:normAutofit/>
          </a:bodyPr>
          <a:lstStyle/>
          <a:p>
            <a:pPr algn="ctr" indent="0" marL="0">
              <a:buNone/>
            </a:pPr>
            <a:r>
              <a:rPr lang="en-US" sz="1300" b="1" dirty="0">
                <a:solidFill>
                  <a:srgbClr val="173D24"/>
                </a:solidFill>
                <a:latin typeface="Aptos" pitchFamily="34" charset="0"/>
                <a:ea typeface="Aptos" pitchFamily="34" charset="-122"/>
                <a:cs typeface="Aptos" pitchFamily="34" charset="-120"/>
              </a:rPr>
              <a:t>Lack of resources</a:t>
            </a:r>
            <a:endParaRPr lang="en-US" sz="1300" dirty="0"/>
          </a:p>
        </p:txBody>
      </p:sp>
      <p:sp>
        <p:nvSpPr>
          <p:cNvPr id="16" name="Shape 14"/>
          <p:cNvSpPr/>
          <p:nvPr/>
        </p:nvSpPr>
        <p:spPr>
          <a:xfrm>
            <a:off x="3703320" y="1755648"/>
            <a:ext cx="7818120" cy="3611880"/>
          </a:xfrm>
          <a:prstGeom prst="roundRect">
            <a:avLst/>
          </a:prstGeom>
          <a:solidFill>
            <a:srgbClr val="173D24"/>
          </a:solidFill>
          <a:ln w="12700">
            <a:solidFill>
              <a:srgbClr val="173D24"/>
            </a:solidFill>
            <a:prstDash val="solid"/>
          </a:ln>
        </p:spPr>
      </p:sp>
      <p:sp>
        <p:nvSpPr>
          <p:cNvPr id="17" name="Text 15"/>
          <p:cNvSpPr/>
          <p:nvPr/>
        </p:nvSpPr>
        <p:spPr>
          <a:xfrm>
            <a:off x="3931920" y="1956816"/>
            <a:ext cx="3749040" cy="219456"/>
          </a:xfrm>
          <a:prstGeom prst="rect">
            <a:avLst/>
          </a:prstGeom>
          <a:noFill/>
          <a:ln/>
        </p:spPr>
        <p:txBody>
          <a:bodyPr wrap="square" lIns="508" tIns="508" rIns="508" bIns="508" rtlCol="0" anchor="ctr">
            <a:normAutofit/>
          </a:bodyPr>
          <a:lstStyle/>
          <a:p>
            <a:pPr indent="0" marL="0">
              <a:buNone/>
            </a:pPr>
            <a:r>
              <a:rPr lang="en-US" sz="1800" b="1" dirty="0">
                <a:solidFill>
                  <a:srgbClr val="C89C3D"/>
                </a:solidFill>
                <a:latin typeface="Georgia" pitchFamily="34" charset="0"/>
                <a:ea typeface="Georgia" pitchFamily="34" charset="-122"/>
                <a:cs typeface="Georgia" pitchFamily="34" charset="-120"/>
              </a:rPr>
              <a:t>What takes over under stress</a:t>
            </a:r>
            <a:endParaRPr lang="en-US" sz="1800" dirty="0"/>
          </a:p>
        </p:txBody>
      </p:sp>
      <p:sp>
        <p:nvSpPr>
          <p:cNvPr id="18" name="Shape 16"/>
          <p:cNvSpPr/>
          <p:nvPr/>
        </p:nvSpPr>
        <p:spPr>
          <a:xfrm>
            <a:off x="3931920" y="2395728"/>
            <a:ext cx="3246120" cy="566928"/>
          </a:xfrm>
          <a:prstGeom prst="roundRect">
            <a:avLst/>
          </a:prstGeom>
          <a:solidFill>
            <a:srgbClr val="234B30"/>
          </a:solidFill>
          <a:ln w="12700">
            <a:solidFill>
              <a:srgbClr val="2D5A3B"/>
            </a:solidFill>
            <a:prstDash val="solid"/>
          </a:ln>
        </p:spPr>
      </p:sp>
      <p:sp>
        <p:nvSpPr>
          <p:cNvPr id="19" name="Text 17"/>
          <p:cNvSpPr/>
          <p:nvPr/>
        </p:nvSpPr>
        <p:spPr>
          <a:xfrm>
            <a:off x="4096512" y="2578608"/>
            <a:ext cx="2907792" cy="146304"/>
          </a:xfrm>
          <a:prstGeom prst="rect">
            <a:avLst/>
          </a:prstGeom>
          <a:noFill/>
          <a:ln/>
        </p:spPr>
        <p:txBody>
          <a:bodyPr wrap="square" lIns="508" tIns="508" rIns="508" bIns="508" rtlCol="0" anchor="ctr">
            <a:normAutofit/>
          </a:bodyPr>
          <a:lstStyle/>
          <a:p>
            <a:pPr indent="0" marL="0">
              <a:buNone/>
            </a:pPr>
            <a:r>
              <a:rPr lang="en-US" sz="1250" b="1" dirty="0">
                <a:solidFill>
                  <a:srgbClr val="FFFFFF"/>
                </a:solidFill>
                <a:latin typeface="Aptos" pitchFamily="34" charset="0"/>
                <a:ea typeface="Aptos" pitchFamily="34" charset="-122"/>
                <a:cs typeface="Aptos" pitchFamily="34" charset="-120"/>
              </a:rPr>
              <a:t>Repeated thought patterns</a:t>
            </a:r>
            <a:endParaRPr lang="en-US" sz="1250" dirty="0"/>
          </a:p>
        </p:txBody>
      </p:sp>
      <p:sp>
        <p:nvSpPr>
          <p:cNvPr id="20" name="Shape 18"/>
          <p:cNvSpPr/>
          <p:nvPr/>
        </p:nvSpPr>
        <p:spPr>
          <a:xfrm>
            <a:off x="7635240" y="2395728"/>
            <a:ext cx="3246120" cy="566928"/>
          </a:xfrm>
          <a:prstGeom prst="roundRect">
            <a:avLst/>
          </a:prstGeom>
          <a:solidFill>
            <a:srgbClr val="234B30"/>
          </a:solidFill>
          <a:ln w="12700">
            <a:solidFill>
              <a:srgbClr val="2D5A3B"/>
            </a:solidFill>
            <a:prstDash val="solid"/>
          </a:ln>
        </p:spPr>
      </p:sp>
      <p:sp>
        <p:nvSpPr>
          <p:cNvPr id="21" name="Text 19"/>
          <p:cNvSpPr/>
          <p:nvPr/>
        </p:nvSpPr>
        <p:spPr>
          <a:xfrm>
            <a:off x="7799832" y="2578608"/>
            <a:ext cx="2907792" cy="146304"/>
          </a:xfrm>
          <a:prstGeom prst="rect">
            <a:avLst/>
          </a:prstGeom>
          <a:noFill/>
          <a:ln/>
        </p:spPr>
        <p:txBody>
          <a:bodyPr wrap="square" lIns="508" tIns="508" rIns="508" bIns="508" rtlCol="0" anchor="ctr">
            <a:normAutofit/>
          </a:bodyPr>
          <a:lstStyle/>
          <a:p>
            <a:pPr indent="0" marL="0">
              <a:buNone/>
            </a:pPr>
            <a:r>
              <a:rPr lang="en-US" sz="1250" b="1" dirty="0">
                <a:solidFill>
                  <a:srgbClr val="FFFFFF"/>
                </a:solidFill>
                <a:latin typeface="Aptos" pitchFamily="34" charset="0"/>
                <a:ea typeface="Aptos" pitchFamily="34" charset="-122"/>
                <a:cs typeface="Aptos" pitchFamily="34" charset="-120"/>
              </a:rPr>
              <a:t>Emotional habits</a:t>
            </a:r>
            <a:endParaRPr lang="en-US" sz="1250" dirty="0"/>
          </a:p>
        </p:txBody>
      </p:sp>
      <p:sp>
        <p:nvSpPr>
          <p:cNvPr id="22" name="Shape 20"/>
          <p:cNvSpPr/>
          <p:nvPr/>
        </p:nvSpPr>
        <p:spPr>
          <a:xfrm>
            <a:off x="3931920" y="3218688"/>
            <a:ext cx="3246120" cy="566928"/>
          </a:xfrm>
          <a:prstGeom prst="roundRect">
            <a:avLst/>
          </a:prstGeom>
          <a:solidFill>
            <a:srgbClr val="234B30"/>
          </a:solidFill>
          <a:ln w="12700">
            <a:solidFill>
              <a:srgbClr val="2D5A3B"/>
            </a:solidFill>
            <a:prstDash val="solid"/>
          </a:ln>
        </p:spPr>
      </p:sp>
      <p:sp>
        <p:nvSpPr>
          <p:cNvPr id="23" name="Text 21"/>
          <p:cNvSpPr/>
          <p:nvPr/>
        </p:nvSpPr>
        <p:spPr>
          <a:xfrm>
            <a:off x="4096512" y="3401568"/>
            <a:ext cx="2907792" cy="146304"/>
          </a:xfrm>
          <a:prstGeom prst="rect">
            <a:avLst/>
          </a:prstGeom>
          <a:noFill/>
          <a:ln/>
        </p:spPr>
        <p:txBody>
          <a:bodyPr wrap="square" lIns="508" tIns="508" rIns="508" bIns="508" rtlCol="0" anchor="ctr">
            <a:normAutofit/>
          </a:bodyPr>
          <a:lstStyle/>
          <a:p>
            <a:pPr indent="0" marL="0">
              <a:buNone/>
            </a:pPr>
            <a:r>
              <a:rPr lang="en-US" sz="1250" b="1" dirty="0">
                <a:solidFill>
                  <a:srgbClr val="FFFFFF"/>
                </a:solidFill>
                <a:latin typeface="Aptos" pitchFamily="34" charset="0"/>
                <a:ea typeface="Aptos" pitchFamily="34" charset="-122"/>
                <a:cs typeface="Aptos" pitchFamily="34" charset="-120"/>
              </a:rPr>
              <a:t>Automatic reactions</a:t>
            </a:r>
            <a:endParaRPr lang="en-US" sz="1250" dirty="0"/>
          </a:p>
        </p:txBody>
      </p:sp>
      <p:sp>
        <p:nvSpPr>
          <p:cNvPr id="24" name="Shape 22"/>
          <p:cNvSpPr/>
          <p:nvPr/>
        </p:nvSpPr>
        <p:spPr>
          <a:xfrm>
            <a:off x="7635240" y="3218688"/>
            <a:ext cx="3246120" cy="566928"/>
          </a:xfrm>
          <a:prstGeom prst="roundRect">
            <a:avLst/>
          </a:prstGeom>
          <a:solidFill>
            <a:srgbClr val="234B30"/>
          </a:solidFill>
          <a:ln w="12700">
            <a:solidFill>
              <a:srgbClr val="2D5A3B"/>
            </a:solidFill>
            <a:prstDash val="solid"/>
          </a:ln>
        </p:spPr>
      </p:sp>
      <p:sp>
        <p:nvSpPr>
          <p:cNvPr id="25" name="Text 23"/>
          <p:cNvSpPr/>
          <p:nvPr/>
        </p:nvSpPr>
        <p:spPr>
          <a:xfrm>
            <a:off x="7799832" y="3401568"/>
            <a:ext cx="2907792" cy="146304"/>
          </a:xfrm>
          <a:prstGeom prst="rect">
            <a:avLst/>
          </a:prstGeom>
          <a:noFill/>
          <a:ln/>
        </p:spPr>
        <p:txBody>
          <a:bodyPr wrap="square" lIns="508" tIns="508" rIns="508" bIns="508" rtlCol="0" anchor="ctr">
            <a:normAutofit/>
          </a:bodyPr>
          <a:lstStyle/>
          <a:p>
            <a:pPr indent="0" marL="0">
              <a:buNone/>
            </a:pPr>
            <a:r>
              <a:rPr lang="en-US" sz="1250" b="1" dirty="0">
                <a:solidFill>
                  <a:srgbClr val="FFFFFF"/>
                </a:solidFill>
                <a:latin typeface="Aptos" pitchFamily="34" charset="0"/>
                <a:ea typeface="Aptos" pitchFamily="34" charset="-122"/>
                <a:cs typeface="Aptos" pitchFamily="34" charset="-120"/>
              </a:rPr>
              <a:t>Fear of failure</a:t>
            </a:r>
            <a:endParaRPr lang="en-US" sz="1250" dirty="0"/>
          </a:p>
        </p:txBody>
      </p:sp>
      <p:sp>
        <p:nvSpPr>
          <p:cNvPr id="26" name="Shape 24"/>
          <p:cNvSpPr/>
          <p:nvPr/>
        </p:nvSpPr>
        <p:spPr>
          <a:xfrm>
            <a:off x="3931920" y="4041648"/>
            <a:ext cx="3246120" cy="566928"/>
          </a:xfrm>
          <a:prstGeom prst="roundRect">
            <a:avLst/>
          </a:prstGeom>
          <a:solidFill>
            <a:srgbClr val="234B30"/>
          </a:solidFill>
          <a:ln w="12700">
            <a:solidFill>
              <a:srgbClr val="2D5A3B"/>
            </a:solidFill>
            <a:prstDash val="solid"/>
          </a:ln>
        </p:spPr>
      </p:sp>
      <p:sp>
        <p:nvSpPr>
          <p:cNvPr id="27" name="Text 25"/>
          <p:cNvSpPr/>
          <p:nvPr/>
        </p:nvSpPr>
        <p:spPr>
          <a:xfrm>
            <a:off x="4096512" y="4224528"/>
            <a:ext cx="2907792" cy="146304"/>
          </a:xfrm>
          <a:prstGeom prst="rect">
            <a:avLst/>
          </a:prstGeom>
          <a:noFill/>
          <a:ln/>
        </p:spPr>
        <p:txBody>
          <a:bodyPr wrap="square" lIns="508" tIns="508" rIns="508" bIns="508" rtlCol="0" anchor="ctr">
            <a:normAutofit/>
          </a:bodyPr>
          <a:lstStyle/>
          <a:p>
            <a:pPr indent="0" marL="0">
              <a:buNone/>
            </a:pPr>
            <a:r>
              <a:rPr lang="en-US" sz="1250" b="1" dirty="0">
                <a:solidFill>
                  <a:srgbClr val="FFFFFF"/>
                </a:solidFill>
                <a:latin typeface="Aptos" pitchFamily="34" charset="0"/>
                <a:ea typeface="Aptos" pitchFamily="34" charset="-122"/>
                <a:cs typeface="Aptos" pitchFamily="34" charset="-120"/>
              </a:rPr>
              <a:t>Harsh self-talk</a:t>
            </a:r>
            <a:endParaRPr lang="en-US" sz="1250" dirty="0"/>
          </a:p>
        </p:txBody>
      </p:sp>
      <p:sp>
        <p:nvSpPr>
          <p:cNvPr id="28" name="Shape 26"/>
          <p:cNvSpPr/>
          <p:nvPr/>
        </p:nvSpPr>
        <p:spPr>
          <a:xfrm>
            <a:off x="7635240" y="4041648"/>
            <a:ext cx="3246120" cy="566928"/>
          </a:xfrm>
          <a:prstGeom prst="roundRect">
            <a:avLst/>
          </a:prstGeom>
          <a:solidFill>
            <a:srgbClr val="234B30"/>
          </a:solidFill>
          <a:ln w="12700">
            <a:solidFill>
              <a:srgbClr val="2D5A3B"/>
            </a:solidFill>
            <a:prstDash val="solid"/>
          </a:ln>
        </p:spPr>
      </p:sp>
      <p:sp>
        <p:nvSpPr>
          <p:cNvPr id="29" name="Text 27"/>
          <p:cNvSpPr/>
          <p:nvPr/>
        </p:nvSpPr>
        <p:spPr>
          <a:xfrm>
            <a:off x="7799832" y="4224528"/>
            <a:ext cx="2907792" cy="146304"/>
          </a:xfrm>
          <a:prstGeom prst="rect">
            <a:avLst/>
          </a:prstGeom>
          <a:noFill/>
          <a:ln/>
        </p:spPr>
        <p:txBody>
          <a:bodyPr wrap="square" lIns="508" tIns="508" rIns="508" bIns="508" rtlCol="0" anchor="ctr">
            <a:normAutofit/>
          </a:bodyPr>
          <a:lstStyle/>
          <a:p>
            <a:pPr indent="0" marL="0">
              <a:buNone/>
            </a:pPr>
            <a:r>
              <a:rPr lang="en-US" sz="1250" b="1" dirty="0">
                <a:solidFill>
                  <a:srgbClr val="FFFFFF"/>
                </a:solidFill>
                <a:latin typeface="Aptos" pitchFamily="34" charset="0"/>
                <a:ea typeface="Aptos" pitchFamily="34" charset="-122"/>
                <a:cs typeface="Aptos" pitchFamily="34" charset="-120"/>
              </a:rPr>
              <a:t>Shutdown under pressure</a:t>
            </a:r>
            <a:endParaRPr lang="en-US" sz="1250" dirty="0"/>
          </a:p>
        </p:txBody>
      </p:sp>
      <p:sp>
        <p:nvSpPr>
          <p:cNvPr id="30" name="Shape 28"/>
          <p:cNvSpPr/>
          <p:nvPr/>
        </p:nvSpPr>
        <p:spPr>
          <a:xfrm>
            <a:off x="658368" y="5541264"/>
            <a:ext cx="10881360" cy="603504"/>
          </a:xfrm>
          <a:prstGeom prst="roundRect">
            <a:avLst/>
          </a:prstGeom>
          <a:solidFill>
            <a:srgbClr val="FFFFFF"/>
          </a:solidFill>
          <a:ln w="12700">
            <a:solidFill>
              <a:srgbClr val="C89C3D"/>
            </a:solidFill>
            <a:prstDash val="solid"/>
          </a:ln>
        </p:spPr>
      </p:sp>
      <p:sp>
        <p:nvSpPr>
          <p:cNvPr id="31" name="Text 29"/>
          <p:cNvSpPr/>
          <p:nvPr/>
        </p:nvSpPr>
        <p:spPr>
          <a:xfrm>
            <a:off x="859536" y="5705856"/>
            <a:ext cx="10469880" cy="182880"/>
          </a:xfrm>
          <a:prstGeom prst="rect">
            <a:avLst/>
          </a:prstGeom>
          <a:noFill/>
          <a:ln/>
        </p:spPr>
        <p:txBody>
          <a:bodyPr wrap="square" lIns="508" tIns="508" rIns="508" bIns="508" rtlCol="0" anchor="ctr">
            <a:normAutofit/>
          </a:bodyPr>
          <a:lstStyle/>
          <a:p>
            <a:pPr algn="ctr" indent="0" marL="0">
              <a:buNone/>
            </a:pPr>
            <a:r>
              <a:rPr lang="en-US" sz="1600" b="1" dirty="0">
                <a:solidFill>
                  <a:srgbClr val="173D24"/>
                </a:solidFill>
                <a:latin typeface="Georgia" pitchFamily="34" charset="0"/>
                <a:ea typeface="Georgia" pitchFamily="34" charset="-122"/>
                <a:cs typeface="Georgia" pitchFamily="34" charset="-120"/>
              </a:rPr>
              <a:t>Many children have every advantage, yet still struggle in ways those advantages cannot solve on their own.</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0E6"/>
        </a:solidFill>
      </p:bgPr>
    </p:bg>
    <p:spTree>
      <p:nvGrpSpPr>
        <p:cNvPr id="1" name=""/>
        <p:cNvGrpSpPr/>
        <p:nvPr/>
      </p:nvGrpSpPr>
      <p:grpSpPr>
        <a:xfrm>
          <a:off x="0" y="0"/>
          <a:ext cx="0" cy="0"/>
          <a:chOff x="0" y="0"/>
          <a:chExt cx="0" cy="0"/>
        </a:xfrm>
      </p:grpSpPr>
      <p:sp>
        <p:nvSpPr>
          <p:cNvPr id="2" name="Shape 0"/>
          <p:cNvSpPr/>
          <p:nvPr/>
        </p:nvSpPr>
        <p:spPr>
          <a:xfrm>
            <a:off x="0" y="0"/>
            <a:ext cx="12191695" cy="713232"/>
          </a:xfrm>
          <a:prstGeom prst="rect">
            <a:avLst/>
          </a:prstGeom>
          <a:solidFill>
            <a:srgbClr val="173D24"/>
          </a:solidFill>
          <a:ln w="12700">
            <a:solidFill>
              <a:srgbClr val="173D24"/>
            </a:solidFill>
            <a:prstDash val="solid"/>
          </a:ln>
        </p:spPr>
      </p:sp>
      <p:sp>
        <p:nvSpPr>
          <p:cNvPr id="3" name="Text 1"/>
          <p:cNvSpPr/>
          <p:nvPr/>
        </p:nvSpPr>
        <p:spPr>
          <a:xfrm>
            <a:off x="475488" y="146304"/>
            <a:ext cx="1828800" cy="146304"/>
          </a:xfrm>
          <a:prstGeom prst="rect">
            <a:avLst/>
          </a:prstGeom>
          <a:noFill/>
          <a:ln/>
        </p:spPr>
        <p:txBody>
          <a:bodyPr wrap="square" lIns="0" tIns="0" rIns="0" bIns="0" rtlCol="0" anchor="ctr">
            <a:normAutofit/>
          </a:bodyPr>
          <a:lstStyle/>
          <a:p>
            <a:pPr indent="0" marL="0">
              <a:buNone/>
            </a:pPr>
            <a:r>
              <a:rPr lang="en-US" sz="900" b="1" dirty="0">
                <a:solidFill>
                  <a:srgbClr val="C89C3D"/>
                </a:solidFill>
                <a:latin typeface="Aptos" pitchFamily="34" charset="0"/>
                <a:ea typeface="Aptos" pitchFamily="34" charset="-122"/>
                <a:cs typeface="Aptos" pitchFamily="34" charset="-120"/>
              </a:rPr>
              <a:t>SLIDE 4 OF 17</a:t>
            </a:r>
            <a:endParaRPr lang="en-US" sz="900" dirty="0"/>
          </a:p>
        </p:txBody>
      </p:sp>
      <p:sp>
        <p:nvSpPr>
          <p:cNvPr id="4" name="Text 2"/>
          <p:cNvSpPr/>
          <p:nvPr/>
        </p:nvSpPr>
        <p:spPr>
          <a:xfrm>
            <a:off x="475488" y="283464"/>
            <a:ext cx="8138160" cy="237744"/>
          </a:xfrm>
          <a:prstGeom prst="rect">
            <a:avLst/>
          </a:prstGeom>
          <a:noFill/>
          <a:ln/>
        </p:spPr>
        <p:txBody>
          <a:bodyPr wrap="square" lIns="0" tIns="0" rIns="0" bIns="0" rtlCol="0" anchor="ctr">
            <a:normAutofit/>
          </a:bodyPr>
          <a:lstStyle/>
          <a:p>
            <a:pPr indent="0" marL="0">
              <a:buNone/>
            </a:pPr>
            <a:r>
              <a:rPr lang="en-US" sz="2200" b="1" dirty="0">
                <a:solidFill>
                  <a:srgbClr val="FFFFFF"/>
                </a:solidFill>
                <a:latin typeface="Georgia" pitchFamily="34" charset="0"/>
                <a:ea typeface="Georgia" pitchFamily="34" charset="-122"/>
                <a:cs typeface="Georgia" pitchFamily="34" charset="-120"/>
              </a:rPr>
              <a:t>What parents are already seeing</a:t>
            </a:r>
            <a:endParaRPr lang="en-US" sz="2200" dirty="0"/>
          </a:p>
        </p:txBody>
      </p:sp>
      <p:sp>
        <p:nvSpPr>
          <p:cNvPr id="5" name="Text 3"/>
          <p:cNvSpPr/>
          <p:nvPr/>
        </p:nvSpPr>
        <p:spPr>
          <a:xfrm>
            <a:off x="9006840" y="173736"/>
            <a:ext cx="2697480" cy="146304"/>
          </a:xfrm>
          <a:prstGeom prst="rect">
            <a:avLst/>
          </a:prstGeom>
          <a:noFill/>
          <a:ln/>
        </p:spPr>
        <p:txBody>
          <a:bodyPr wrap="square" lIns="0" tIns="0" rIns="0" bIns="0" rtlCol="0" anchor="ctr">
            <a:normAutofit/>
          </a:bodyPr>
          <a:lstStyle/>
          <a:p>
            <a:pPr algn="r" indent="0" marL="0">
              <a:buNone/>
            </a:pPr>
            <a:r>
              <a:rPr lang="en-US" sz="900" b="1" dirty="0">
                <a:solidFill>
                  <a:srgbClr val="F6F0E6"/>
                </a:solidFill>
                <a:latin typeface="Aptos" pitchFamily="34" charset="0"/>
                <a:ea typeface="Aptos" pitchFamily="34" charset="-122"/>
                <a:cs typeface="Aptos" pitchFamily="34" charset="-120"/>
              </a:rPr>
              <a:t>PARENT RECOGNITION</a:t>
            </a:r>
            <a:endParaRPr lang="en-US" sz="900" dirty="0"/>
          </a:p>
        </p:txBody>
      </p:sp>
      <p:sp>
        <p:nvSpPr>
          <p:cNvPr id="6" name="Shape 4"/>
          <p:cNvSpPr/>
          <p:nvPr/>
        </p:nvSpPr>
        <p:spPr>
          <a:xfrm>
            <a:off x="475488" y="932688"/>
            <a:ext cx="64008" cy="694944"/>
          </a:xfrm>
          <a:prstGeom prst="rect">
            <a:avLst/>
          </a:prstGeom>
          <a:solidFill>
            <a:srgbClr val="C89C3D"/>
          </a:solidFill>
          <a:ln w="12700">
            <a:solidFill>
              <a:srgbClr val="C89C3D"/>
            </a:solidFill>
            <a:prstDash val="solid"/>
          </a:ln>
        </p:spPr>
      </p:sp>
      <p:sp>
        <p:nvSpPr>
          <p:cNvPr id="7" name="Text 5"/>
          <p:cNvSpPr/>
          <p:nvPr/>
        </p:nvSpPr>
        <p:spPr>
          <a:xfrm>
            <a:off x="658368" y="960120"/>
            <a:ext cx="11064240" cy="585216"/>
          </a:xfrm>
          <a:prstGeom prst="rect">
            <a:avLst/>
          </a:prstGeom>
          <a:noFill/>
          <a:ln/>
        </p:spPr>
        <p:txBody>
          <a:bodyPr wrap="square" lIns="0" tIns="0" rIns="0" bIns="0" rtlCol="0" anchor="ctr">
            <a:normAutofit/>
          </a:bodyPr>
          <a:lstStyle/>
          <a:p>
            <a:pPr indent="0" marL="0">
              <a:buNone/>
            </a:pPr>
            <a:r>
              <a:rPr lang="en-US" sz="2400" b="1" dirty="0">
                <a:solidFill>
                  <a:srgbClr val="173D24"/>
                </a:solidFill>
                <a:latin typeface="Georgia" pitchFamily="34" charset="0"/>
                <a:ea typeface="Georgia" pitchFamily="34" charset="-122"/>
                <a:cs typeface="Georgia" pitchFamily="34" charset="-120"/>
              </a:rPr>
              <a:t>These are not isolated moments. They point to a missing skill set.</a:t>
            </a:r>
            <a:endParaRPr lang="en-US" sz="2400" dirty="0"/>
          </a:p>
        </p:txBody>
      </p:sp>
      <p:sp>
        <p:nvSpPr>
          <p:cNvPr id="8" name="Shape 6"/>
          <p:cNvSpPr/>
          <p:nvPr/>
        </p:nvSpPr>
        <p:spPr>
          <a:xfrm>
            <a:off x="658368" y="1737360"/>
            <a:ext cx="3346704" cy="1572768"/>
          </a:xfrm>
          <a:prstGeom prst="roundRect">
            <a:avLst/>
          </a:prstGeom>
          <a:solidFill>
            <a:srgbClr val="FFFFFF"/>
          </a:solidFill>
          <a:ln w="12700">
            <a:solidFill>
              <a:srgbClr val="D2C5AE"/>
            </a:solidFill>
            <a:prstDash val="solid"/>
          </a:ln>
        </p:spPr>
      </p:sp>
      <p:sp>
        <p:nvSpPr>
          <p:cNvPr id="9" name="Shape 7"/>
          <p:cNvSpPr/>
          <p:nvPr/>
        </p:nvSpPr>
        <p:spPr>
          <a:xfrm>
            <a:off x="786384" y="1865376"/>
            <a:ext cx="1572768" cy="292608"/>
          </a:xfrm>
          <a:prstGeom prst="roundRect">
            <a:avLst/>
          </a:prstGeom>
          <a:solidFill>
            <a:srgbClr val="173D24"/>
          </a:solidFill>
          <a:ln w="12700">
            <a:solidFill>
              <a:srgbClr val="173D24"/>
            </a:solidFill>
            <a:prstDash val="solid"/>
          </a:ln>
        </p:spPr>
      </p:sp>
      <p:sp>
        <p:nvSpPr>
          <p:cNvPr id="10" name="Text 8"/>
          <p:cNvSpPr/>
          <p:nvPr/>
        </p:nvSpPr>
        <p:spPr>
          <a:xfrm>
            <a:off x="859536" y="1920240"/>
            <a:ext cx="1426464" cy="201168"/>
          </a:xfrm>
          <a:prstGeom prst="rect">
            <a:avLst/>
          </a:prstGeom>
          <a:noFill/>
          <a:ln/>
        </p:spPr>
        <p:txBody>
          <a:bodyPr wrap="square" lIns="0" tIns="0" rIns="0" bIns="0" rtlCol="0" anchor="ctr">
            <a:normAutofit/>
          </a:bodyPr>
          <a:lstStyle/>
          <a:p>
            <a:pPr algn="ctr" indent="0" marL="0">
              <a:buNone/>
            </a:pPr>
            <a:r>
              <a:rPr lang="en-US" sz="1050" b="1" dirty="0">
                <a:solidFill>
                  <a:srgbClr val="C89C3D"/>
                </a:solidFill>
                <a:latin typeface="Aptos" pitchFamily="34" charset="0"/>
                <a:ea typeface="Aptos" pitchFamily="34" charset="-122"/>
                <a:cs typeface="Aptos" pitchFamily="34" charset="-120"/>
              </a:rPr>
              <a:t>EXAM PANIC</a:t>
            </a:r>
            <a:endParaRPr lang="en-US" sz="1050" dirty="0"/>
          </a:p>
        </p:txBody>
      </p:sp>
      <p:sp>
        <p:nvSpPr>
          <p:cNvPr id="11" name="Text 9"/>
          <p:cNvSpPr/>
          <p:nvPr/>
        </p:nvSpPr>
        <p:spPr>
          <a:xfrm>
            <a:off x="822960" y="2304288"/>
            <a:ext cx="2999232" cy="658368"/>
          </a:xfrm>
          <a:prstGeom prst="rect">
            <a:avLst/>
          </a:prstGeom>
          <a:noFill/>
          <a:ln/>
        </p:spPr>
        <p:txBody>
          <a:bodyPr wrap="square" lIns="508" tIns="508" rIns="508" bIns="508" rtlCol="0" anchor="ctr">
            <a:normAutofit/>
          </a:bodyPr>
          <a:lstStyle/>
          <a:p>
            <a:pPr indent="0" marL="0">
              <a:buNone/>
            </a:pPr>
            <a:r>
              <a:rPr lang="en-US" sz="1350" dirty="0">
                <a:solidFill>
                  <a:srgbClr val="203128"/>
                </a:solidFill>
                <a:latin typeface="Aptos" pitchFamily="34" charset="0"/>
                <a:ea typeface="Aptos" pitchFamily="34" charset="-122"/>
                <a:cs typeface="Aptos" pitchFamily="34" charset="-120"/>
              </a:rPr>
              <a:t>Panic before exams even when prepared</a:t>
            </a:r>
            <a:endParaRPr lang="en-US" sz="1350" dirty="0"/>
          </a:p>
        </p:txBody>
      </p:sp>
      <p:sp>
        <p:nvSpPr>
          <p:cNvPr id="12" name="Shape 10"/>
          <p:cNvSpPr/>
          <p:nvPr/>
        </p:nvSpPr>
        <p:spPr>
          <a:xfrm>
            <a:off x="4370832" y="1737360"/>
            <a:ext cx="3346704" cy="1572768"/>
          </a:xfrm>
          <a:prstGeom prst="roundRect">
            <a:avLst/>
          </a:prstGeom>
          <a:solidFill>
            <a:srgbClr val="FFFFFF"/>
          </a:solidFill>
          <a:ln w="12700">
            <a:solidFill>
              <a:srgbClr val="D2C5AE"/>
            </a:solidFill>
            <a:prstDash val="solid"/>
          </a:ln>
        </p:spPr>
      </p:sp>
      <p:sp>
        <p:nvSpPr>
          <p:cNvPr id="13" name="Shape 11"/>
          <p:cNvSpPr/>
          <p:nvPr/>
        </p:nvSpPr>
        <p:spPr>
          <a:xfrm>
            <a:off x="4498848" y="1865376"/>
            <a:ext cx="1572768" cy="292608"/>
          </a:xfrm>
          <a:prstGeom prst="roundRect">
            <a:avLst/>
          </a:prstGeom>
          <a:solidFill>
            <a:srgbClr val="173D24"/>
          </a:solidFill>
          <a:ln w="12700">
            <a:solidFill>
              <a:srgbClr val="173D24"/>
            </a:solidFill>
            <a:prstDash val="solid"/>
          </a:ln>
        </p:spPr>
      </p:sp>
      <p:sp>
        <p:nvSpPr>
          <p:cNvPr id="14" name="Text 12"/>
          <p:cNvSpPr/>
          <p:nvPr/>
        </p:nvSpPr>
        <p:spPr>
          <a:xfrm>
            <a:off x="4572000" y="1920240"/>
            <a:ext cx="1426464" cy="201168"/>
          </a:xfrm>
          <a:prstGeom prst="rect">
            <a:avLst/>
          </a:prstGeom>
          <a:noFill/>
          <a:ln/>
        </p:spPr>
        <p:txBody>
          <a:bodyPr wrap="square" lIns="0" tIns="0" rIns="0" bIns="0" rtlCol="0" anchor="ctr">
            <a:normAutofit/>
          </a:bodyPr>
          <a:lstStyle/>
          <a:p>
            <a:pPr algn="ctr" indent="0" marL="0">
              <a:buNone/>
            </a:pPr>
            <a:r>
              <a:rPr lang="en-US" sz="1050" b="1" dirty="0">
                <a:solidFill>
                  <a:srgbClr val="C89C3D"/>
                </a:solidFill>
                <a:latin typeface="Aptos" pitchFamily="34" charset="0"/>
                <a:ea typeface="Aptos" pitchFamily="34" charset="-122"/>
                <a:cs typeface="Aptos" pitchFamily="34" charset="-120"/>
              </a:rPr>
              <a:t>ONE-MISTAKE SHUTDOWN</a:t>
            </a:r>
            <a:endParaRPr lang="en-US" sz="1050" dirty="0"/>
          </a:p>
        </p:txBody>
      </p:sp>
      <p:sp>
        <p:nvSpPr>
          <p:cNvPr id="15" name="Text 13"/>
          <p:cNvSpPr/>
          <p:nvPr/>
        </p:nvSpPr>
        <p:spPr>
          <a:xfrm>
            <a:off x="4535424" y="2304288"/>
            <a:ext cx="2999232" cy="658368"/>
          </a:xfrm>
          <a:prstGeom prst="rect">
            <a:avLst/>
          </a:prstGeom>
          <a:noFill/>
          <a:ln/>
        </p:spPr>
        <p:txBody>
          <a:bodyPr wrap="square" lIns="508" tIns="508" rIns="508" bIns="508" rtlCol="0" anchor="ctr">
            <a:normAutofit/>
          </a:bodyPr>
          <a:lstStyle/>
          <a:p>
            <a:pPr indent="0" marL="0">
              <a:buNone/>
            </a:pPr>
            <a:r>
              <a:rPr lang="en-US" sz="1350" dirty="0">
                <a:solidFill>
                  <a:srgbClr val="203128"/>
                </a:solidFill>
                <a:latin typeface="Aptos" pitchFamily="34" charset="0"/>
                <a:ea typeface="Aptos" pitchFamily="34" charset="-122"/>
                <a:cs typeface="Aptos" pitchFamily="34" charset="-120"/>
              </a:rPr>
              <a:t>Confidence disappears after one wrong answer</a:t>
            </a:r>
            <a:endParaRPr lang="en-US" sz="1350" dirty="0"/>
          </a:p>
        </p:txBody>
      </p:sp>
      <p:sp>
        <p:nvSpPr>
          <p:cNvPr id="16" name="Shape 14"/>
          <p:cNvSpPr/>
          <p:nvPr/>
        </p:nvSpPr>
        <p:spPr>
          <a:xfrm>
            <a:off x="8083296" y="1737360"/>
            <a:ext cx="3346704" cy="1572768"/>
          </a:xfrm>
          <a:prstGeom prst="roundRect">
            <a:avLst/>
          </a:prstGeom>
          <a:solidFill>
            <a:srgbClr val="FFFFFF"/>
          </a:solidFill>
          <a:ln w="12700">
            <a:solidFill>
              <a:srgbClr val="D2C5AE"/>
            </a:solidFill>
            <a:prstDash val="solid"/>
          </a:ln>
        </p:spPr>
      </p:sp>
      <p:sp>
        <p:nvSpPr>
          <p:cNvPr id="17" name="Shape 15"/>
          <p:cNvSpPr/>
          <p:nvPr/>
        </p:nvSpPr>
        <p:spPr>
          <a:xfrm>
            <a:off x="8211312" y="1865376"/>
            <a:ext cx="1572768" cy="292608"/>
          </a:xfrm>
          <a:prstGeom prst="roundRect">
            <a:avLst/>
          </a:prstGeom>
          <a:solidFill>
            <a:srgbClr val="173D24"/>
          </a:solidFill>
          <a:ln w="12700">
            <a:solidFill>
              <a:srgbClr val="173D24"/>
            </a:solidFill>
            <a:prstDash val="solid"/>
          </a:ln>
        </p:spPr>
      </p:sp>
      <p:sp>
        <p:nvSpPr>
          <p:cNvPr id="18" name="Text 16"/>
          <p:cNvSpPr/>
          <p:nvPr/>
        </p:nvSpPr>
        <p:spPr>
          <a:xfrm>
            <a:off x="8284464" y="1920240"/>
            <a:ext cx="1426464" cy="201168"/>
          </a:xfrm>
          <a:prstGeom prst="rect">
            <a:avLst/>
          </a:prstGeom>
          <a:noFill/>
          <a:ln/>
        </p:spPr>
        <p:txBody>
          <a:bodyPr wrap="square" lIns="0" tIns="0" rIns="0" bIns="0" rtlCol="0" anchor="ctr">
            <a:normAutofit/>
          </a:bodyPr>
          <a:lstStyle/>
          <a:p>
            <a:pPr algn="ctr" indent="0" marL="0">
              <a:buNone/>
            </a:pPr>
            <a:r>
              <a:rPr lang="en-US" sz="1050" b="1" dirty="0">
                <a:solidFill>
                  <a:srgbClr val="C89C3D"/>
                </a:solidFill>
                <a:latin typeface="Aptos" pitchFamily="34" charset="0"/>
                <a:ea typeface="Aptos" pitchFamily="34" charset="-122"/>
                <a:cs typeface="Aptos" pitchFamily="34" charset="-120"/>
              </a:rPr>
              <a:t>CHALLENGE AVOIDANCE</a:t>
            </a:r>
            <a:endParaRPr lang="en-US" sz="1050" dirty="0"/>
          </a:p>
        </p:txBody>
      </p:sp>
      <p:sp>
        <p:nvSpPr>
          <p:cNvPr id="19" name="Text 17"/>
          <p:cNvSpPr/>
          <p:nvPr/>
        </p:nvSpPr>
        <p:spPr>
          <a:xfrm>
            <a:off x="8247888" y="2304288"/>
            <a:ext cx="2999232" cy="658368"/>
          </a:xfrm>
          <a:prstGeom prst="rect">
            <a:avLst/>
          </a:prstGeom>
          <a:noFill/>
          <a:ln/>
        </p:spPr>
        <p:txBody>
          <a:bodyPr wrap="square" lIns="508" tIns="508" rIns="508" bIns="508" rtlCol="0" anchor="ctr">
            <a:normAutofit/>
          </a:bodyPr>
          <a:lstStyle/>
          <a:p>
            <a:pPr indent="0" marL="0">
              <a:buNone/>
            </a:pPr>
            <a:r>
              <a:rPr lang="en-US" sz="1350" dirty="0">
                <a:solidFill>
                  <a:srgbClr val="203128"/>
                </a:solidFill>
                <a:latin typeface="Aptos" pitchFamily="34" charset="0"/>
                <a:ea typeface="Aptos" pitchFamily="34" charset="-122"/>
                <a:cs typeface="Aptos" pitchFamily="34" charset="-120"/>
              </a:rPr>
              <a:t>Children avoid what they may not excel at immediately</a:t>
            </a:r>
            <a:endParaRPr lang="en-US" sz="1350" dirty="0"/>
          </a:p>
        </p:txBody>
      </p:sp>
      <p:sp>
        <p:nvSpPr>
          <p:cNvPr id="20" name="Shape 18"/>
          <p:cNvSpPr/>
          <p:nvPr/>
        </p:nvSpPr>
        <p:spPr>
          <a:xfrm>
            <a:off x="658368" y="3639312"/>
            <a:ext cx="3346704" cy="1572768"/>
          </a:xfrm>
          <a:prstGeom prst="roundRect">
            <a:avLst/>
          </a:prstGeom>
          <a:solidFill>
            <a:srgbClr val="FFFFFF"/>
          </a:solidFill>
          <a:ln w="12700">
            <a:solidFill>
              <a:srgbClr val="D2C5AE"/>
            </a:solidFill>
            <a:prstDash val="solid"/>
          </a:ln>
        </p:spPr>
      </p:sp>
      <p:sp>
        <p:nvSpPr>
          <p:cNvPr id="21" name="Shape 19"/>
          <p:cNvSpPr/>
          <p:nvPr/>
        </p:nvSpPr>
        <p:spPr>
          <a:xfrm>
            <a:off x="786384" y="3767328"/>
            <a:ext cx="1572768" cy="292608"/>
          </a:xfrm>
          <a:prstGeom prst="roundRect">
            <a:avLst/>
          </a:prstGeom>
          <a:solidFill>
            <a:srgbClr val="173D24"/>
          </a:solidFill>
          <a:ln w="12700">
            <a:solidFill>
              <a:srgbClr val="173D24"/>
            </a:solidFill>
            <a:prstDash val="solid"/>
          </a:ln>
        </p:spPr>
      </p:sp>
      <p:sp>
        <p:nvSpPr>
          <p:cNvPr id="22" name="Text 20"/>
          <p:cNvSpPr/>
          <p:nvPr/>
        </p:nvSpPr>
        <p:spPr>
          <a:xfrm>
            <a:off x="859536" y="3822192"/>
            <a:ext cx="1426464" cy="201168"/>
          </a:xfrm>
          <a:prstGeom prst="rect">
            <a:avLst/>
          </a:prstGeom>
          <a:noFill/>
          <a:ln/>
        </p:spPr>
        <p:txBody>
          <a:bodyPr wrap="square" lIns="0" tIns="0" rIns="0" bIns="0" rtlCol="0" anchor="ctr">
            <a:normAutofit/>
          </a:bodyPr>
          <a:lstStyle/>
          <a:p>
            <a:pPr algn="ctr" indent="0" marL="0">
              <a:buNone/>
            </a:pPr>
            <a:r>
              <a:rPr lang="en-US" sz="1050" b="1" dirty="0">
                <a:solidFill>
                  <a:srgbClr val="C89C3D"/>
                </a:solidFill>
                <a:latin typeface="Aptos" pitchFamily="34" charset="0"/>
                <a:ea typeface="Aptos" pitchFamily="34" charset="-122"/>
                <a:cs typeface="Aptos" pitchFamily="34" charset="-120"/>
              </a:rPr>
              <a:t>COMPARISON SPIRAL</a:t>
            </a:r>
            <a:endParaRPr lang="en-US" sz="1050" dirty="0"/>
          </a:p>
        </p:txBody>
      </p:sp>
      <p:sp>
        <p:nvSpPr>
          <p:cNvPr id="23" name="Text 21"/>
          <p:cNvSpPr/>
          <p:nvPr/>
        </p:nvSpPr>
        <p:spPr>
          <a:xfrm>
            <a:off x="822960" y="4206240"/>
            <a:ext cx="2999232" cy="658368"/>
          </a:xfrm>
          <a:prstGeom prst="rect">
            <a:avLst/>
          </a:prstGeom>
          <a:noFill/>
          <a:ln/>
        </p:spPr>
        <p:txBody>
          <a:bodyPr wrap="square" lIns="508" tIns="508" rIns="508" bIns="508" rtlCol="0" anchor="ctr">
            <a:normAutofit/>
          </a:bodyPr>
          <a:lstStyle/>
          <a:p>
            <a:pPr indent="0" marL="0">
              <a:buNone/>
            </a:pPr>
            <a:r>
              <a:rPr lang="en-US" sz="1350" dirty="0">
                <a:solidFill>
                  <a:srgbClr val="203128"/>
                </a:solidFill>
                <a:latin typeface="Aptos" pitchFamily="34" charset="0"/>
                <a:ea typeface="Aptos" pitchFamily="34" charset="-122"/>
                <a:cs typeface="Aptos" pitchFamily="34" charset="-120"/>
              </a:rPr>
              <a:t>Attention shifts from learning to measuring themselves</a:t>
            </a:r>
            <a:endParaRPr lang="en-US" sz="1350" dirty="0"/>
          </a:p>
        </p:txBody>
      </p:sp>
      <p:sp>
        <p:nvSpPr>
          <p:cNvPr id="24" name="Shape 22"/>
          <p:cNvSpPr/>
          <p:nvPr/>
        </p:nvSpPr>
        <p:spPr>
          <a:xfrm>
            <a:off x="4370832" y="3639312"/>
            <a:ext cx="3346704" cy="1572768"/>
          </a:xfrm>
          <a:prstGeom prst="roundRect">
            <a:avLst/>
          </a:prstGeom>
          <a:solidFill>
            <a:srgbClr val="FFFFFF"/>
          </a:solidFill>
          <a:ln w="12700">
            <a:solidFill>
              <a:srgbClr val="D2C5AE"/>
            </a:solidFill>
            <a:prstDash val="solid"/>
          </a:ln>
        </p:spPr>
      </p:sp>
      <p:sp>
        <p:nvSpPr>
          <p:cNvPr id="25" name="Shape 23"/>
          <p:cNvSpPr/>
          <p:nvPr/>
        </p:nvSpPr>
        <p:spPr>
          <a:xfrm>
            <a:off x="4498848" y="3767328"/>
            <a:ext cx="1572768" cy="292608"/>
          </a:xfrm>
          <a:prstGeom prst="roundRect">
            <a:avLst/>
          </a:prstGeom>
          <a:solidFill>
            <a:srgbClr val="173D24"/>
          </a:solidFill>
          <a:ln w="12700">
            <a:solidFill>
              <a:srgbClr val="173D24"/>
            </a:solidFill>
            <a:prstDash val="solid"/>
          </a:ln>
        </p:spPr>
      </p:sp>
      <p:sp>
        <p:nvSpPr>
          <p:cNvPr id="26" name="Text 24"/>
          <p:cNvSpPr/>
          <p:nvPr/>
        </p:nvSpPr>
        <p:spPr>
          <a:xfrm>
            <a:off x="4572000" y="3822192"/>
            <a:ext cx="1426464" cy="201168"/>
          </a:xfrm>
          <a:prstGeom prst="rect">
            <a:avLst/>
          </a:prstGeom>
          <a:noFill/>
          <a:ln/>
        </p:spPr>
        <p:txBody>
          <a:bodyPr wrap="square" lIns="0" tIns="0" rIns="0" bIns="0" rtlCol="0" anchor="ctr">
            <a:normAutofit/>
          </a:bodyPr>
          <a:lstStyle/>
          <a:p>
            <a:pPr algn="ctr" indent="0" marL="0">
              <a:buNone/>
            </a:pPr>
            <a:r>
              <a:rPr lang="en-US" sz="1050" b="1" dirty="0">
                <a:solidFill>
                  <a:srgbClr val="C89C3D"/>
                </a:solidFill>
                <a:latin typeface="Aptos" pitchFamily="34" charset="0"/>
                <a:ea typeface="Aptos" pitchFamily="34" charset="-122"/>
                <a:cs typeface="Aptos" pitchFamily="34" charset="-120"/>
              </a:rPr>
              <a:t>QUICK OVERWHELM</a:t>
            </a:r>
            <a:endParaRPr lang="en-US" sz="1050" dirty="0"/>
          </a:p>
        </p:txBody>
      </p:sp>
      <p:sp>
        <p:nvSpPr>
          <p:cNvPr id="27" name="Text 25"/>
          <p:cNvSpPr/>
          <p:nvPr/>
        </p:nvSpPr>
        <p:spPr>
          <a:xfrm>
            <a:off x="4535424" y="4206240"/>
            <a:ext cx="2999232" cy="658368"/>
          </a:xfrm>
          <a:prstGeom prst="rect">
            <a:avLst/>
          </a:prstGeom>
          <a:noFill/>
          <a:ln/>
        </p:spPr>
        <p:txBody>
          <a:bodyPr wrap="square" lIns="508" tIns="508" rIns="508" bIns="508" rtlCol="0" anchor="ctr">
            <a:normAutofit/>
          </a:bodyPr>
          <a:lstStyle/>
          <a:p>
            <a:pPr indent="0" marL="0">
              <a:buNone/>
            </a:pPr>
            <a:r>
              <a:rPr lang="en-US" sz="1350" dirty="0">
                <a:solidFill>
                  <a:srgbClr val="203128"/>
                </a:solidFill>
                <a:latin typeface="Aptos" pitchFamily="34" charset="0"/>
                <a:ea typeface="Aptos" pitchFamily="34" charset="-122"/>
                <a:cs typeface="Aptos" pitchFamily="34" charset="-120"/>
              </a:rPr>
              <a:t>Frustration tolerance drops faster than expected</a:t>
            </a:r>
            <a:endParaRPr lang="en-US" sz="1350" dirty="0"/>
          </a:p>
        </p:txBody>
      </p:sp>
      <p:sp>
        <p:nvSpPr>
          <p:cNvPr id="28" name="Shape 26"/>
          <p:cNvSpPr/>
          <p:nvPr/>
        </p:nvSpPr>
        <p:spPr>
          <a:xfrm>
            <a:off x="8083296" y="3639312"/>
            <a:ext cx="3346704" cy="1572768"/>
          </a:xfrm>
          <a:prstGeom prst="roundRect">
            <a:avLst/>
          </a:prstGeom>
          <a:solidFill>
            <a:srgbClr val="FFFFFF"/>
          </a:solidFill>
          <a:ln w="12700">
            <a:solidFill>
              <a:srgbClr val="D2C5AE"/>
            </a:solidFill>
            <a:prstDash val="solid"/>
          </a:ln>
        </p:spPr>
      </p:sp>
      <p:sp>
        <p:nvSpPr>
          <p:cNvPr id="29" name="Shape 27"/>
          <p:cNvSpPr/>
          <p:nvPr/>
        </p:nvSpPr>
        <p:spPr>
          <a:xfrm>
            <a:off x="8211312" y="3767328"/>
            <a:ext cx="1572768" cy="292608"/>
          </a:xfrm>
          <a:prstGeom prst="roundRect">
            <a:avLst/>
          </a:prstGeom>
          <a:solidFill>
            <a:srgbClr val="173D24"/>
          </a:solidFill>
          <a:ln w="12700">
            <a:solidFill>
              <a:srgbClr val="173D24"/>
            </a:solidFill>
            <a:prstDash val="solid"/>
          </a:ln>
        </p:spPr>
      </p:sp>
      <p:sp>
        <p:nvSpPr>
          <p:cNvPr id="30" name="Text 28"/>
          <p:cNvSpPr/>
          <p:nvPr/>
        </p:nvSpPr>
        <p:spPr>
          <a:xfrm>
            <a:off x="8284464" y="3822192"/>
            <a:ext cx="1426464" cy="201168"/>
          </a:xfrm>
          <a:prstGeom prst="rect">
            <a:avLst/>
          </a:prstGeom>
          <a:noFill/>
          <a:ln/>
        </p:spPr>
        <p:txBody>
          <a:bodyPr wrap="square" lIns="0" tIns="0" rIns="0" bIns="0" rtlCol="0" anchor="ctr">
            <a:normAutofit/>
          </a:bodyPr>
          <a:lstStyle/>
          <a:p>
            <a:pPr algn="ctr" indent="0" marL="0">
              <a:buNone/>
            </a:pPr>
            <a:r>
              <a:rPr lang="en-US" sz="1050" b="1" dirty="0">
                <a:solidFill>
                  <a:srgbClr val="C89C3D"/>
                </a:solidFill>
                <a:latin typeface="Aptos" pitchFamily="34" charset="0"/>
                <a:ea typeface="Aptos" pitchFamily="34" charset="-122"/>
                <a:cs typeface="Aptos" pitchFamily="34" charset="-120"/>
              </a:rPr>
              <a:t>CONDITIONAL CONFIDENCE</a:t>
            </a:r>
            <a:endParaRPr lang="en-US" sz="1050" dirty="0"/>
          </a:p>
        </p:txBody>
      </p:sp>
      <p:sp>
        <p:nvSpPr>
          <p:cNvPr id="31" name="Text 29"/>
          <p:cNvSpPr/>
          <p:nvPr/>
        </p:nvSpPr>
        <p:spPr>
          <a:xfrm>
            <a:off x="8247888" y="4206240"/>
            <a:ext cx="2999232" cy="658368"/>
          </a:xfrm>
          <a:prstGeom prst="rect">
            <a:avLst/>
          </a:prstGeom>
          <a:noFill/>
          <a:ln/>
        </p:spPr>
        <p:txBody>
          <a:bodyPr wrap="square" lIns="508" tIns="508" rIns="508" bIns="508" rtlCol="0" anchor="ctr">
            <a:normAutofit/>
          </a:bodyPr>
          <a:lstStyle/>
          <a:p>
            <a:pPr indent="0" marL="0">
              <a:buNone/>
            </a:pPr>
            <a:r>
              <a:rPr lang="en-US" sz="1350" dirty="0">
                <a:solidFill>
                  <a:srgbClr val="203128"/>
                </a:solidFill>
                <a:latin typeface="Aptos" pitchFamily="34" charset="0"/>
                <a:ea typeface="Aptos" pitchFamily="34" charset="-122"/>
                <a:cs typeface="Aptos" pitchFamily="34" charset="-120"/>
              </a:rPr>
              <a:t>They feel strong only when things are going well</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0E6"/>
        </a:solidFill>
      </p:bgPr>
    </p:bg>
    <p:spTree>
      <p:nvGrpSpPr>
        <p:cNvPr id="1" name=""/>
        <p:cNvGrpSpPr/>
        <p:nvPr/>
      </p:nvGrpSpPr>
      <p:grpSpPr>
        <a:xfrm>
          <a:off x="0" y="0"/>
          <a:ext cx="0" cy="0"/>
          <a:chOff x="0" y="0"/>
          <a:chExt cx="0" cy="0"/>
        </a:xfrm>
      </p:grpSpPr>
      <p:sp>
        <p:nvSpPr>
          <p:cNvPr id="2" name="Shape 0"/>
          <p:cNvSpPr/>
          <p:nvPr/>
        </p:nvSpPr>
        <p:spPr>
          <a:xfrm>
            <a:off x="0" y="0"/>
            <a:ext cx="12191695" cy="713232"/>
          </a:xfrm>
          <a:prstGeom prst="rect">
            <a:avLst/>
          </a:prstGeom>
          <a:solidFill>
            <a:srgbClr val="173D24"/>
          </a:solidFill>
          <a:ln w="12700">
            <a:solidFill>
              <a:srgbClr val="173D24"/>
            </a:solidFill>
            <a:prstDash val="solid"/>
          </a:ln>
        </p:spPr>
      </p:sp>
      <p:sp>
        <p:nvSpPr>
          <p:cNvPr id="3" name="Text 1"/>
          <p:cNvSpPr/>
          <p:nvPr/>
        </p:nvSpPr>
        <p:spPr>
          <a:xfrm>
            <a:off x="475488" y="146304"/>
            <a:ext cx="1828800" cy="146304"/>
          </a:xfrm>
          <a:prstGeom prst="rect">
            <a:avLst/>
          </a:prstGeom>
          <a:noFill/>
          <a:ln/>
        </p:spPr>
        <p:txBody>
          <a:bodyPr wrap="square" lIns="0" tIns="0" rIns="0" bIns="0" rtlCol="0" anchor="ctr">
            <a:normAutofit/>
          </a:bodyPr>
          <a:lstStyle/>
          <a:p>
            <a:pPr indent="0" marL="0">
              <a:buNone/>
            </a:pPr>
            <a:r>
              <a:rPr lang="en-US" sz="900" b="1" dirty="0">
                <a:solidFill>
                  <a:srgbClr val="C89C3D"/>
                </a:solidFill>
                <a:latin typeface="Aptos" pitchFamily="34" charset="0"/>
                <a:ea typeface="Aptos" pitchFamily="34" charset="-122"/>
                <a:cs typeface="Aptos" pitchFamily="34" charset="-120"/>
              </a:rPr>
              <a:t>SLIDE 5 OF 17</a:t>
            </a:r>
            <a:endParaRPr lang="en-US" sz="900" dirty="0"/>
          </a:p>
        </p:txBody>
      </p:sp>
      <p:sp>
        <p:nvSpPr>
          <p:cNvPr id="4" name="Text 2"/>
          <p:cNvSpPr/>
          <p:nvPr/>
        </p:nvSpPr>
        <p:spPr>
          <a:xfrm>
            <a:off x="475488" y="283464"/>
            <a:ext cx="8138160" cy="237744"/>
          </a:xfrm>
          <a:prstGeom prst="rect">
            <a:avLst/>
          </a:prstGeom>
          <a:noFill/>
          <a:ln/>
        </p:spPr>
        <p:txBody>
          <a:bodyPr wrap="square" lIns="0" tIns="0" rIns="0" bIns="0" rtlCol="0" anchor="ctr">
            <a:normAutofit/>
          </a:bodyPr>
          <a:lstStyle/>
          <a:p>
            <a:pPr indent="0" marL="0">
              <a:buNone/>
            </a:pPr>
            <a:r>
              <a:rPr lang="en-US" sz="2200" b="1" dirty="0">
                <a:solidFill>
                  <a:srgbClr val="FFFFFF"/>
                </a:solidFill>
                <a:latin typeface="Georgia" pitchFamily="34" charset="0"/>
                <a:ea typeface="Georgia" pitchFamily="34" charset="-122"/>
                <a:cs typeface="Georgia" pitchFamily="34" charset="-120"/>
              </a:rPr>
              <a:t>You have invested in everything that goes in.</a:t>
            </a:r>
            <a:endParaRPr lang="en-US" sz="2200" dirty="0"/>
          </a:p>
        </p:txBody>
      </p:sp>
      <p:sp>
        <p:nvSpPr>
          <p:cNvPr id="5" name="Text 3"/>
          <p:cNvSpPr/>
          <p:nvPr/>
        </p:nvSpPr>
        <p:spPr>
          <a:xfrm>
            <a:off x="9006840" y="173736"/>
            <a:ext cx="2697480" cy="146304"/>
          </a:xfrm>
          <a:prstGeom prst="rect">
            <a:avLst/>
          </a:prstGeom>
          <a:noFill/>
          <a:ln/>
        </p:spPr>
        <p:txBody>
          <a:bodyPr wrap="square" lIns="0" tIns="0" rIns="0" bIns="0" rtlCol="0" anchor="ctr">
            <a:normAutofit/>
          </a:bodyPr>
          <a:lstStyle/>
          <a:p>
            <a:pPr algn="r" indent="0" marL="0">
              <a:buNone/>
            </a:pPr>
            <a:r>
              <a:rPr lang="en-US" sz="900" b="1" dirty="0">
                <a:solidFill>
                  <a:srgbClr val="F6F0E6"/>
                </a:solidFill>
                <a:latin typeface="Aptos" pitchFamily="34" charset="0"/>
                <a:ea typeface="Aptos" pitchFamily="34" charset="-122"/>
                <a:cs typeface="Aptos" pitchFamily="34" charset="-120"/>
              </a:rPr>
              <a:t>PARENT INVESTMENT</a:t>
            </a:r>
            <a:endParaRPr lang="en-US" sz="900" dirty="0"/>
          </a:p>
        </p:txBody>
      </p:sp>
      <p:sp>
        <p:nvSpPr>
          <p:cNvPr id="6" name="Shape 4"/>
          <p:cNvSpPr/>
          <p:nvPr/>
        </p:nvSpPr>
        <p:spPr>
          <a:xfrm>
            <a:off x="475488" y="932688"/>
            <a:ext cx="64008" cy="694944"/>
          </a:xfrm>
          <a:prstGeom prst="rect">
            <a:avLst/>
          </a:prstGeom>
          <a:solidFill>
            <a:srgbClr val="C89C3D"/>
          </a:solidFill>
          <a:ln w="12700">
            <a:solidFill>
              <a:srgbClr val="C89C3D"/>
            </a:solidFill>
            <a:prstDash val="solid"/>
          </a:ln>
        </p:spPr>
      </p:sp>
      <p:sp>
        <p:nvSpPr>
          <p:cNvPr id="7" name="Text 5"/>
          <p:cNvSpPr/>
          <p:nvPr/>
        </p:nvSpPr>
        <p:spPr>
          <a:xfrm>
            <a:off x="658368" y="960120"/>
            <a:ext cx="11064240" cy="585216"/>
          </a:xfrm>
          <a:prstGeom prst="rect">
            <a:avLst/>
          </a:prstGeom>
          <a:noFill/>
          <a:ln/>
        </p:spPr>
        <p:txBody>
          <a:bodyPr wrap="square" lIns="0" tIns="0" rIns="0" bIns="0" rtlCol="0" anchor="ctr">
            <a:normAutofit/>
          </a:bodyPr>
          <a:lstStyle/>
          <a:p>
            <a:pPr indent="0" marL="0">
              <a:buNone/>
            </a:pPr>
            <a:r>
              <a:rPr lang="en-US" sz="2400" b="1" dirty="0">
                <a:solidFill>
                  <a:srgbClr val="173D24"/>
                </a:solidFill>
                <a:latin typeface="Georgia" pitchFamily="34" charset="0"/>
                <a:ea typeface="Georgia" pitchFamily="34" charset="-122"/>
                <a:cs typeface="Georgia" pitchFamily="34" charset="-120"/>
              </a:rPr>
              <a:t>The next question is what happens when the pressure is real.</a:t>
            </a:r>
            <a:endParaRPr lang="en-US" sz="2400" dirty="0"/>
          </a:p>
        </p:txBody>
      </p:sp>
      <p:sp>
        <p:nvSpPr>
          <p:cNvPr id="8" name="Shape 6"/>
          <p:cNvSpPr/>
          <p:nvPr/>
        </p:nvSpPr>
        <p:spPr>
          <a:xfrm>
            <a:off x="768096" y="1828800"/>
            <a:ext cx="5120640" cy="841248"/>
          </a:xfrm>
          <a:prstGeom prst="roundRect">
            <a:avLst/>
          </a:prstGeom>
          <a:solidFill>
            <a:srgbClr val="FFFFFF"/>
          </a:solidFill>
          <a:ln w="12700">
            <a:solidFill>
              <a:srgbClr val="D2C5AE"/>
            </a:solidFill>
            <a:prstDash val="solid"/>
          </a:ln>
        </p:spPr>
      </p:sp>
      <p:sp>
        <p:nvSpPr>
          <p:cNvPr id="9" name="Text 7"/>
          <p:cNvSpPr/>
          <p:nvPr/>
        </p:nvSpPr>
        <p:spPr>
          <a:xfrm>
            <a:off x="987552" y="1993392"/>
            <a:ext cx="4572000" cy="182880"/>
          </a:xfrm>
          <a:prstGeom prst="rect">
            <a:avLst/>
          </a:prstGeom>
          <a:noFill/>
          <a:ln/>
        </p:spPr>
        <p:txBody>
          <a:bodyPr wrap="square" lIns="0" tIns="0" rIns="0" bIns="0" rtlCol="0" anchor="ctr">
            <a:normAutofit/>
          </a:bodyPr>
          <a:lstStyle/>
          <a:p>
            <a:pPr indent="0" marL="0">
              <a:buNone/>
            </a:pPr>
            <a:r>
              <a:rPr lang="en-US" sz="1700" b="1" dirty="0">
                <a:solidFill>
                  <a:srgbClr val="173D24"/>
                </a:solidFill>
                <a:latin typeface="Georgia" pitchFamily="34" charset="0"/>
                <a:ea typeface="Georgia" pitchFamily="34" charset="-122"/>
                <a:cs typeface="Georgia" pitchFamily="34" charset="-120"/>
              </a:rPr>
              <a:t>Your child has knowledge.</a:t>
            </a:r>
            <a:endParaRPr lang="en-US" sz="1700" dirty="0"/>
          </a:p>
        </p:txBody>
      </p:sp>
      <p:sp>
        <p:nvSpPr>
          <p:cNvPr id="10" name="Text 8"/>
          <p:cNvSpPr/>
          <p:nvPr/>
        </p:nvSpPr>
        <p:spPr>
          <a:xfrm>
            <a:off x="987552" y="2249424"/>
            <a:ext cx="4590288" cy="182880"/>
          </a:xfrm>
          <a:prstGeom prst="rect">
            <a:avLst/>
          </a:prstGeom>
          <a:noFill/>
          <a:ln/>
        </p:spPr>
        <p:txBody>
          <a:bodyPr wrap="square" lIns="0" tIns="0" rIns="0" bIns="0" rtlCol="0" anchor="ctr">
            <a:normAutofit/>
          </a:bodyPr>
          <a:lstStyle/>
          <a:p>
            <a:pPr indent="0" marL="0">
              <a:buNone/>
            </a:pPr>
            <a:r>
              <a:rPr lang="en-US" sz="1350" dirty="0">
                <a:solidFill>
                  <a:srgbClr val="203128"/>
                </a:solidFill>
                <a:latin typeface="Aptos" pitchFamily="34" charset="0"/>
                <a:ea typeface="Aptos" pitchFamily="34" charset="-122"/>
                <a:cs typeface="Aptos" pitchFamily="34" charset="-120"/>
              </a:rPr>
              <a:t>But can they use it when the pressure is real?</a:t>
            </a:r>
            <a:endParaRPr lang="en-US" sz="1350" dirty="0"/>
          </a:p>
        </p:txBody>
      </p:sp>
      <p:sp>
        <p:nvSpPr>
          <p:cNvPr id="11" name="Shape 9"/>
          <p:cNvSpPr/>
          <p:nvPr/>
        </p:nvSpPr>
        <p:spPr>
          <a:xfrm>
            <a:off x="768096" y="2889504"/>
            <a:ext cx="5120640" cy="841248"/>
          </a:xfrm>
          <a:prstGeom prst="roundRect">
            <a:avLst/>
          </a:prstGeom>
          <a:solidFill>
            <a:srgbClr val="FBF8F3"/>
          </a:solidFill>
          <a:ln w="12700">
            <a:solidFill>
              <a:srgbClr val="D2C5AE"/>
            </a:solidFill>
            <a:prstDash val="solid"/>
          </a:ln>
        </p:spPr>
      </p:sp>
      <p:sp>
        <p:nvSpPr>
          <p:cNvPr id="12" name="Text 10"/>
          <p:cNvSpPr/>
          <p:nvPr/>
        </p:nvSpPr>
        <p:spPr>
          <a:xfrm>
            <a:off x="987552" y="3054096"/>
            <a:ext cx="4572000" cy="182880"/>
          </a:xfrm>
          <a:prstGeom prst="rect">
            <a:avLst/>
          </a:prstGeom>
          <a:noFill/>
          <a:ln/>
        </p:spPr>
        <p:txBody>
          <a:bodyPr wrap="square" lIns="0" tIns="0" rIns="0" bIns="0" rtlCol="0" anchor="ctr">
            <a:normAutofit/>
          </a:bodyPr>
          <a:lstStyle/>
          <a:p>
            <a:pPr indent="0" marL="0">
              <a:buNone/>
            </a:pPr>
            <a:r>
              <a:rPr lang="en-US" sz="1700" b="1" dirty="0">
                <a:solidFill>
                  <a:srgbClr val="173D24"/>
                </a:solidFill>
                <a:latin typeface="Georgia" pitchFamily="34" charset="0"/>
                <a:ea typeface="Georgia" pitchFamily="34" charset="-122"/>
                <a:cs typeface="Georgia" pitchFamily="34" charset="-120"/>
              </a:rPr>
              <a:t>Your child has ability.</a:t>
            </a:r>
            <a:endParaRPr lang="en-US" sz="1700" dirty="0"/>
          </a:p>
        </p:txBody>
      </p:sp>
      <p:sp>
        <p:nvSpPr>
          <p:cNvPr id="13" name="Text 11"/>
          <p:cNvSpPr/>
          <p:nvPr/>
        </p:nvSpPr>
        <p:spPr>
          <a:xfrm>
            <a:off x="987552" y="3310128"/>
            <a:ext cx="4590288" cy="182880"/>
          </a:xfrm>
          <a:prstGeom prst="rect">
            <a:avLst/>
          </a:prstGeom>
          <a:noFill/>
          <a:ln/>
        </p:spPr>
        <p:txBody>
          <a:bodyPr wrap="square" lIns="0" tIns="0" rIns="0" bIns="0" rtlCol="0" anchor="ctr">
            <a:normAutofit/>
          </a:bodyPr>
          <a:lstStyle/>
          <a:p>
            <a:pPr indent="0" marL="0">
              <a:buNone/>
            </a:pPr>
            <a:r>
              <a:rPr lang="en-US" sz="1350" dirty="0">
                <a:solidFill>
                  <a:srgbClr val="203128"/>
                </a:solidFill>
                <a:latin typeface="Aptos" pitchFamily="34" charset="0"/>
                <a:ea typeface="Aptos" pitchFamily="34" charset="-122"/>
                <a:cs typeface="Aptos" pitchFamily="34" charset="-120"/>
              </a:rPr>
              <a:t>But can they recover when they fall?</a:t>
            </a:r>
            <a:endParaRPr lang="en-US" sz="1350" dirty="0"/>
          </a:p>
        </p:txBody>
      </p:sp>
      <p:sp>
        <p:nvSpPr>
          <p:cNvPr id="14" name="Shape 12"/>
          <p:cNvSpPr/>
          <p:nvPr/>
        </p:nvSpPr>
        <p:spPr>
          <a:xfrm>
            <a:off x="768096" y="3950208"/>
            <a:ext cx="5120640" cy="841248"/>
          </a:xfrm>
          <a:prstGeom prst="roundRect">
            <a:avLst/>
          </a:prstGeom>
          <a:solidFill>
            <a:srgbClr val="FFFFFF"/>
          </a:solidFill>
          <a:ln w="12700">
            <a:solidFill>
              <a:srgbClr val="D2C5AE"/>
            </a:solidFill>
            <a:prstDash val="solid"/>
          </a:ln>
        </p:spPr>
      </p:sp>
      <p:sp>
        <p:nvSpPr>
          <p:cNvPr id="15" name="Text 13"/>
          <p:cNvSpPr/>
          <p:nvPr/>
        </p:nvSpPr>
        <p:spPr>
          <a:xfrm>
            <a:off x="987552" y="4114800"/>
            <a:ext cx="4572000" cy="182880"/>
          </a:xfrm>
          <a:prstGeom prst="rect">
            <a:avLst/>
          </a:prstGeom>
          <a:noFill/>
          <a:ln/>
        </p:spPr>
        <p:txBody>
          <a:bodyPr wrap="square" lIns="0" tIns="0" rIns="0" bIns="0" rtlCol="0" anchor="ctr">
            <a:normAutofit/>
          </a:bodyPr>
          <a:lstStyle/>
          <a:p>
            <a:pPr indent="0" marL="0">
              <a:buNone/>
            </a:pPr>
            <a:r>
              <a:rPr lang="en-US" sz="1700" b="1" dirty="0">
                <a:solidFill>
                  <a:srgbClr val="173D24"/>
                </a:solidFill>
                <a:latin typeface="Georgia" pitchFamily="34" charset="0"/>
                <a:ea typeface="Georgia" pitchFamily="34" charset="-122"/>
                <a:cs typeface="Georgia" pitchFamily="34" charset="-120"/>
              </a:rPr>
              <a:t>Your child has opportunity.</a:t>
            </a:r>
            <a:endParaRPr lang="en-US" sz="1700" dirty="0"/>
          </a:p>
        </p:txBody>
      </p:sp>
      <p:sp>
        <p:nvSpPr>
          <p:cNvPr id="16" name="Text 14"/>
          <p:cNvSpPr/>
          <p:nvPr/>
        </p:nvSpPr>
        <p:spPr>
          <a:xfrm>
            <a:off x="987552" y="4370832"/>
            <a:ext cx="4590288" cy="182880"/>
          </a:xfrm>
          <a:prstGeom prst="rect">
            <a:avLst/>
          </a:prstGeom>
          <a:noFill/>
          <a:ln/>
        </p:spPr>
        <p:txBody>
          <a:bodyPr wrap="square" lIns="0" tIns="0" rIns="0" bIns="0" rtlCol="0" anchor="ctr">
            <a:normAutofit/>
          </a:bodyPr>
          <a:lstStyle/>
          <a:p>
            <a:pPr indent="0" marL="0">
              <a:buNone/>
            </a:pPr>
            <a:r>
              <a:rPr lang="en-US" sz="1350" dirty="0">
                <a:solidFill>
                  <a:srgbClr val="203128"/>
                </a:solidFill>
                <a:latin typeface="Aptos" pitchFamily="34" charset="0"/>
                <a:ea typeface="Aptos" pitchFamily="34" charset="-122"/>
                <a:cs typeface="Aptos" pitchFamily="34" charset="-120"/>
              </a:rPr>
              <a:t>But can they believe in themselves when doubt rises?</a:t>
            </a:r>
            <a:endParaRPr lang="en-US" sz="1350" dirty="0"/>
          </a:p>
        </p:txBody>
      </p:sp>
      <p:sp>
        <p:nvSpPr>
          <p:cNvPr id="17" name="Shape 15"/>
          <p:cNvSpPr/>
          <p:nvPr/>
        </p:nvSpPr>
        <p:spPr>
          <a:xfrm>
            <a:off x="6199632" y="1810512"/>
            <a:ext cx="4828032" cy="3401568"/>
          </a:xfrm>
          <a:prstGeom prst="roundRect">
            <a:avLst/>
          </a:prstGeom>
          <a:solidFill>
            <a:srgbClr val="173D24"/>
          </a:solidFill>
          <a:ln w="12700">
            <a:solidFill>
              <a:srgbClr val="173D24"/>
            </a:solidFill>
            <a:prstDash val="solid"/>
          </a:ln>
        </p:spPr>
      </p:sp>
      <p:sp>
        <p:nvSpPr>
          <p:cNvPr id="18" name="Text 16"/>
          <p:cNvSpPr/>
          <p:nvPr/>
        </p:nvSpPr>
        <p:spPr>
          <a:xfrm>
            <a:off x="6510528" y="2212848"/>
            <a:ext cx="4187952" cy="512064"/>
          </a:xfrm>
          <a:prstGeom prst="rect">
            <a:avLst/>
          </a:prstGeom>
          <a:noFill/>
          <a:ln/>
        </p:spPr>
        <p:txBody>
          <a:bodyPr wrap="square" lIns="508" tIns="508" rIns="508" bIns="508" rtlCol="0" anchor="ctr">
            <a:normAutofit/>
          </a:bodyPr>
          <a:lstStyle/>
          <a:p>
            <a:pPr algn="ctr" indent="0" marL="0">
              <a:buNone/>
            </a:pPr>
            <a:r>
              <a:rPr lang="en-US" sz="2300" b="1" dirty="0">
                <a:solidFill>
                  <a:srgbClr val="FFFFFF"/>
                </a:solidFill>
                <a:latin typeface="Georgia" pitchFamily="34" charset="0"/>
                <a:ea typeface="Georgia" pitchFamily="34" charset="-122"/>
                <a:cs typeface="Georgia" pitchFamily="34" charset="-120"/>
              </a:rPr>
              <a:t>The skills that answer yes to those questions are not born.</a:t>
            </a:r>
            <a:endParaRPr lang="en-US" sz="2300" dirty="0"/>
          </a:p>
        </p:txBody>
      </p:sp>
      <p:sp>
        <p:nvSpPr>
          <p:cNvPr id="19" name="Text 17"/>
          <p:cNvSpPr/>
          <p:nvPr/>
        </p:nvSpPr>
        <p:spPr>
          <a:xfrm>
            <a:off x="6528816" y="2907792"/>
            <a:ext cx="4151376" cy="329184"/>
          </a:xfrm>
          <a:prstGeom prst="rect">
            <a:avLst/>
          </a:prstGeom>
          <a:noFill/>
          <a:ln/>
        </p:spPr>
        <p:txBody>
          <a:bodyPr wrap="square" lIns="0" tIns="0" rIns="0" bIns="0" rtlCol="0" anchor="ctr">
            <a:normAutofit/>
          </a:bodyPr>
          <a:lstStyle/>
          <a:p>
            <a:pPr algn="ctr" indent="0" marL="0">
              <a:buNone/>
            </a:pPr>
            <a:r>
              <a:rPr lang="en-US" sz="2600" b="1" dirty="0">
                <a:solidFill>
                  <a:srgbClr val="C89C3D"/>
                </a:solidFill>
                <a:latin typeface="Georgia" pitchFamily="34" charset="0"/>
                <a:ea typeface="Georgia" pitchFamily="34" charset="-122"/>
                <a:cs typeface="Georgia" pitchFamily="34" charset="-120"/>
              </a:rPr>
              <a:t>They are built.</a:t>
            </a:r>
            <a:endParaRPr lang="en-US" sz="2600" dirty="0"/>
          </a:p>
        </p:txBody>
      </p:sp>
      <p:sp>
        <p:nvSpPr>
          <p:cNvPr id="20" name="Text 18"/>
          <p:cNvSpPr/>
          <p:nvPr/>
        </p:nvSpPr>
        <p:spPr>
          <a:xfrm>
            <a:off x="6492240" y="3822192"/>
            <a:ext cx="4187952" cy="310896"/>
          </a:xfrm>
          <a:prstGeom prst="rect">
            <a:avLst/>
          </a:prstGeom>
          <a:noFill/>
          <a:ln/>
        </p:spPr>
        <p:txBody>
          <a:bodyPr wrap="square" lIns="0" tIns="0" rIns="0" bIns="0" rtlCol="0" anchor="ctr">
            <a:normAutofit/>
          </a:bodyPr>
          <a:lstStyle/>
          <a:p>
            <a:pPr algn="ctr" indent="0" marL="0">
              <a:buNone/>
            </a:pPr>
            <a:r>
              <a:rPr lang="en-US" sz="1500" b="1" dirty="0">
                <a:solidFill>
                  <a:srgbClr val="F6F0E6"/>
                </a:solidFill>
                <a:latin typeface="Aptos" pitchFamily="34" charset="0"/>
                <a:ea typeface="Aptos" pitchFamily="34" charset="-122"/>
                <a:cs typeface="Aptos" pitchFamily="34" charset="-120"/>
              </a:rPr>
              <a:t>And the window to build them well is now.</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0E6"/>
        </a:solidFill>
      </p:bgPr>
    </p:bg>
    <p:spTree>
      <p:nvGrpSpPr>
        <p:cNvPr id="1" name=""/>
        <p:cNvGrpSpPr/>
        <p:nvPr/>
      </p:nvGrpSpPr>
      <p:grpSpPr>
        <a:xfrm>
          <a:off x="0" y="0"/>
          <a:ext cx="0" cy="0"/>
          <a:chOff x="0" y="0"/>
          <a:chExt cx="0" cy="0"/>
        </a:xfrm>
      </p:grpSpPr>
      <p:sp>
        <p:nvSpPr>
          <p:cNvPr id="2" name="Shape 0"/>
          <p:cNvSpPr/>
          <p:nvPr/>
        </p:nvSpPr>
        <p:spPr>
          <a:xfrm>
            <a:off x="0" y="0"/>
            <a:ext cx="12191695" cy="713232"/>
          </a:xfrm>
          <a:prstGeom prst="rect">
            <a:avLst/>
          </a:prstGeom>
          <a:solidFill>
            <a:srgbClr val="173D24"/>
          </a:solidFill>
          <a:ln w="12700">
            <a:solidFill>
              <a:srgbClr val="173D24"/>
            </a:solidFill>
            <a:prstDash val="solid"/>
          </a:ln>
        </p:spPr>
      </p:sp>
      <p:sp>
        <p:nvSpPr>
          <p:cNvPr id="3" name="Text 1"/>
          <p:cNvSpPr/>
          <p:nvPr/>
        </p:nvSpPr>
        <p:spPr>
          <a:xfrm>
            <a:off x="475488" y="146304"/>
            <a:ext cx="1828800" cy="146304"/>
          </a:xfrm>
          <a:prstGeom prst="rect">
            <a:avLst/>
          </a:prstGeom>
          <a:noFill/>
          <a:ln/>
        </p:spPr>
        <p:txBody>
          <a:bodyPr wrap="square" lIns="0" tIns="0" rIns="0" bIns="0" rtlCol="0" anchor="ctr">
            <a:normAutofit/>
          </a:bodyPr>
          <a:lstStyle/>
          <a:p>
            <a:pPr indent="0" marL="0">
              <a:buNone/>
            </a:pPr>
            <a:r>
              <a:rPr lang="en-US" sz="900" b="1" dirty="0">
                <a:solidFill>
                  <a:srgbClr val="C89C3D"/>
                </a:solidFill>
                <a:latin typeface="Aptos" pitchFamily="34" charset="0"/>
                <a:ea typeface="Aptos" pitchFamily="34" charset="-122"/>
                <a:cs typeface="Aptos" pitchFamily="34" charset="-120"/>
              </a:rPr>
              <a:t>SLIDE 6 OF 17</a:t>
            </a:r>
            <a:endParaRPr lang="en-US" sz="900" dirty="0"/>
          </a:p>
        </p:txBody>
      </p:sp>
      <p:sp>
        <p:nvSpPr>
          <p:cNvPr id="4" name="Text 2"/>
          <p:cNvSpPr/>
          <p:nvPr/>
        </p:nvSpPr>
        <p:spPr>
          <a:xfrm>
            <a:off x="475488" y="283464"/>
            <a:ext cx="8138160" cy="237744"/>
          </a:xfrm>
          <a:prstGeom prst="rect">
            <a:avLst/>
          </a:prstGeom>
          <a:noFill/>
          <a:ln/>
        </p:spPr>
        <p:txBody>
          <a:bodyPr wrap="square" lIns="0" tIns="0" rIns="0" bIns="0" rtlCol="0" anchor="ctr">
            <a:normAutofit/>
          </a:bodyPr>
          <a:lstStyle/>
          <a:p>
            <a:pPr indent="0" marL="0">
              <a:buNone/>
            </a:pPr>
            <a:r>
              <a:rPr lang="en-US" sz="2200" b="1" dirty="0">
                <a:solidFill>
                  <a:srgbClr val="FFFFFF"/>
                </a:solidFill>
                <a:latin typeface="Georgia" pitchFamily="34" charset="0"/>
                <a:ea typeface="Georgia" pitchFamily="34" charset="-122"/>
                <a:cs typeface="Georgia" pitchFamily="34" charset="-120"/>
              </a:rPr>
              <a:t>The gap schools do not fill</a:t>
            </a:r>
            <a:endParaRPr lang="en-US" sz="2200" dirty="0"/>
          </a:p>
        </p:txBody>
      </p:sp>
      <p:sp>
        <p:nvSpPr>
          <p:cNvPr id="5" name="Text 3"/>
          <p:cNvSpPr/>
          <p:nvPr/>
        </p:nvSpPr>
        <p:spPr>
          <a:xfrm>
            <a:off x="9006840" y="173736"/>
            <a:ext cx="2697480" cy="146304"/>
          </a:xfrm>
          <a:prstGeom prst="rect">
            <a:avLst/>
          </a:prstGeom>
          <a:noFill/>
          <a:ln/>
        </p:spPr>
        <p:txBody>
          <a:bodyPr wrap="square" lIns="0" tIns="0" rIns="0" bIns="0" rtlCol="0" anchor="ctr">
            <a:normAutofit/>
          </a:bodyPr>
          <a:lstStyle/>
          <a:p>
            <a:pPr algn="r" indent="0" marL="0">
              <a:buNone/>
            </a:pPr>
            <a:r>
              <a:rPr lang="en-US" sz="900" b="1" dirty="0">
                <a:solidFill>
                  <a:srgbClr val="F6F0E6"/>
                </a:solidFill>
                <a:latin typeface="Aptos" pitchFamily="34" charset="0"/>
                <a:ea typeface="Aptos" pitchFamily="34" charset="-122"/>
                <a:cs typeface="Aptos" pitchFamily="34" charset="-120"/>
              </a:rPr>
              <a:t>THE GAP</a:t>
            </a:r>
            <a:endParaRPr lang="en-US" sz="900" dirty="0"/>
          </a:p>
        </p:txBody>
      </p:sp>
      <p:sp>
        <p:nvSpPr>
          <p:cNvPr id="6" name="Shape 4"/>
          <p:cNvSpPr/>
          <p:nvPr/>
        </p:nvSpPr>
        <p:spPr>
          <a:xfrm>
            <a:off x="475488" y="932688"/>
            <a:ext cx="64008" cy="694944"/>
          </a:xfrm>
          <a:prstGeom prst="rect">
            <a:avLst/>
          </a:prstGeom>
          <a:solidFill>
            <a:srgbClr val="C89C3D"/>
          </a:solidFill>
          <a:ln w="12700">
            <a:solidFill>
              <a:srgbClr val="C89C3D"/>
            </a:solidFill>
            <a:prstDash val="solid"/>
          </a:ln>
        </p:spPr>
      </p:sp>
      <p:sp>
        <p:nvSpPr>
          <p:cNvPr id="7" name="Text 5"/>
          <p:cNvSpPr/>
          <p:nvPr/>
        </p:nvSpPr>
        <p:spPr>
          <a:xfrm>
            <a:off x="658368" y="960120"/>
            <a:ext cx="11064240" cy="585216"/>
          </a:xfrm>
          <a:prstGeom prst="rect">
            <a:avLst/>
          </a:prstGeom>
          <a:noFill/>
          <a:ln/>
        </p:spPr>
        <p:txBody>
          <a:bodyPr wrap="square" lIns="0" tIns="0" rIns="0" bIns="0" rtlCol="0" anchor="ctr">
            <a:normAutofit/>
          </a:bodyPr>
          <a:lstStyle/>
          <a:p>
            <a:pPr indent="0" marL="0">
              <a:buNone/>
            </a:pPr>
            <a:r>
              <a:rPr lang="en-US" sz="2400" b="1" dirty="0">
                <a:solidFill>
                  <a:srgbClr val="173D24"/>
                </a:solidFill>
                <a:latin typeface="Georgia" pitchFamily="34" charset="0"/>
                <a:ea typeface="Georgia" pitchFamily="34" charset="-122"/>
                <a:cs typeface="Georgia" pitchFamily="34" charset="-120"/>
              </a:rPr>
              <a:t>Children are trained to achieve. Far fewer are trained in what to do when things get hard.</a:t>
            </a:r>
            <a:endParaRPr lang="en-US" sz="2400" dirty="0"/>
          </a:p>
        </p:txBody>
      </p:sp>
      <p:sp>
        <p:nvSpPr>
          <p:cNvPr id="8" name="Shape 6"/>
          <p:cNvSpPr/>
          <p:nvPr/>
        </p:nvSpPr>
        <p:spPr>
          <a:xfrm>
            <a:off x="658368" y="1773936"/>
            <a:ext cx="5257800" cy="4206240"/>
          </a:xfrm>
          <a:prstGeom prst="roundRect">
            <a:avLst/>
          </a:prstGeom>
          <a:solidFill>
            <a:srgbClr val="FFFFFF"/>
          </a:solidFill>
          <a:ln w="12700">
            <a:solidFill>
              <a:srgbClr val="D2C5AE"/>
            </a:solidFill>
            <a:prstDash val="solid"/>
          </a:ln>
        </p:spPr>
      </p:sp>
      <p:sp>
        <p:nvSpPr>
          <p:cNvPr id="9" name="Shape 7"/>
          <p:cNvSpPr/>
          <p:nvPr/>
        </p:nvSpPr>
        <p:spPr>
          <a:xfrm>
            <a:off x="6263640" y="1773936"/>
            <a:ext cx="5257800" cy="4206240"/>
          </a:xfrm>
          <a:prstGeom prst="roundRect">
            <a:avLst/>
          </a:prstGeom>
          <a:solidFill>
            <a:srgbClr val="173D24"/>
          </a:solidFill>
          <a:ln w="12700">
            <a:solidFill>
              <a:srgbClr val="173D24"/>
            </a:solidFill>
            <a:prstDash val="solid"/>
          </a:ln>
        </p:spPr>
      </p:sp>
      <p:sp>
        <p:nvSpPr>
          <p:cNvPr id="10" name="Text 8"/>
          <p:cNvSpPr/>
          <p:nvPr/>
        </p:nvSpPr>
        <p:spPr>
          <a:xfrm>
            <a:off x="896112" y="1993392"/>
            <a:ext cx="3291840" cy="219456"/>
          </a:xfrm>
          <a:prstGeom prst="rect">
            <a:avLst/>
          </a:prstGeom>
          <a:noFill/>
          <a:ln/>
        </p:spPr>
        <p:txBody>
          <a:bodyPr wrap="square" lIns="508" tIns="508" rIns="508" bIns="508" rtlCol="0" anchor="ctr">
            <a:normAutofit/>
          </a:bodyPr>
          <a:lstStyle/>
          <a:p>
            <a:pPr indent="0" marL="0">
              <a:buNone/>
            </a:pPr>
            <a:r>
              <a:rPr lang="en-US" sz="1800" b="1" dirty="0">
                <a:solidFill>
                  <a:srgbClr val="173D24"/>
                </a:solidFill>
                <a:latin typeface="Georgia" pitchFamily="34" charset="0"/>
                <a:ea typeface="Georgia" pitchFamily="34" charset="-122"/>
                <a:cs typeface="Georgia" pitchFamily="34" charset="-120"/>
              </a:rPr>
              <a:t>What children are taught</a:t>
            </a:r>
            <a:endParaRPr lang="en-US" sz="1800" dirty="0"/>
          </a:p>
        </p:txBody>
      </p:sp>
      <p:sp>
        <p:nvSpPr>
          <p:cNvPr id="11" name="Text 9"/>
          <p:cNvSpPr/>
          <p:nvPr/>
        </p:nvSpPr>
        <p:spPr>
          <a:xfrm>
            <a:off x="6528816" y="1993392"/>
            <a:ext cx="3840480" cy="219456"/>
          </a:xfrm>
          <a:prstGeom prst="rect">
            <a:avLst/>
          </a:prstGeom>
          <a:noFill/>
          <a:ln/>
        </p:spPr>
        <p:txBody>
          <a:bodyPr wrap="square" lIns="508" tIns="508" rIns="508" bIns="508" rtlCol="0" anchor="ctr">
            <a:normAutofit/>
          </a:bodyPr>
          <a:lstStyle/>
          <a:p>
            <a:pPr indent="0" marL="0">
              <a:buNone/>
            </a:pPr>
            <a:r>
              <a:rPr lang="en-US" sz="1800" b="1" dirty="0">
                <a:solidFill>
                  <a:srgbClr val="C89C3D"/>
                </a:solidFill>
                <a:latin typeface="Georgia" pitchFamily="34" charset="0"/>
                <a:ea typeface="Georgia" pitchFamily="34" charset="-122"/>
                <a:cs typeface="Georgia" pitchFamily="34" charset="-120"/>
              </a:rPr>
              <a:t>What children are rarely taught</a:t>
            </a:r>
            <a:endParaRPr lang="en-US" sz="1800" dirty="0"/>
          </a:p>
        </p:txBody>
      </p:sp>
      <p:sp>
        <p:nvSpPr>
          <p:cNvPr id="12" name="Text 10"/>
          <p:cNvSpPr/>
          <p:nvPr/>
        </p:nvSpPr>
        <p:spPr>
          <a:xfrm>
            <a:off x="932688" y="2487168"/>
            <a:ext cx="4572000" cy="2468880"/>
          </a:xfrm>
          <a:prstGeom prst="rect">
            <a:avLst/>
          </a:prstGeom>
          <a:noFill/>
          <a:ln/>
        </p:spPr>
        <p:txBody>
          <a:bodyPr wrap="square" lIns="508" tIns="508" rIns="508" bIns="508" rtlCol="0" anchor="ctr">
            <a:normAutofit/>
          </a:bodyPr>
          <a:lstStyle/>
          <a:p>
            <a:pPr indent="0" marL="0">
              <a:buNone/>
            </a:pPr>
            <a:r>
              <a:rPr lang="en-US" sz="1600" dirty="0">
                <a:solidFill>
                  <a:srgbClr val="203128"/>
                </a:solidFill>
                <a:latin typeface="Aptos" pitchFamily="34" charset="0"/>
                <a:ea typeface="Aptos" pitchFamily="34" charset="-122"/>
                <a:cs typeface="Aptos" pitchFamily="34" charset="-120"/>
              </a:rPr>
              <a:t>• Content</a:t>
            </a:r>
            <a:endParaRPr lang="en-US" sz="1600" dirty="0"/>
          </a:p>
          <a:p>
            <a:pPr indent="0" marL="0">
              <a:buNone/>
            </a:pPr>
            <a:r>
              <a:rPr lang="en-US" sz="1600" dirty="0">
                <a:solidFill>
                  <a:srgbClr val="203128"/>
                </a:solidFill>
                <a:latin typeface="Aptos" pitchFamily="34" charset="0"/>
                <a:ea typeface="Aptos" pitchFamily="34" charset="-122"/>
                <a:cs typeface="Aptos" pitchFamily="34" charset="-120"/>
              </a:rPr>
              <a:t>• Performance</a:t>
            </a:r>
            <a:endParaRPr lang="en-US" sz="1600" dirty="0"/>
          </a:p>
          <a:p>
            <a:pPr indent="0" marL="0">
              <a:buNone/>
            </a:pPr>
            <a:r>
              <a:rPr lang="en-US" sz="1600" dirty="0">
                <a:solidFill>
                  <a:srgbClr val="203128"/>
                </a:solidFill>
                <a:latin typeface="Aptos" pitchFamily="34" charset="0"/>
                <a:ea typeface="Aptos" pitchFamily="34" charset="-122"/>
                <a:cs typeface="Aptos" pitchFamily="34" charset="-120"/>
              </a:rPr>
              <a:t>• Competition</a:t>
            </a:r>
            <a:endParaRPr lang="en-US" sz="1600" dirty="0"/>
          </a:p>
          <a:p>
            <a:pPr indent="0" marL="0">
              <a:buNone/>
            </a:pPr>
            <a:r>
              <a:rPr lang="en-US" sz="1600" dirty="0">
                <a:solidFill>
                  <a:srgbClr val="203128"/>
                </a:solidFill>
                <a:latin typeface="Aptos" pitchFamily="34" charset="0"/>
                <a:ea typeface="Aptos" pitchFamily="34" charset="-122"/>
                <a:cs typeface="Aptos" pitchFamily="34" charset="-120"/>
              </a:rPr>
              <a:t>• Achievement</a:t>
            </a:r>
            <a:endParaRPr lang="en-US" sz="1600" dirty="0"/>
          </a:p>
          <a:p>
            <a:pPr indent="0" marL="0">
              <a:buNone/>
            </a:pPr>
            <a:r>
              <a:rPr lang="en-US" sz="1600" dirty="0">
                <a:solidFill>
                  <a:srgbClr val="203128"/>
                </a:solidFill>
                <a:latin typeface="Aptos" pitchFamily="34" charset="0"/>
                <a:ea typeface="Aptos" pitchFamily="34" charset="-122"/>
                <a:cs typeface="Aptos" pitchFamily="34" charset="-120"/>
              </a:rPr>
              <a:t>• Following systems</a:t>
            </a:r>
            <a:endParaRPr lang="en-US" sz="1600" dirty="0"/>
          </a:p>
        </p:txBody>
      </p:sp>
      <p:sp>
        <p:nvSpPr>
          <p:cNvPr id="13" name="Text 11"/>
          <p:cNvSpPr/>
          <p:nvPr/>
        </p:nvSpPr>
        <p:spPr>
          <a:xfrm>
            <a:off x="6565392" y="2487168"/>
            <a:ext cx="4572000" cy="2743200"/>
          </a:xfrm>
          <a:prstGeom prst="rect">
            <a:avLst/>
          </a:prstGeom>
          <a:noFill/>
          <a:ln/>
        </p:spPr>
        <p:txBody>
          <a:bodyPr wrap="square" lIns="508" tIns="508" rIns="508" bIns="508" rtlCol="0" anchor="ctr">
            <a:normAutofit/>
          </a:bodyPr>
          <a:lstStyle/>
          <a:p>
            <a:pPr indent="0" marL="0">
              <a:buNone/>
            </a:pPr>
            <a:r>
              <a:rPr lang="en-US" sz="1500" dirty="0">
                <a:solidFill>
                  <a:srgbClr val="FFFFFF"/>
                </a:solidFill>
                <a:latin typeface="Aptos" pitchFamily="34" charset="0"/>
                <a:ea typeface="Aptos" pitchFamily="34" charset="-122"/>
                <a:cs typeface="Aptos" pitchFamily="34" charset="-120"/>
              </a:rPr>
              <a:t>• How to recover after a mistake</a:t>
            </a:r>
            <a:endParaRPr lang="en-US" sz="1500" dirty="0"/>
          </a:p>
          <a:p>
            <a:pPr indent="0" marL="0">
              <a:buNone/>
            </a:pPr>
            <a:r>
              <a:rPr lang="en-US" sz="1500" dirty="0">
                <a:solidFill>
                  <a:srgbClr val="FFFFFF"/>
                </a:solidFill>
                <a:latin typeface="Aptos" pitchFamily="34" charset="0"/>
                <a:ea typeface="Aptos" pitchFamily="34" charset="-122"/>
                <a:cs typeface="Aptos" pitchFamily="34" charset="-120"/>
              </a:rPr>
              <a:t>• How to stay steady under pressure</a:t>
            </a:r>
            <a:endParaRPr lang="en-US" sz="1500" dirty="0"/>
          </a:p>
          <a:p>
            <a:pPr indent="0" marL="0">
              <a:buNone/>
            </a:pPr>
            <a:r>
              <a:rPr lang="en-US" sz="1500" dirty="0">
                <a:solidFill>
                  <a:srgbClr val="FFFFFF"/>
                </a:solidFill>
                <a:latin typeface="Aptos" pitchFamily="34" charset="0"/>
                <a:ea typeface="Aptos" pitchFamily="34" charset="-122"/>
                <a:cs typeface="Aptos" pitchFamily="34" charset="-120"/>
              </a:rPr>
              <a:t>• How to respond to frustration constructively</a:t>
            </a:r>
            <a:endParaRPr lang="en-US" sz="1500" dirty="0"/>
          </a:p>
          <a:p>
            <a:pPr indent="0" marL="0">
              <a:buNone/>
            </a:pPr>
            <a:r>
              <a:rPr lang="en-US" sz="1500" dirty="0">
                <a:solidFill>
                  <a:srgbClr val="FFFFFF"/>
                </a:solidFill>
                <a:latin typeface="Aptos" pitchFamily="34" charset="0"/>
                <a:ea typeface="Aptos" pitchFamily="34" charset="-122"/>
                <a:cs typeface="Aptos" pitchFamily="34" charset="-120"/>
              </a:rPr>
              <a:t>• How to work with self-doubt</a:t>
            </a:r>
            <a:endParaRPr lang="en-US" sz="1500" dirty="0"/>
          </a:p>
          <a:p>
            <a:pPr indent="0" marL="0">
              <a:buNone/>
            </a:pPr>
            <a:r>
              <a:rPr lang="en-US" sz="1500" dirty="0">
                <a:solidFill>
                  <a:srgbClr val="FFFFFF"/>
                </a:solidFill>
                <a:latin typeface="Aptos" pitchFamily="34" charset="0"/>
                <a:ea typeface="Aptos" pitchFamily="34" charset="-122"/>
                <a:cs typeface="Aptos" pitchFamily="34" charset="-120"/>
              </a:rPr>
              <a:t>• How to keep going when confidence drops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0E6"/>
        </a:solidFill>
      </p:bgPr>
    </p:bg>
    <p:spTree>
      <p:nvGrpSpPr>
        <p:cNvPr id="1" name=""/>
        <p:cNvGrpSpPr/>
        <p:nvPr/>
      </p:nvGrpSpPr>
      <p:grpSpPr>
        <a:xfrm>
          <a:off x="0" y="0"/>
          <a:ext cx="0" cy="0"/>
          <a:chOff x="0" y="0"/>
          <a:chExt cx="0" cy="0"/>
        </a:xfrm>
      </p:grpSpPr>
      <p:sp>
        <p:nvSpPr>
          <p:cNvPr id="2" name="Shape 0"/>
          <p:cNvSpPr/>
          <p:nvPr/>
        </p:nvSpPr>
        <p:spPr>
          <a:xfrm>
            <a:off x="0" y="0"/>
            <a:ext cx="12191695" cy="713232"/>
          </a:xfrm>
          <a:prstGeom prst="rect">
            <a:avLst/>
          </a:prstGeom>
          <a:solidFill>
            <a:srgbClr val="173D24"/>
          </a:solidFill>
          <a:ln w="12700">
            <a:solidFill>
              <a:srgbClr val="173D24"/>
            </a:solidFill>
            <a:prstDash val="solid"/>
          </a:ln>
        </p:spPr>
      </p:sp>
      <p:sp>
        <p:nvSpPr>
          <p:cNvPr id="3" name="Text 1"/>
          <p:cNvSpPr/>
          <p:nvPr/>
        </p:nvSpPr>
        <p:spPr>
          <a:xfrm>
            <a:off x="475488" y="146304"/>
            <a:ext cx="1828800" cy="146304"/>
          </a:xfrm>
          <a:prstGeom prst="rect">
            <a:avLst/>
          </a:prstGeom>
          <a:noFill/>
          <a:ln/>
        </p:spPr>
        <p:txBody>
          <a:bodyPr wrap="square" lIns="0" tIns="0" rIns="0" bIns="0" rtlCol="0" anchor="ctr">
            <a:normAutofit/>
          </a:bodyPr>
          <a:lstStyle/>
          <a:p>
            <a:pPr indent="0" marL="0">
              <a:buNone/>
            </a:pPr>
            <a:r>
              <a:rPr lang="en-US" sz="900" b="1" dirty="0">
                <a:solidFill>
                  <a:srgbClr val="C89C3D"/>
                </a:solidFill>
                <a:latin typeface="Aptos" pitchFamily="34" charset="0"/>
                <a:ea typeface="Aptos" pitchFamily="34" charset="-122"/>
                <a:cs typeface="Aptos" pitchFamily="34" charset="-120"/>
              </a:rPr>
              <a:t>SLIDE 7 OF 17</a:t>
            </a:r>
            <a:endParaRPr lang="en-US" sz="900" dirty="0"/>
          </a:p>
        </p:txBody>
      </p:sp>
      <p:sp>
        <p:nvSpPr>
          <p:cNvPr id="4" name="Text 2"/>
          <p:cNvSpPr/>
          <p:nvPr/>
        </p:nvSpPr>
        <p:spPr>
          <a:xfrm>
            <a:off x="475488" y="283464"/>
            <a:ext cx="8138160" cy="237744"/>
          </a:xfrm>
          <a:prstGeom prst="rect">
            <a:avLst/>
          </a:prstGeom>
          <a:noFill/>
          <a:ln/>
        </p:spPr>
        <p:txBody>
          <a:bodyPr wrap="square" lIns="0" tIns="0" rIns="0" bIns="0" rtlCol="0" anchor="ctr">
            <a:normAutofit/>
          </a:bodyPr>
          <a:lstStyle/>
          <a:p>
            <a:pPr indent="0" marL="0">
              <a:buNone/>
            </a:pPr>
            <a:r>
              <a:rPr lang="en-US" sz="2200" b="1" dirty="0">
                <a:solidFill>
                  <a:srgbClr val="FFFFFF"/>
                </a:solidFill>
                <a:latin typeface="Georgia" pitchFamily="34" charset="0"/>
                <a:ea typeface="Georgia" pitchFamily="34" charset="-122"/>
                <a:cs typeface="Georgia" pitchFamily="34" charset="-120"/>
              </a:rPr>
              <a:t>Why childhood is the window</a:t>
            </a:r>
            <a:endParaRPr lang="en-US" sz="2200" dirty="0"/>
          </a:p>
        </p:txBody>
      </p:sp>
      <p:sp>
        <p:nvSpPr>
          <p:cNvPr id="5" name="Text 3"/>
          <p:cNvSpPr/>
          <p:nvPr/>
        </p:nvSpPr>
        <p:spPr>
          <a:xfrm>
            <a:off x="9006840" y="173736"/>
            <a:ext cx="2697480" cy="146304"/>
          </a:xfrm>
          <a:prstGeom prst="rect">
            <a:avLst/>
          </a:prstGeom>
          <a:noFill/>
          <a:ln/>
        </p:spPr>
        <p:txBody>
          <a:bodyPr wrap="square" lIns="0" tIns="0" rIns="0" bIns="0" rtlCol="0" anchor="ctr">
            <a:normAutofit/>
          </a:bodyPr>
          <a:lstStyle/>
          <a:p>
            <a:pPr algn="r" indent="0" marL="0">
              <a:buNone/>
            </a:pPr>
            <a:r>
              <a:rPr lang="en-US" sz="900" b="1" dirty="0">
                <a:solidFill>
                  <a:srgbClr val="F6F0E6"/>
                </a:solidFill>
                <a:latin typeface="Aptos" pitchFamily="34" charset="0"/>
                <a:ea typeface="Aptos" pitchFamily="34" charset="-122"/>
                <a:cs typeface="Aptos" pitchFamily="34" charset="-120"/>
              </a:rPr>
              <a:t>WHY NOW</a:t>
            </a:r>
            <a:endParaRPr lang="en-US" sz="900" dirty="0"/>
          </a:p>
        </p:txBody>
      </p:sp>
      <p:sp>
        <p:nvSpPr>
          <p:cNvPr id="6" name="Shape 4"/>
          <p:cNvSpPr/>
          <p:nvPr/>
        </p:nvSpPr>
        <p:spPr>
          <a:xfrm>
            <a:off x="475488" y="932688"/>
            <a:ext cx="64008" cy="694944"/>
          </a:xfrm>
          <a:prstGeom prst="rect">
            <a:avLst/>
          </a:prstGeom>
          <a:solidFill>
            <a:srgbClr val="C89C3D"/>
          </a:solidFill>
          <a:ln w="12700">
            <a:solidFill>
              <a:srgbClr val="C89C3D"/>
            </a:solidFill>
            <a:prstDash val="solid"/>
          </a:ln>
        </p:spPr>
      </p:sp>
      <p:sp>
        <p:nvSpPr>
          <p:cNvPr id="7" name="Text 5"/>
          <p:cNvSpPr/>
          <p:nvPr/>
        </p:nvSpPr>
        <p:spPr>
          <a:xfrm>
            <a:off x="658368" y="960120"/>
            <a:ext cx="11064240" cy="585216"/>
          </a:xfrm>
          <a:prstGeom prst="rect">
            <a:avLst/>
          </a:prstGeom>
          <a:noFill/>
          <a:ln/>
        </p:spPr>
        <p:txBody>
          <a:bodyPr wrap="square" lIns="0" tIns="0" rIns="0" bIns="0" rtlCol="0" anchor="ctr">
            <a:normAutofit/>
          </a:bodyPr>
          <a:lstStyle/>
          <a:p>
            <a:pPr indent="0" marL="0">
              <a:buNone/>
            </a:pPr>
            <a:r>
              <a:rPr lang="en-US" sz="2400" b="1" dirty="0">
                <a:solidFill>
                  <a:srgbClr val="173D24"/>
                </a:solidFill>
                <a:latin typeface="Georgia" pitchFamily="34" charset="0"/>
                <a:ea typeface="Georgia" pitchFamily="34" charset="-122"/>
                <a:cs typeface="Georgia" pitchFamily="34" charset="-120"/>
              </a:rPr>
              <a:t>The best time to build these skills is now — before the patterns harden.</a:t>
            </a:r>
            <a:endParaRPr lang="en-US" sz="2400" dirty="0"/>
          </a:p>
        </p:txBody>
      </p:sp>
      <p:sp>
        <p:nvSpPr>
          <p:cNvPr id="8" name="Shape 6"/>
          <p:cNvSpPr/>
          <p:nvPr/>
        </p:nvSpPr>
        <p:spPr>
          <a:xfrm>
            <a:off x="713232" y="1847088"/>
            <a:ext cx="3182112" cy="2907792"/>
          </a:xfrm>
          <a:prstGeom prst="roundRect">
            <a:avLst/>
          </a:prstGeom>
          <a:solidFill>
            <a:srgbClr val="FFFFFF"/>
          </a:solidFill>
          <a:ln w="12700">
            <a:solidFill>
              <a:srgbClr val="D2C5AE"/>
            </a:solidFill>
            <a:prstDash val="solid"/>
          </a:ln>
        </p:spPr>
      </p:sp>
      <p:sp>
        <p:nvSpPr>
          <p:cNvPr id="9" name="Shape 7"/>
          <p:cNvSpPr/>
          <p:nvPr/>
        </p:nvSpPr>
        <p:spPr>
          <a:xfrm>
            <a:off x="1975104" y="1993392"/>
            <a:ext cx="658368" cy="310896"/>
          </a:xfrm>
          <a:prstGeom prst="roundRect">
            <a:avLst/>
          </a:prstGeom>
          <a:solidFill>
            <a:srgbClr val="C89C3D"/>
          </a:solidFill>
          <a:ln w="12700">
            <a:solidFill>
              <a:srgbClr val="C89C3D"/>
            </a:solidFill>
            <a:prstDash val="solid"/>
          </a:ln>
        </p:spPr>
      </p:sp>
      <p:sp>
        <p:nvSpPr>
          <p:cNvPr id="10" name="Text 8"/>
          <p:cNvSpPr/>
          <p:nvPr/>
        </p:nvSpPr>
        <p:spPr>
          <a:xfrm>
            <a:off x="2048256" y="2048256"/>
            <a:ext cx="512064" cy="219456"/>
          </a:xfrm>
          <a:prstGeom prst="rect">
            <a:avLst/>
          </a:prstGeom>
          <a:noFill/>
          <a:ln/>
        </p:spPr>
        <p:txBody>
          <a:bodyPr wrap="square" lIns="0" tIns="0" rIns="0" bIns="0" rtlCol="0" anchor="ctr">
            <a:normAutofit/>
          </a:bodyPr>
          <a:lstStyle/>
          <a:p>
            <a:pPr algn="ctr" indent="0" marL="0">
              <a:buNone/>
            </a:pPr>
            <a:r>
              <a:rPr lang="en-US" sz="1050" b="1" dirty="0">
                <a:solidFill>
                  <a:srgbClr val="173D24"/>
                </a:solidFill>
                <a:latin typeface="Aptos" pitchFamily="34" charset="0"/>
                <a:ea typeface="Aptos" pitchFamily="34" charset="-122"/>
                <a:cs typeface="Aptos" pitchFamily="34" charset="-120"/>
              </a:rPr>
              <a:t>1</a:t>
            </a:r>
            <a:endParaRPr lang="en-US" sz="1050" dirty="0"/>
          </a:p>
        </p:txBody>
      </p:sp>
      <p:sp>
        <p:nvSpPr>
          <p:cNvPr id="11" name="Text 9"/>
          <p:cNvSpPr/>
          <p:nvPr/>
        </p:nvSpPr>
        <p:spPr>
          <a:xfrm>
            <a:off x="859536" y="2505456"/>
            <a:ext cx="2889504" cy="493776"/>
          </a:xfrm>
          <a:prstGeom prst="rect">
            <a:avLst/>
          </a:prstGeom>
          <a:noFill/>
          <a:ln/>
        </p:spPr>
        <p:txBody>
          <a:bodyPr wrap="square" lIns="508" tIns="508" rIns="508" bIns="508" rtlCol="0" anchor="ctr">
            <a:normAutofit/>
          </a:bodyPr>
          <a:lstStyle/>
          <a:p>
            <a:pPr algn="ctr" indent="0" marL="0">
              <a:buNone/>
            </a:pPr>
            <a:r>
              <a:rPr lang="en-US" sz="1700" b="1" dirty="0">
                <a:solidFill>
                  <a:srgbClr val="173D24"/>
                </a:solidFill>
                <a:latin typeface="Georgia" pitchFamily="34" charset="0"/>
                <a:ea typeface="Georgia" pitchFamily="34" charset="-122"/>
                <a:cs typeface="Georgia" pitchFamily="34" charset="-120"/>
              </a:rPr>
              <a:t>The brain is especially shaped early</a:t>
            </a:r>
            <a:endParaRPr lang="en-US" sz="1700" dirty="0"/>
          </a:p>
        </p:txBody>
      </p:sp>
      <p:sp>
        <p:nvSpPr>
          <p:cNvPr id="12" name="Text 10"/>
          <p:cNvSpPr/>
          <p:nvPr/>
        </p:nvSpPr>
        <p:spPr>
          <a:xfrm>
            <a:off x="896112" y="3255264"/>
            <a:ext cx="2816352" cy="896112"/>
          </a:xfrm>
          <a:prstGeom prst="rect">
            <a:avLst/>
          </a:prstGeom>
          <a:noFill/>
          <a:ln/>
        </p:spPr>
        <p:txBody>
          <a:bodyPr wrap="square" lIns="508" tIns="508" rIns="508" bIns="508" rtlCol="0" anchor="ctr">
            <a:normAutofit/>
          </a:bodyPr>
          <a:lstStyle/>
          <a:p>
            <a:pPr algn="ctr" indent="0" marL="0">
              <a:buNone/>
            </a:pPr>
            <a:r>
              <a:rPr lang="en-US" sz="1300" dirty="0">
                <a:solidFill>
                  <a:srgbClr val="203128"/>
                </a:solidFill>
                <a:latin typeface="Aptos" pitchFamily="34" charset="0"/>
                <a:ea typeface="Aptos" pitchFamily="34" charset="-122"/>
                <a:cs typeface="Aptos" pitchFamily="34" charset="-120"/>
              </a:rPr>
              <a:t>Early experiences help build brain architecture, and timing matters when patterns are taking hold.</a:t>
            </a:r>
            <a:endParaRPr lang="en-US" sz="1300" dirty="0"/>
          </a:p>
        </p:txBody>
      </p:sp>
      <p:sp>
        <p:nvSpPr>
          <p:cNvPr id="13" name="Shape 11"/>
          <p:cNvSpPr/>
          <p:nvPr/>
        </p:nvSpPr>
        <p:spPr>
          <a:xfrm>
            <a:off x="4489704" y="1847088"/>
            <a:ext cx="3182112" cy="2907792"/>
          </a:xfrm>
          <a:prstGeom prst="roundRect">
            <a:avLst/>
          </a:prstGeom>
          <a:solidFill>
            <a:srgbClr val="FBF8F3"/>
          </a:solidFill>
          <a:ln w="12700">
            <a:solidFill>
              <a:srgbClr val="D2C5AE"/>
            </a:solidFill>
            <a:prstDash val="solid"/>
          </a:ln>
        </p:spPr>
      </p:sp>
      <p:sp>
        <p:nvSpPr>
          <p:cNvPr id="14" name="Shape 12"/>
          <p:cNvSpPr/>
          <p:nvPr/>
        </p:nvSpPr>
        <p:spPr>
          <a:xfrm>
            <a:off x="5751576" y="1993392"/>
            <a:ext cx="658368" cy="310896"/>
          </a:xfrm>
          <a:prstGeom prst="roundRect">
            <a:avLst/>
          </a:prstGeom>
          <a:solidFill>
            <a:srgbClr val="C89C3D"/>
          </a:solidFill>
          <a:ln w="12700">
            <a:solidFill>
              <a:srgbClr val="C89C3D"/>
            </a:solidFill>
            <a:prstDash val="solid"/>
          </a:ln>
        </p:spPr>
      </p:sp>
      <p:sp>
        <p:nvSpPr>
          <p:cNvPr id="15" name="Text 13"/>
          <p:cNvSpPr/>
          <p:nvPr/>
        </p:nvSpPr>
        <p:spPr>
          <a:xfrm>
            <a:off x="5824728" y="2048256"/>
            <a:ext cx="512064" cy="219456"/>
          </a:xfrm>
          <a:prstGeom prst="rect">
            <a:avLst/>
          </a:prstGeom>
          <a:noFill/>
          <a:ln/>
        </p:spPr>
        <p:txBody>
          <a:bodyPr wrap="square" lIns="0" tIns="0" rIns="0" bIns="0" rtlCol="0" anchor="ctr">
            <a:normAutofit/>
          </a:bodyPr>
          <a:lstStyle/>
          <a:p>
            <a:pPr algn="ctr" indent="0" marL="0">
              <a:buNone/>
            </a:pPr>
            <a:r>
              <a:rPr lang="en-US" sz="1050" b="1" dirty="0">
                <a:solidFill>
                  <a:srgbClr val="173D24"/>
                </a:solidFill>
                <a:latin typeface="Aptos" pitchFamily="34" charset="0"/>
                <a:ea typeface="Aptos" pitchFamily="34" charset="-122"/>
                <a:cs typeface="Aptos" pitchFamily="34" charset="-120"/>
              </a:rPr>
              <a:t>2</a:t>
            </a:r>
            <a:endParaRPr lang="en-US" sz="1050" dirty="0"/>
          </a:p>
        </p:txBody>
      </p:sp>
      <p:sp>
        <p:nvSpPr>
          <p:cNvPr id="16" name="Text 14"/>
          <p:cNvSpPr/>
          <p:nvPr/>
        </p:nvSpPr>
        <p:spPr>
          <a:xfrm>
            <a:off x="4636008" y="2505456"/>
            <a:ext cx="2889504" cy="493776"/>
          </a:xfrm>
          <a:prstGeom prst="rect">
            <a:avLst/>
          </a:prstGeom>
          <a:noFill/>
          <a:ln/>
        </p:spPr>
        <p:txBody>
          <a:bodyPr wrap="square" lIns="508" tIns="508" rIns="508" bIns="508" rtlCol="0" anchor="ctr">
            <a:normAutofit/>
          </a:bodyPr>
          <a:lstStyle/>
          <a:p>
            <a:pPr algn="ctr" indent="0" marL="0">
              <a:buNone/>
            </a:pPr>
            <a:r>
              <a:rPr lang="en-US" sz="1700" b="1" dirty="0">
                <a:solidFill>
                  <a:srgbClr val="173D24"/>
                </a:solidFill>
                <a:latin typeface="Georgia" pitchFamily="34" charset="0"/>
                <a:ea typeface="Georgia" pitchFamily="34" charset="-122"/>
                <a:cs typeface="Georgia" pitchFamily="34" charset="-120"/>
              </a:rPr>
              <a:t>Stress reduces clear thinking</a:t>
            </a:r>
            <a:endParaRPr lang="en-US" sz="1700" dirty="0"/>
          </a:p>
        </p:txBody>
      </p:sp>
      <p:sp>
        <p:nvSpPr>
          <p:cNvPr id="17" name="Text 15"/>
          <p:cNvSpPr/>
          <p:nvPr/>
        </p:nvSpPr>
        <p:spPr>
          <a:xfrm>
            <a:off x="4672584" y="3255264"/>
            <a:ext cx="2816352" cy="896112"/>
          </a:xfrm>
          <a:prstGeom prst="rect">
            <a:avLst/>
          </a:prstGeom>
          <a:noFill/>
          <a:ln/>
        </p:spPr>
        <p:txBody>
          <a:bodyPr wrap="square" lIns="508" tIns="508" rIns="508" bIns="508" rtlCol="0" anchor="ctr">
            <a:normAutofit/>
          </a:bodyPr>
          <a:lstStyle/>
          <a:p>
            <a:pPr algn="ctr" indent="0" marL="0">
              <a:buNone/>
            </a:pPr>
            <a:r>
              <a:rPr lang="en-US" sz="1300" dirty="0">
                <a:solidFill>
                  <a:srgbClr val="203128"/>
                </a:solidFill>
                <a:latin typeface="Aptos" pitchFamily="34" charset="0"/>
                <a:ea typeface="Aptos" pitchFamily="34" charset="-122"/>
                <a:cs typeface="Aptos" pitchFamily="34" charset="-120"/>
              </a:rPr>
              <a:t>When children are in a stress response, focus, memory, and decision-making become less reliable.</a:t>
            </a:r>
            <a:endParaRPr lang="en-US" sz="1300" dirty="0"/>
          </a:p>
        </p:txBody>
      </p:sp>
      <p:sp>
        <p:nvSpPr>
          <p:cNvPr id="18" name="Shape 16"/>
          <p:cNvSpPr/>
          <p:nvPr/>
        </p:nvSpPr>
        <p:spPr>
          <a:xfrm>
            <a:off x="8266176" y="1847088"/>
            <a:ext cx="3182112" cy="2907792"/>
          </a:xfrm>
          <a:prstGeom prst="roundRect">
            <a:avLst/>
          </a:prstGeom>
          <a:solidFill>
            <a:srgbClr val="FFFFFF"/>
          </a:solidFill>
          <a:ln w="12700">
            <a:solidFill>
              <a:srgbClr val="D2C5AE"/>
            </a:solidFill>
            <a:prstDash val="solid"/>
          </a:ln>
        </p:spPr>
      </p:sp>
      <p:sp>
        <p:nvSpPr>
          <p:cNvPr id="19" name="Shape 17"/>
          <p:cNvSpPr/>
          <p:nvPr/>
        </p:nvSpPr>
        <p:spPr>
          <a:xfrm>
            <a:off x="9528048" y="1993392"/>
            <a:ext cx="658368" cy="310896"/>
          </a:xfrm>
          <a:prstGeom prst="roundRect">
            <a:avLst/>
          </a:prstGeom>
          <a:solidFill>
            <a:srgbClr val="C89C3D"/>
          </a:solidFill>
          <a:ln w="12700">
            <a:solidFill>
              <a:srgbClr val="C89C3D"/>
            </a:solidFill>
            <a:prstDash val="solid"/>
          </a:ln>
        </p:spPr>
      </p:sp>
      <p:sp>
        <p:nvSpPr>
          <p:cNvPr id="20" name="Text 18"/>
          <p:cNvSpPr/>
          <p:nvPr/>
        </p:nvSpPr>
        <p:spPr>
          <a:xfrm>
            <a:off x="9601200" y="2048256"/>
            <a:ext cx="512064" cy="219456"/>
          </a:xfrm>
          <a:prstGeom prst="rect">
            <a:avLst/>
          </a:prstGeom>
          <a:noFill/>
          <a:ln/>
        </p:spPr>
        <p:txBody>
          <a:bodyPr wrap="square" lIns="0" tIns="0" rIns="0" bIns="0" rtlCol="0" anchor="ctr">
            <a:normAutofit/>
          </a:bodyPr>
          <a:lstStyle/>
          <a:p>
            <a:pPr algn="ctr" indent="0" marL="0">
              <a:buNone/>
            </a:pPr>
            <a:r>
              <a:rPr lang="en-US" sz="1050" b="1" dirty="0">
                <a:solidFill>
                  <a:srgbClr val="173D24"/>
                </a:solidFill>
                <a:latin typeface="Aptos" pitchFamily="34" charset="0"/>
                <a:ea typeface="Aptos" pitchFamily="34" charset="-122"/>
                <a:cs typeface="Aptos" pitchFamily="34" charset="-120"/>
              </a:rPr>
              <a:t>3</a:t>
            </a:r>
            <a:endParaRPr lang="en-US" sz="1050" dirty="0"/>
          </a:p>
        </p:txBody>
      </p:sp>
      <p:sp>
        <p:nvSpPr>
          <p:cNvPr id="21" name="Text 19"/>
          <p:cNvSpPr/>
          <p:nvPr/>
        </p:nvSpPr>
        <p:spPr>
          <a:xfrm>
            <a:off x="8412480" y="2505456"/>
            <a:ext cx="2889504" cy="493776"/>
          </a:xfrm>
          <a:prstGeom prst="rect">
            <a:avLst/>
          </a:prstGeom>
          <a:noFill/>
          <a:ln/>
        </p:spPr>
        <p:txBody>
          <a:bodyPr wrap="square" lIns="508" tIns="508" rIns="508" bIns="508" rtlCol="0" anchor="ctr">
            <a:normAutofit/>
          </a:bodyPr>
          <a:lstStyle/>
          <a:p>
            <a:pPr algn="ctr" indent="0" marL="0">
              <a:buNone/>
            </a:pPr>
            <a:r>
              <a:rPr lang="en-US" sz="1700" b="1" dirty="0">
                <a:solidFill>
                  <a:srgbClr val="173D24"/>
                </a:solidFill>
                <a:latin typeface="Georgia" pitchFamily="34" charset="0"/>
                <a:ea typeface="Georgia" pitchFamily="34" charset="-122"/>
                <a:cs typeface="Georgia" pitchFamily="34" charset="-120"/>
              </a:rPr>
              <a:t>Emotion regulation can be taught</a:t>
            </a:r>
            <a:endParaRPr lang="en-US" sz="1700" dirty="0"/>
          </a:p>
        </p:txBody>
      </p:sp>
      <p:sp>
        <p:nvSpPr>
          <p:cNvPr id="22" name="Text 20"/>
          <p:cNvSpPr/>
          <p:nvPr/>
        </p:nvSpPr>
        <p:spPr>
          <a:xfrm>
            <a:off x="8449056" y="3255264"/>
            <a:ext cx="2816352" cy="896112"/>
          </a:xfrm>
          <a:prstGeom prst="rect">
            <a:avLst/>
          </a:prstGeom>
          <a:noFill/>
          <a:ln/>
        </p:spPr>
        <p:txBody>
          <a:bodyPr wrap="square" lIns="508" tIns="508" rIns="508" bIns="508" rtlCol="0" anchor="ctr">
            <a:normAutofit/>
          </a:bodyPr>
          <a:lstStyle/>
          <a:p>
            <a:pPr algn="ctr" indent="0" marL="0">
              <a:buNone/>
            </a:pPr>
            <a:r>
              <a:rPr lang="en-US" sz="1300" dirty="0">
                <a:solidFill>
                  <a:srgbClr val="203128"/>
                </a:solidFill>
                <a:latin typeface="Aptos" pitchFamily="34" charset="0"/>
                <a:ea typeface="Aptos" pitchFamily="34" charset="-122"/>
                <a:cs typeface="Aptos" pitchFamily="34" charset="-120"/>
              </a:rPr>
              <a:t>Children can learn steadier responses, and those skills support academic, social, and long-term well-being.</a:t>
            </a:r>
            <a:endParaRPr lang="en-US" sz="1300" dirty="0"/>
          </a:p>
        </p:txBody>
      </p:sp>
      <p:sp>
        <p:nvSpPr>
          <p:cNvPr id="23" name="Shape 21"/>
          <p:cNvSpPr/>
          <p:nvPr/>
        </p:nvSpPr>
        <p:spPr>
          <a:xfrm>
            <a:off x="1152144" y="5248656"/>
            <a:ext cx="9857232" cy="658368"/>
          </a:xfrm>
          <a:prstGeom prst="roundRect">
            <a:avLst/>
          </a:prstGeom>
          <a:solidFill>
            <a:srgbClr val="173D24"/>
          </a:solidFill>
          <a:ln w="12700">
            <a:solidFill>
              <a:srgbClr val="173D24"/>
            </a:solidFill>
            <a:prstDash val="solid"/>
          </a:ln>
        </p:spPr>
      </p:sp>
      <p:sp>
        <p:nvSpPr>
          <p:cNvPr id="24" name="Text 22"/>
          <p:cNvSpPr/>
          <p:nvPr/>
        </p:nvSpPr>
        <p:spPr>
          <a:xfrm>
            <a:off x="1371600" y="5449824"/>
            <a:ext cx="9418320" cy="201168"/>
          </a:xfrm>
          <a:prstGeom prst="rect">
            <a:avLst/>
          </a:prstGeom>
          <a:noFill/>
          <a:ln/>
        </p:spPr>
        <p:txBody>
          <a:bodyPr wrap="square" lIns="0" tIns="0" rIns="0" bIns="0" rtlCol="0" anchor="ctr">
            <a:normAutofit/>
          </a:bodyPr>
          <a:lstStyle/>
          <a:p>
            <a:pPr algn="ctr" indent="0" marL="0">
              <a:buNone/>
            </a:pPr>
            <a:r>
              <a:rPr lang="en-US" sz="1600" b="1" dirty="0">
                <a:solidFill>
                  <a:srgbClr val="C89C3D"/>
                </a:solidFill>
                <a:latin typeface="Georgia" pitchFamily="34" charset="0"/>
                <a:ea typeface="Georgia" pitchFamily="34" charset="-122"/>
                <a:cs typeface="Georgia" pitchFamily="34" charset="-120"/>
              </a:rPr>
              <a:t>This is not crisis intervention. It is an investment at exactly the right time.</a:t>
            </a:r>
            <a:endParaRPr lang="en-US" sz="1600" dirty="0"/>
          </a:p>
        </p:txBody>
      </p:sp>
      <p:sp>
        <p:nvSpPr>
          <p:cNvPr id="25" name="Text 23"/>
          <p:cNvSpPr/>
          <p:nvPr/>
        </p:nvSpPr>
        <p:spPr>
          <a:xfrm>
            <a:off x="530352" y="6355080"/>
            <a:ext cx="11064240" cy="182880"/>
          </a:xfrm>
          <a:prstGeom prst="rect">
            <a:avLst/>
          </a:prstGeom>
          <a:noFill/>
          <a:ln/>
        </p:spPr>
        <p:txBody>
          <a:bodyPr wrap="square" lIns="0" tIns="0" rIns="0" bIns="0" rtlCol="0" anchor="ctr">
            <a:normAutofit/>
          </a:bodyPr>
          <a:lstStyle/>
          <a:p>
            <a:pPr indent="0" marL="0">
              <a:buNone/>
            </a:pPr>
            <a:r>
              <a:rPr lang="en-US" sz="900" dirty="0">
                <a:solidFill>
                  <a:srgbClr val="5E6A61"/>
                </a:solidFill>
                <a:latin typeface="Aptos" pitchFamily="34" charset="0"/>
                <a:ea typeface="Aptos" pitchFamily="34" charset="-122"/>
                <a:cs typeface="Aptos" pitchFamily="34" charset="-120"/>
              </a:rPr>
              <a:t>Research anchors: Harvard Center on the Developing Child on timing and brain architecture; Harvard/NSCDC on stress and learning; Yale Center for Emotional Intelligence and UC Berkeley Greater Good Science Center on emotion skills and child outcomes.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0E6"/>
        </a:solidFill>
      </p:bgPr>
    </p:bg>
    <p:spTree>
      <p:nvGrpSpPr>
        <p:cNvPr id="1" name=""/>
        <p:cNvGrpSpPr/>
        <p:nvPr/>
      </p:nvGrpSpPr>
      <p:grpSpPr>
        <a:xfrm>
          <a:off x="0" y="0"/>
          <a:ext cx="0" cy="0"/>
          <a:chOff x="0" y="0"/>
          <a:chExt cx="0" cy="0"/>
        </a:xfrm>
      </p:grpSpPr>
      <p:sp>
        <p:nvSpPr>
          <p:cNvPr id="2" name="Shape 0"/>
          <p:cNvSpPr/>
          <p:nvPr/>
        </p:nvSpPr>
        <p:spPr>
          <a:xfrm>
            <a:off x="0" y="0"/>
            <a:ext cx="12191695" cy="713232"/>
          </a:xfrm>
          <a:prstGeom prst="rect">
            <a:avLst/>
          </a:prstGeom>
          <a:solidFill>
            <a:srgbClr val="173D24"/>
          </a:solidFill>
          <a:ln w="12700">
            <a:solidFill>
              <a:srgbClr val="173D24"/>
            </a:solidFill>
            <a:prstDash val="solid"/>
          </a:ln>
        </p:spPr>
      </p:sp>
      <p:sp>
        <p:nvSpPr>
          <p:cNvPr id="3" name="Text 1"/>
          <p:cNvSpPr/>
          <p:nvPr/>
        </p:nvSpPr>
        <p:spPr>
          <a:xfrm>
            <a:off x="475488" y="146304"/>
            <a:ext cx="1828800" cy="146304"/>
          </a:xfrm>
          <a:prstGeom prst="rect">
            <a:avLst/>
          </a:prstGeom>
          <a:noFill/>
          <a:ln/>
        </p:spPr>
        <p:txBody>
          <a:bodyPr wrap="square" lIns="0" tIns="0" rIns="0" bIns="0" rtlCol="0" anchor="ctr">
            <a:normAutofit/>
          </a:bodyPr>
          <a:lstStyle/>
          <a:p>
            <a:pPr indent="0" marL="0">
              <a:buNone/>
            </a:pPr>
            <a:r>
              <a:rPr lang="en-US" sz="900" b="1" dirty="0">
                <a:solidFill>
                  <a:srgbClr val="C89C3D"/>
                </a:solidFill>
                <a:latin typeface="Aptos" pitchFamily="34" charset="0"/>
                <a:ea typeface="Aptos" pitchFamily="34" charset="-122"/>
                <a:cs typeface="Aptos" pitchFamily="34" charset="-120"/>
              </a:rPr>
              <a:t>SLIDE 8 OF 17</a:t>
            </a:r>
            <a:endParaRPr lang="en-US" sz="900" dirty="0"/>
          </a:p>
        </p:txBody>
      </p:sp>
      <p:sp>
        <p:nvSpPr>
          <p:cNvPr id="4" name="Text 2"/>
          <p:cNvSpPr/>
          <p:nvPr/>
        </p:nvSpPr>
        <p:spPr>
          <a:xfrm>
            <a:off x="475488" y="283464"/>
            <a:ext cx="8138160" cy="237744"/>
          </a:xfrm>
          <a:prstGeom prst="rect">
            <a:avLst/>
          </a:prstGeom>
          <a:noFill/>
          <a:ln/>
        </p:spPr>
        <p:txBody>
          <a:bodyPr wrap="square" lIns="0" tIns="0" rIns="0" bIns="0" rtlCol="0" anchor="ctr">
            <a:normAutofit/>
          </a:bodyPr>
          <a:lstStyle/>
          <a:p>
            <a:pPr indent="0" marL="0">
              <a:buNone/>
            </a:pPr>
            <a:r>
              <a:rPr lang="en-US" sz="2200" b="1" dirty="0">
                <a:solidFill>
                  <a:srgbClr val="FFFFFF"/>
                </a:solidFill>
                <a:latin typeface="Georgia" pitchFamily="34" charset="0"/>
                <a:ea typeface="Georgia" pitchFamily="34" charset="-122"/>
                <a:cs typeface="Georgia" pitchFamily="34" charset="-120"/>
              </a:rPr>
              <a:t>This is not a theory. The science is clear.</a:t>
            </a:r>
            <a:endParaRPr lang="en-US" sz="2200" dirty="0"/>
          </a:p>
        </p:txBody>
      </p:sp>
      <p:sp>
        <p:nvSpPr>
          <p:cNvPr id="5" name="Text 3"/>
          <p:cNvSpPr/>
          <p:nvPr/>
        </p:nvSpPr>
        <p:spPr>
          <a:xfrm>
            <a:off x="9006840" y="173736"/>
            <a:ext cx="2697480" cy="146304"/>
          </a:xfrm>
          <a:prstGeom prst="rect">
            <a:avLst/>
          </a:prstGeom>
          <a:noFill/>
          <a:ln/>
        </p:spPr>
        <p:txBody>
          <a:bodyPr wrap="square" lIns="0" tIns="0" rIns="0" bIns="0" rtlCol="0" anchor="ctr">
            <a:normAutofit/>
          </a:bodyPr>
          <a:lstStyle/>
          <a:p>
            <a:pPr algn="r" indent="0" marL="0">
              <a:buNone/>
            </a:pPr>
            <a:r>
              <a:rPr lang="en-US" sz="900" b="1" dirty="0">
                <a:solidFill>
                  <a:srgbClr val="F6F0E6"/>
                </a:solidFill>
                <a:latin typeface="Aptos" pitchFamily="34" charset="0"/>
                <a:ea typeface="Aptos" pitchFamily="34" charset="-122"/>
                <a:cs typeface="Aptos" pitchFamily="34" charset="-120"/>
              </a:rPr>
              <a:t>EVIDENCE</a:t>
            </a:r>
            <a:endParaRPr lang="en-US" sz="900" dirty="0"/>
          </a:p>
        </p:txBody>
      </p:sp>
      <p:sp>
        <p:nvSpPr>
          <p:cNvPr id="6" name="Shape 4"/>
          <p:cNvSpPr/>
          <p:nvPr/>
        </p:nvSpPr>
        <p:spPr>
          <a:xfrm>
            <a:off x="475488" y="932688"/>
            <a:ext cx="64008" cy="694944"/>
          </a:xfrm>
          <a:prstGeom prst="rect">
            <a:avLst/>
          </a:prstGeom>
          <a:solidFill>
            <a:srgbClr val="C89C3D"/>
          </a:solidFill>
          <a:ln w="12700">
            <a:solidFill>
              <a:srgbClr val="C89C3D"/>
            </a:solidFill>
            <a:prstDash val="solid"/>
          </a:ln>
        </p:spPr>
      </p:sp>
      <p:sp>
        <p:nvSpPr>
          <p:cNvPr id="7" name="Text 5"/>
          <p:cNvSpPr/>
          <p:nvPr/>
        </p:nvSpPr>
        <p:spPr>
          <a:xfrm>
            <a:off x="658368" y="960120"/>
            <a:ext cx="11064240" cy="585216"/>
          </a:xfrm>
          <a:prstGeom prst="rect">
            <a:avLst/>
          </a:prstGeom>
          <a:noFill/>
          <a:ln/>
        </p:spPr>
        <p:txBody>
          <a:bodyPr wrap="square" lIns="0" tIns="0" rIns="0" bIns="0" rtlCol="0" anchor="ctr">
            <a:normAutofit/>
          </a:bodyPr>
          <a:lstStyle/>
          <a:p>
            <a:pPr indent="0" marL="0">
              <a:buNone/>
            </a:pPr>
            <a:r>
              <a:rPr lang="en-US" sz="2400" b="1" dirty="0">
                <a:solidFill>
                  <a:srgbClr val="173D24"/>
                </a:solidFill>
                <a:latin typeface="Georgia" pitchFamily="34" charset="0"/>
                <a:ea typeface="Georgia" pitchFamily="34" charset="-122"/>
                <a:cs typeface="Georgia" pitchFamily="34" charset="-120"/>
              </a:rPr>
              <a:t>Parents do not have to guess whether this matters.</a:t>
            </a:r>
            <a:endParaRPr lang="en-US" sz="2400" dirty="0"/>
          </a:p>
        </p:txBody>
      </p:sp>
      <p:sp>
        <p:nvSpPr>
          <p:cNvPr id="8" name="Shape 6"/>
          <p:cNvSpPr/>
          <p:nvPr/>
        </p:nvSpPr>
        <p:spPr>
          <a:xfrm>
            <a:off x="658368" y="1810512"/>
            <a:ext cx="3520440" cy="1444752"/>
          </a:xfrm>
          <a:prstGeom prst="roundRect">
            <a:avLst/>
          </a:prstGeom>
          <a:solidFill>
            <a:srgbClr val="FFFFFF"/>
          </a:solidFill>
          <a:ln w="12700">
            <a:solidFill>
              <a:srgbClr val="D2C5AE"/>
            </a:solidFill>
            <a:prstDash val="solid"/>
          </a:ln>
        </p:spPr>
      </p:sp>
      <p:sp>
        <p:nvSpPr>
          <p:cNvPr id="9" name="Text 7"/>
          <p:cNvSpPr/>
          <p:nvPr/>
        </p:nvSpPr>
        <p:spPr>
          <a:xfrm>
            <a:off x="804672" y="1938528"/>
            <a:ext cx="3227832" cy="164592"/>
          </a:xfrm>
          <a:prstGeom prst="rect">
            <a:avLst/>
          </a:prstGeom>
          <a:noFill/>
          <a:ln/>
        </p:spPr>
        <p:txBody>
          <a:bodyPr wrap="square" lIns="0" tIns="0" rIns="0" bIns="0" rtlCol="0" anchor="ctr">
            <a:normAutofit/>
          </a:bodyPr>
          <a:lstStyle/>
          <a:p>
            <a:pPr indent="0" marL="0">
              <a:buNone/>
            </a:pPr>
            <a:r>
              <a:rPr lang="en-US" sz="1000" b="1" dirty="0">
                <a:solidFill>
                  <a:srgbClr val="C89C3D"/>
                </a:solidFill>
                <a:latin typeface="Aptos" pitchFamily="34" charset="0"/>
                <a:ea typeface="Aptos" pitchFamily="34" charset="-122"/>
                <a:cs typeface="Aptos" pitchFamily="34" charset="-120"/>
              </a:rPr>
              <a:t>CDC YOUTH RISK BEHAVIOR SURVEY</a:t>
            </a:r>
            <a:endParaRPr lang="en-US" sz="1000" dirty="0"/>
          </a:p>
        </p:txBody>
      </p:sp>
      <p:sp>
        <p:nvSpPr>
          <p:cNvPr id="10" name="Text 8"/>
          <p:cNvSpPr/>
          <p:nvPr/>
        </p:nvSpPr>
        <p:spPr>
          <a:xfrm>
            <a:off x="822960" y="2194560"/>
            <a:ext cx="3191256" cy="512064"/>
          </a:xfrm>
          <a:prstGeom prst="rect">
            <a:avLst/>
          </a:prstGeom>
          <a:noFill/>
          <a:ln/>
        </p:spPr>
        <p:txBody>
          <a:bodyPr wrap="square" lIns="508" tIns="508" rIns="508" bIns="508" rtlCol="0" anchor="ctr">
            <a:normAutofit/>
          </a:bodyPr>
          <a:lstStyle/>
          <a:p>
            <a:pPr indent="0" marL="0">
              <a:buNone/>
            </a:pPr>
            <a:r>
              <a:rPr lang="en-US" sz="1300" b="1" dirty="0">
                <a:solidFill>
                  <a:srgbClr val="203128"/>
                </a:solidFill>
                <a:latin typeface="Aptos" pitchFamily="34" charset="0"/>
                <a:ea typeface="Aptos" pitchFamily="34" charset="-122"/>
                <a:cs typeface="Aptos" pitchFamily="34" charset="-120"/>
              </a:rPr>
              <a:t>42% of high school students report persistent sadness or hopelessness.</a:t>
            </a:r>
            <a:endParaRPr lang="en-US" sz="1300" dirty="0"/>
          </a:p>
        </p:txBody>
      </p:sp>
      <p:sp>
        <p:nvSpPr>
          <p:cNvPr id="11" name="Text 9"/>
          <p:cNvSpPr/>
          <p:nvPr/>
        </p:nvSpPr>
        <p:spPr>
          <a:xfrm>
            <a:off x="822960" y="2816352"/>
            <a:ext cx="3191256" cy="201168"/>
          </a:xfrm>
          <a:prstGeom prst="rect">
            <a:avLst/>
          </a:prstGeom>
          <a:noFill/>
          <a:ln/>
        </p:spPr>
        <p:txBody>
          <a:bodyPr wrap="square" lIns="508" tIns="508" rIns="508" bIns="508" rtlCol="0" anchor="ctr">
            <a:normAutofit/>
          </a:bodyPr>
          <a:lstStyle/>
          <a:p>
            <a:pPr indent="0" marL="0">
              <a:buNone/>
            </a:pPr>
            <a:r>
              <a:rPr lang="en-US" sz="1150" dirty="0">
                <a:solidFill>
                  <a:srgbClr val="5E6A61"/>
                </a:solidFill>
                <a:latin typeface="Aptos" pitchFamily="34" charset="0"/>
                <a:ea typeface="Aptos" pitchFamily="34" charset="-122"/>
                <a:cs typeface="Aptos" pitchFamily="34" charset="-120"/>
              </a:rPr>
              <a:t>Emotional struggle is not fringe.</a:t>
            </a:r>
            <a:endParaRPr lang="en-US" sz="1150" dirty="0"/>
          </a:p>
        </p:txBody>
      </p:sp>
      <p:sp>
        <p:nvSpPr>
          <p:cNvPr id="12" name="Shape 10"/>
          <p:cNvSpPr/>
          <p:nvPr/>
        </p:nvSpPr>
        <p:spPr>
          <a:xfrm>
            <a:off x="4334256" y="1810512"/>
            <a:ext cx="3520440" cy="1444752"/>
          </a:xfrm>
          <a:prstGeom prst="roundRect">
            <a:avLst/>
          </a:prstGeom>
          <a:solidFill>
            <a:srgbClr val="FFFFFF"/>
          </a:solidFill>
          <a:ln w="12700">
            <a:solidFill>
              <a:srgbClr val="D2C5AE"/>
            </a:solidFill>
            <a:prstDash val="solid"/>
          </a:ln>
        </p:spPr>
      </p:sp>
      <p:sp>
        <p:nvSpPr>
          <p:cNvPr id="13" name="Text 11"/>
          <p:cNvSpPr/>
          <p:nvPr/>
        </p:nvSpPr>
        <p:spPr>
          <a:xfrm>
            <a:off x="4480560" y="1938528"/>
            <a:ext cx="3227832" cy="164592"/>
          </a:xfrm>
          <a:prstGeom prst="rect">
            <a:avLst/>
          </a:prstGeom>
          <a:noFill/>
          <a:ln/>
        </p:spPr>
        <p:txBody>
          <a:bodyPr wrap="square" lIns="0" tIns="0" rIns="0" bIns="0" rtlCol="0" anchor="ctr">
            <a:normAutofit/>
          </a:bodyPr>
          <a:lstStyle/>
          <a:p>
            <a:pPr indent="0" marL="0">
              <a:buNone/>
            </a:pPr>
            <a:r>
              <a:rPr lang="en-US" sz="1000" b="1" dirty="0">
                <a:solidFill>
                  <a:srgbClr val="C89C3D"/>
                </a:solidFill>
                <a:latin typeface="Aptos" pitchFamily="34" charset="0"/>
                <a:ea typeface="Aptos" pitchFamily="34" charset="-122"/>
                <a:cs typeface="Aptos" pitchFamily="34" charset="-120"/>
              </a:rPr>
              <a:t>WORKPLACE TREND</a:t>
            </a:r>
            <a:endParaRPr lang="en-US" sz="1000" dirty="0"/>
          </a:p>
        </p:txBody>
      </p:sp>
      <p:sp>
        <p:nvSpPr>
          <p:cNvPr id="14" name="Text 12"/>
          <p:cNvSpPr/>
          <p:nvPr/>
        </p:nvSpPr>
        <p:spPr>
          <a:xfrm>
            <a:off x="4498848" y="2194560"/>
            <a:ext cx="3191256" cy="512064"/>
          </a:xfrm>
          <a:prstGeom prst="rect">
            <a:avLst/>
          </a:prstGeom>
          <a:noFill/>
          <a:ln/>
        </p:spPr>
        <p:txBody>
          <a:bodyPr wrap="square" lIns="508" tIns="508" rIns="508" bIns="508" rtlCol="0" anchor="ctr">
            <a:normAutofit/>
          </a:bodyPr>
          <a:lstStyle/>
          <a:p>
            <a:pPr indent="0" marL="0">
              <a:buNone/>
            </a:pPr>
            <a:r>
              <a:rPr lang="en-US" sz="1300" b="1" dirty="0">
                <a:solidFill>
                  <a:srgbClr val="203128"/>
                </a:solidFill>
                <a:latin typeface="Aptos" pitchFamily="34" charset="0"/>
                <a:ea typeface="Aptos" pitchFamily="34" charset="-122"/>
                <a:cs typeface="Aptos" pitchFamily="34" charset="-120"/>
              </a:rPr>
              <a:t>Future-ready work increasingly rewards human skills like self-awareness, resilience, flexibility, and agility.</a:t>
            </a:r>
            <a:endParaRPr lang="en-US" sz="1300" dirty="0"/>
          </a:p>
        </p:txBody>
      </p:sp>
      <p:sp>
        <p:nvSpPr>
          <p:cNvPr id="15" name="Text 13"/>
          <p:cNvSpPr/>
          <p:nvPr/>
        </p:nvSpPr>
        <p:spPr>
          <a:xfrm>
            <a:off x="4498848" y="2816352"/>
            <a:ext cx="3191256" cy="201168"/>
          </a:xfrm>
          <a:prstGeom prst="rect">
            <a:avLst/>
          </a:prstGeom>
          <a:noFill/>
          <a:ln/>
        </p:spPr>
        <p:txBody>
          <a:bodyPr wrap="square" lIns="508" tIns="508" rIns="508" bIns="508" rtlCol="0" anchor="ctr">
            <a:normAutofit/>
          </a:bodyPr>
          <a:lstStyle/>
          <a:p>
            <a:pPr indent="0" marL="0">
              <a:buNone/>
            </a:pPr>
            <a:r>
              <a:rPr lang="en-US" sz="1150" dirty="0">
                <a:solidFill>
                  <a:srgbClr val="5E6A61"/>
                </a:solidFill>
                <a:latin typeface="Aptos" pitchFamily="34" charset="0"/>
                <a:ea typeface="Aptos" pitchFamily="34" charset="-122"/>
                <a:cs typeface="Aptos" pitchFamily="34" charset="-120"/>
              </a:rPr>
              <a:t>These capacities are not extras.</a:t>
            </a:r>
            <a:endParaRPr lang="en-US" sz="1150" dirty="0"/>
          </a:p>
        </p:txBody>
      </p:sp>
      <p:sp>
        <p:nvSpPr>
          <p:cNvPr id="16" name="Shape 14"/>
          <p:cNvSpPr/>
          <p:nvPr/>
        </p:nvSpPr>
        <p:spPr>
          <a:xfrm>
            <a:off x="8010144" y="1810512"/>
            <a:ext cx="3520440" cy="1444752"/>
          </a:xfrm>
          <a:prstGeom prst="roundRect">
            <a:avLst/>
          </a:prstGeom>
          <a:solidFill>
            <a:srgbClr val="FFFFFF"/>
          </a:solidFill>
          <a:ln w="12700">
            <a:solidFill>
              <a:srgbClr val="C89C3D"/>
            </a:solidFill>
            <a:prstDash val="solid"/>
          </a:ln>
        </p:spPr>
      </p:sp>
      <p:sp>
        <p:nvSpPr>
          <p:cNvPr id="17" name="Text 15"/>
          <p:cNvSpPr/>
          <p:nvPr/>
        </p:nvSpPr>
        <p:spPr>
          <a:xfrm>
            <a:off x="8156448" y="1938528"/>
            <a:ext cx="3227832" cy="164592"/>
          </a:xfrm>
          <a:prstGeom prst="rect">
            <a:avLst/>
          </a:prstGeom>
          <a:noFill/>
          <a:ln/>
        </p:spPr>
        <p:txBody>
          <a:bodyPr wrap="square" lIns="0" tIns="0" rIns="0" bIns="0" rtlCol="0" anchor="ctr">
            <a:normAutofit/>
          </a:bodyPr>
          <a:lstStyle/>
          <a:p>
            <a:pPr indent="0" marL="0">
              <a:buNone/>
            </a:pPr>
            <a:r>
              <a:rPr lang="en-US" sz="1000" b="1" dirty="0">
                <a:solidFill>
                  <a:srgbClr val="C89C3D"/>
                </a:solidFill>
                <a:latin typeface="Aptos" pitchFamily="34" charset="0"/>
                <a:ea typeface="Aptos" pitchFamily="34" charset="-122"/>
                <a:cs typeface="Aptos" pitchFamily="34" charset="-120"/>
              </a:rPr>
              <a:t>ALBERT BANDURA, STANFORD</a:t>
            </a:r>
            <a:endParaRPr lang="en-US" sz="1000" dirty="0"/>
          </a:p>
        </p:txBody>
      </p:sp>
      <p:sp>
        <p:nvSpPr>
          <p:cNvPr id="18" name="Text 16"/>
          <p:cNvSpPr/>
          <p:nvPr/>
        </p:nvSpPr>
        <p:spPr>
          <a:xfrm>
            <a:off x="8174736" y="2194560"/>
            <a:ext cx="3191256" cy="512064"/>
          </a:xfrm>
          <a:prstGeom prst="rect">
            <a:avLst/>
          </a:prstGeom>
          <a:noFill/>
          <a:ln/>
        </p:spPr>
        <p:txBody>
          <a:bodyPr wrap="square" lIns="508" tIns="508" rIns="508" bIns="508" rtlCol="0" anchor="ctr">
            <a:normAutofit/>
          </a:bodyPr>
          <a:lstStyle/>
          <a:p>
            <a:pPr indent="0" marL="0">
              <a:buNone/>
            </a:pPr>
            <a:r>
              <a:rPr lang="en-US" sz="1300" b="1" dirty="0">
                <a:solidFill>
                  <a:srgbClr val="203128"/>
                </a:solidFill>
                <a:latin typeface="Aptos" pitchFamily="34" charset="0"/>
                <a:ea typeface="Aptos" pitchFamily="34" charset="-122"/>
                <a:cs typeface="Aptos" pitchFamily="34" charset="-120"/>
              </a:rPr>
              <a:t>Self-efficacy strongly predicts persistence and performance.</a:t>
            </a:r>
            <a:endParaRPr lang="en-US" sz="1300" dirty="0"/>
          </a:p>
        </p:txBody>
      </p:sp>
      <p:sp>
        <p:nvSpPr>
          <p:cNvPr id="19" name="Text 17"/>
          <p:cNvSpPr/>
          <p:nvPr/>
        </p:nvSpPr>
        <p:spPr>
          <a:xfrm>
            <a:off x="8174736" y="2816352"/>
            <a:ext cx="3191256" cy="201168"/>
          </a:xfrm>
          <a:prstGeom prst="rect">
            <a:avLst/>
          </a:prstGeom>
          <a:noFill/>
          <a:ln/>
        </p:spPr>
        <p:txBody>
          <a:bodyPr wrap="square" lIns="508" tIns="508" rIns="508" bIns="508" rtlCol="0" anchor="ctr">
            <a:normAutofit/>
          </a:bodyPr>
          <a:lstStyle/>
          <a:p>
            <a:pPr indent="0" marL="0">
              <a:buNone/>
            </a:pPr>
            <a:r>
              <a:rPr lang="en-US" sz="1150" dirty="0">
                <a:solidFill>
                  <a:srgbClr val="5E6A61"/>
                </a:solidFill>
                <a:latin typeface="Aptos" pitchFamily="34" charset="0"/>
                <a:ea typeface="Aptos" pitchFamily="34" charset="-122"/>
                <a:cs typeface="Aptos" pitchFamily="34" charset="-120"/>
              </a:rPr>
              <a:t>Belief changes effort, recovery, and follow-through.</a:t>
            </a:r>
            <a:endParaRPr lang="en-US" sz="1150" dirty="0"/>
          </a:p>
        </p:txBody>
      </p:sp>
      <p:sp>
        <p:nvSpPr>
          <p:cNvPr id="20" name="Shape 18"/>
          <p:cNvSpPr/>
          <p:nvPr/>
        </p:nvSpPr>
        <p:spPr>
          <a:xfrm>
            <a:off x="2496312" y="3456432"/>
            <a:ext cx="3520440" cy="1444752"/>
          </a:xfrm>
          <a:prstGeom prst="roundRect">
            <a:avLst/>
          </a:prstGeom>
          <a:solidFill>
            <a:srgbClr val="FFFFFF"/>
          </a:solidFill>
          <a:ln w="12700">
            <a:solidFill>
              <a:srgbClr val="D2C5AE"/>
            </a:solidFill>
            <a:prstDash val="solid"/>
          </a:ln>
        </p:spPr>
      </p:sp>
      <p:sp>
        <p:nvSpPr>
          <p:cNvPr id="21" name="Text 19"/>
          <p:cNvSpPr/>
          <p:nvPr/>
        </p:nvSpPr>
        <p:spPr>
          <a:xfrm>
            <a:off x="2642616" y="3584448"/>
            <a:ext cx="3227832" cy="164592"/>
          </a:xfrm>
          <a:prstGeom prst="rect">
            <a:avLst/>
          </a:prstGeom>
          <a:noFill/>
          <a:ln/>
        </p:spPr>
        <p:txBody>
          <a:bodyPr wrap="square" lIns="0" tIns="0" rIns="0" bIns="0" rtlCol="0" anchor="ctr">
            <a:normAutofit/>
          </a:bodyPr>
          <a:lstStyle/>
          <a:p>
            <a:pPr indent="0" marL="0">
              <a:buNone/>
            </a:pPr>
            <a:r>
              <a:rPr lang="en-US" sz="1000" b="1" dirty="0">
                <a:solidFill>
                  <a:srgbClr val="C89C3D"/>
                </a:solidFill>
                <a:latin typeface="Aptos" pitchFamily="34" charset="0"/>
                <a:ea typeface="Aptos" pitchFamily="34" charset="-122"/>
                <a:cs typeface="Aptos" pitchFamily="34" charset="-120"/>
              </a:rPr>
              <a:t>YALE CENTER FOR EMOTIONAL INTELLIGENCE</a:t>
            </a:r>
            <a:endParaRPr lang="en-US" sz="1000" dirty="0"/>
          </a:p>
        </p:txBody>
      </p:sp>
      <p:sp>
        <p:nvSpPr>
          <p:cNvPr id="22" name="Text 20"/>
          <p:cNvSpPr/>
          <p:nvPr/>
        </p:nvSpPr>
        <p:spPr>
          <a:xfrm>
            <a:off x="2660904" y="3840480"/>
            <a:ext cx="3191256" cy="512064"/>
          </a:xfrm>
          <a:prstGeom prst="rect">
            <a:avLst/>
          </a:prstGeom>
          <a:noFill/>
          <a:ln/>
        </p:spPr>
        <p:txBody>
          <a:bodyPr wrap="square" lIns="508" tIns="508" rIns="508" bIns="508" rtlCol="0" anchor="ctr">
            <a:normAutofit/>
          </a:bodyPr>
          <a:lstStyle/>
          <a:p>
            <a:pPr indent="0" marL="0">
              <a:buNone/>
            </a:pPr>
            <a:r>
              <a:rPr lang="en-US" sz="1300" b="1" dirty="0">
                <a:solidFill>
                  <a:srgbClr val="203128"/>
                </a:solidFill>
                <a:latin typeface="Aptos" pitchFamily="34" charset="0"/>
                <a:ea typeface="Aptos" pitchFamily="34" charset="-122"/>
                <a:cs typeface="Aptos" pitchFamily="34" charset="-120"/>
              </a:rPr>
              <a:t>Emotion skills are linked to stronger academic, social, and later career outcomes.</a:t>
            </a:r>
            <a:endParaRPr lang="en-US" sz="1300" dirty="0"/>
          </a:p>
        </p:txBody>
      </p:sp>
      <p:sp>
        <p:nvSpPr>
          <p:cNvPr id="23" name="Text 21"/>
          <p:cNvSpPr/>
          <p:nvPr/>
        </p:nvSpPr>
        <p:spPr>
          <a:xfrm>
            <a:off x="2660904" y="4462272"/>
            <a:ext cx="3191256" cy="201168"/>
          </a:xfrm>
          <a:prstGeom prst="rect">
            <a:avLst/>
          </a:prstGeom>
          <a:noFill/>
          <a:ln/>
        </p:spPr>
        <p:txBody>
          <a:bodyPr wrap="square" lIns="508" tIns="508" rIns="508" bIns="508" rtlCol="0" anchor="ctr">
            <a:normAutofit/>
          </a:bodyPr>
          <a:lstStyle/>
          <a:p>
            <a:pPr indent="0" marL="0">
              <a:buNone/>
            </a:pPr>
            <a:r>
              <a:rPr lang="en-US" sz="1150" dirty="0">
                <a:solidFill>
                  <a:srgbClr val="5E6A61"/>
                </a:solidFill>
                <a:latin typeface="Aptos" pitchFamily="34" charset="0"/>
                <a:ea typeface="Aptos" pitchFamily="34" charset="-122"/>
                <a:cs typeface="Aptos" pitchFamily="34" charset="-120"/>
              </a:rPr>
              <a:t>Emotional skill is part of success.</a:t>
            </a:r>
            <a:endParaRPr lang="en-US" sz="1150" dirty="0"/>
          </a:p>
        </p:txBody>
      </p:sp>
      <p:sp>
        <p:nvSpPr>
          <p:cNvPr id="24" name="Shape 22"/>
          <p:cNvSpPr/>
          <p:nvPr/>
        </p:nvSpPr>
        <p:spPr>
          <a:xfrm>
            <a:off x="6172200" y="3456432"/>
            <a:ext cx="3520440" cy="1444752"/>
          </a:xfrm>
          <a:prstGeom prst="roundRect">
            <a:avLst/>
          </a:prstGeom>
          <a:solidFill>
            <a:srgbClr val="FFFFFF"/>
          </a:solidFill>
          <a:ln w="12700">
            <a:solidFill>
              <a:srgbClr val="D2C5AE"/>
            </a:solidFill>
            <a:prstDash val="solid"/>
          </a:ln>
        </p:spPr>
      </p:sp>
      <p:sp>
        <p:nvSpPr>
          <p:cNvPr id="25" name="Text 23"/>
          <p:cNvSpPr/>
          <p:nvPr/>
        </p:nvSpPr>
        <p:spPr>
          <a:xfrm>
            <a:off x="6318504" y="3584448"/>
            <a:ext cx="3227832" cy="164592"/>
          </a:xfrm>
          <a:prstGeom prst="rect">
            <a:avLst/>
          </a:prstGeom>
          <a:noFill/>
          <a:ln/>
        </p:spPr>
        <p:txBody>
          <a:bodyPr wrap="square" lIns="0" tIns="0" rIns="0" bIns="0" rtlCol="0" anchor="ctr">
            <a:normAutofit/>
          </a:bodyPr>
          <a:lstStyle/>
          <a:p>
            <a:pPr indent="0" marL="0">
              <a:buNone/>
            </a:pPr>
            <a:r>
              <a:rPr lang="en-US" sz="1000" b="1" dirty="0">
                <a:solidFill>
                  <a:srgbClr val="C89C3D"/>
                </a:solidFill>
                <a:latin typeface="Aptos" pitchFamily="34" charset="0"/>
                <a:ea typeface="Aptos" pitchFamily="34" charset="-122"/>
                <a:cs typeface="Aptos" pitchFamily="34" charset="-120"/>
              </a:rPr>
              <a:t>UC BERKELEY GREATER GOOD</a:t>
            </a:r>
            <a:endParaRPr lang="en-US" sz="1000" dirty="0"/>
          </a:p>
        </p:txBody>
      </p:sp>
      <p:sp>
        <p:nvSpPr>
          <p:cNvPr id="26" name="Text 24"/>
          <p:cNvSpPr/>
          <p:nvPr/>
        </p:nvSpPr>
        <p:spPr>
          <a:xfrm>
            <a:off x="6336792" y="3840480"/>
            <a:ext cx="3191256" cy="512064"/>
          </a:xfrm>
          <a:prstGeom prst="rect">
            <a:avLst/>
          </a:prstGeom>
          <a:noFill/>
          <a:ln/>
        </p:spPr>
        <p:txBody>
          <a:bodyPr wrap="square" lIns="508" tIns="508" rIns="508" bIns="508" rtlCol="0" anchor="ctr">
            <a:normAutofit/>
          </a:bodyPr>
          <a:lstStyle/>
          <a:p>
            <a:pPr indent="0" marL="0">
              <a:buNone/>
            </a:pPr>
            <a:r>
              <a:rPr lang="en-US" sz="1300" b="1" dirty="0">
                <a:solidFill>
                  <a:srgbClr val="203128"/>
                </a:solidFill>
                <a:latin typeface="Aptos" pitchFamily="34" charset="0"/>
                <a:ea typeface="Aptos" pitchFamily="34" charset="-122"/>
                <a:cs typeface="Aptos" pitchFamily="34" charset="-120"/>
              </a:rPr>
              <a:t>Self-compassion and emotional regulation support healthier stress responses.</a:t>
            </a:r>
            <a:endParaRPr lang="en-US" sz="1300" dirty="0"/>
          </a:p>
        </p:txBody>
      </p:sp>
      <p:sp>
        <p:nvSpPr>
          <p:cNvPr id="27" name="Text 25"/>
          <p:cNvSpPr/>
          <p:nvPr/>
        </p:nvSpPr>
        <p:spPr>
          <a:xfrm>
            <a:off x="6336792" y="4462272"/>
            <a:ext cx="3191256" cy="201168"/>
          </a:xfrm>
          <a:prstGeom prst="rect">
            <a:avLst/>
          </a:prstGeom>
          <a:noFill/>
          <a:ln/>
        </p:spPr>
        <p:txBody>
          <a:bodyPr wrap="square" lIns="508" tIns="508" rIns="508" bIns="508" rtlCol="0" anchor="ctr">
            <a:normAutofit/>
          </a:bodyPr>
          <a:lstStyle/>
          <a:p>
            <a:pPr indent="0" marL="0">
              <a:buNone/>
            </a:pPr>
            <a:r>
              <a:rPr lang="en-US" sz="1150" dirty="0">
                <a:solidFill>
                  <a:srgbClr val="5E6A61"/>
                </a:solidFill>
                <a:latin typeface="Aptos" pitchFamily="34" charset="0"/>
                <a:ea typeface="Aptos" pitchFamily="34" charset="-122"/>
                <a:cs typeface="Aptos" pitchFamily="34" charset="-120"/>
              </a:rPr>
              <a:t>How children respond internally affects what happens next.</a:t>
            </a:r>
            <a:endParaRPr lang="en-US" sz="1150" dirty="0"/>
          </a:p>
        </p:txBody>
      </p:sp>
      <p:sp>
        <p:nvSpPr>
          <p:cNvPr id="28" name="Text 26"/>
          <p:cNvSpPr/>
          <p:nvPr/>
        </p:nvSpPr>
        <p:spPr>
          <a:xfrm>
            <a:off x="530352" y="6355080"/>
            <a:ext cx="11064240" cy="182880"/>
          </a:xfrm>
          <a:prstGeom prst="rect">
            <a:avLst/>
          </a:prstGeom>
          <a:noFill/>
          <a:ln/>
        </p:spPr>
        <p:txBody>
          <a:bodyPr wrap="square" lIns="0" tIns="0" rIns="0" bIns="0" rtlCol="0" anchor="ctr">
            <a:normAutofit/>
          </a:bodyPr>
          <a:lstStyle/>
          <a:p>
            <a:pPr indent="0" marL="0">
              <a:buNone/>
            </a:pPr>
            <a:r>
              <a:rPr lang="en-US" sz="900" dirty="0">
                <a:solidFill>
                  <a:srgbClr val="5E6A61"/>
                </a:solidFill>
                <a:latin typeface="Aptos" pitchFamily="34" charset="0"/>
                <a:ea typeface="Aptos" pitchFamily="34" charset="-122"/>
                <a:cs typeface="Aptos" pitchFamily="34" charset="-120"/>
              </a:rPr>
              <a:t>Selected anchors: CDC YRBS; workplace skills trend reporting; Bandura on self-efficacy; Yale Center for Emotional Intelligence; UC Berkeley Greater Good Science Center.</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0E6"/>
        </a:solidFill>
      </p:bgPr>
    </p:bg>
    <p:spTree>
      <p:nvGrpSpPr>
        <p:cNvPr id="1" name=""/>
        <p:cNvGrpSpPr/>
        <p:nvPr/>
      </p:nvGrpSpPr>
      <p:grpSpPr>
        <a:xfrm>
          <a:off x="0" y="0"/>
          <a:ext cx="0" cy="0"/>
          <a:chOff x="0" y="0"/>
          <a:chExt cx="0" cy="0"/>
        </a:xfrm>
      </p:grpSpPr>
      <p:sp>
        <p:nvSpPr>
          <p:cNvPr id="2" name="Shape 0"/>
          <p:cNvSpPr/>
          <p:nvPr/>
        </p:nvSpPr>
        <p:spPr>
          <a:xfrm>
            <a:off x="0" y="0"/>
            <a:ext cx="12191695" cy="713232"/>
          </a:xfrm>
          <a:prstGeom prst="rect">
            <a:avLst/>
          </a:prstGeom>
          <a:solidFill>
            <a:srgbClr val="173D24"/>
          </a:solidFill>
          <a:ln w="12700">
            <a:solidFill>
              <a:srgbClr val="173D24"/>
            </a:solidFill>
            <a:prstDash val="solid"/>
          </a:ln>
        </p:spPr>
      </p:sp>
      <p:sp>
        <p:nvSpPr>
          <p:cNvPr id="3" name="Text 1"/>
          <p:cNvSpPr/>
          <p:nvPr/>
        </p:nvSpPr>
        <p:spPr>
          <a:xfrm>
            <a:off x="475488" y="146304"/>
            <a:ext cx="1828800" cy="146304"/>
          </a:xfrm>
          <a:prstGeom prst="rect">
            <a:avLst/>
          </a:prstGeom>
          <a:noFill/>
          <a:ln/>
        </p:spPr>
        <p:txBody>
          <a:bodyPr wrap="square" lIns="0" tIns="0" rIns="0" bIns="0" rtlCol="0" anchor="ctr">
            <a:normAutofit/>
          </a:bodyPr>
          <a:lstStyle/>
          <a:p>
            <a:pPr indent="0" marL="0">
              <a:buNone/>
            </a:pPr>
            <a:r>
              <a:rPr lang="en-US" sz="900" b="1" dirty="0">
                <a:solidFill>
                  <a:srgbClr val="C89C3D"/>
                </a:solidFill>
                <a:latin typeface="Aptos" pitchFamily="34" charset="0"/>
                <a:ea typeface="Aptos" pitchFamily="34" charset="-122"/>
                <a:cs typeface="Aptos" pitchFamily="34" charset="-120"/>
              </a:rPr>
              <a:t>SLIDE 9 OF 17</a:t>
            </a:r>
            <a:endParaRPr lang="en-US" sz="900" dirty="0"/>
          </a:p>
        </p:txBody>
      </p:sp>
      <p:sp>
        <p:nvSpPr>
          <p:cNvPr id="4" name="Text 2"/>
          <p:cNvSpPr/>
          <p:nvPr/>
        </p:nvSpPr>
        <p:spPr>
          <a:xfrm>
            <a:off x="475488" y="283464"/>
            <a:ext cx="8138160" cy="237744"/>
          </a:xfrm>
          <a:prstGeom prst="rect">
            <a:avLst/>
          </a:prstGeom>
          <a:noFill/>
          <a:ln/>
        </p:spPr>
        <p:txBody>
          <a:bodyPr wrap="square" lIns="0" tIns="0" rIns="0" bIns="0" rtlCol="0" anchor="ctr">
            <a:normAutofit/>
          </a:bodyPr>
          <a:lstStyle/>
          <a:p>
            <a:pPr indent="0" marL="0">
              <a:buNone/>
            </a:pPr>
            <a:r>
              <a:rPr lang="en-US" sz="2200" b="1" dirty="0">
                <a:solidFill>
                  <a:srgbClr val="FFFFFF"/>
                </a:solidFill>
                <a:latin typeface="Georgia" pitchFamily="34" charset="0"/>
                <a:ea typeface="Georgia" pitchFamily="34" charset="-122"/>
                <a:cs typeface="Georgia" pitchFamily="34" charset="-120"/>
              </a:rPr>
              <a:t>Why this kind of training works</a:t>
            </a:r>
            <a:endParaRPr lang="en-US" sz="2200" dirty="0"/>
          </a:p>
        </p:txBody>
      </p:sp>
      <p:sp>
        <p:nvSpPr>
          <p:cNvPr id="5" name="Text 3"/>
          <p:cNvSpPr/>
          <p:nvPr/>
        </p:nvSpPr>
        <p:spPr>
          <a:xfrm>
            <a:off x="9006840" y="173736"/>
            <a:ext cx="2697480" cy="146304"/>
          </a:xfrm>
          <a:prstGeom prst="rect">
            <a:avLst/>
          </a:prstGeom>
          <a:noFill/>
          <a:ln/>
        </p:spPr>
        <p:txBody>
          <a:bodyPr wrap="square" lIns="0" tIns="0" rIns="0" bIns="0" rtlCol="0" anchor="ctr">
            <a:normAutofit/>
          </a:bodyPr>
          <a:lstStyle/>
          <a:p>
            <a:pPr algn="r" indent="0" marL="0">
              <a:buNone/>
            </a:pPr>
            <a:r>
              <a:rPr lang="en-US" sz="900" b="1" dirty="0">
                <a:solidFill>
                  <a:srgbClr val="F6F0E6"/>
                </a:solidFill>
                <a:latin typeface="Aptos" pitchFamily="34" charset="0"/>
                <a:ea typeface="Aptos" pitchFamily="34" charset="-122"/>
                <a:cs typeface="Aptos" pitchFamily="34" charset="-120"/>
              </a:rPr>
              <a:t>MECHANISM</a:t>
            </a:r>
            <a:endParaRPr lang="en-US" sz="900" dirty="0"/>
          </a:p>
        </p:txBody>
      </p:sp>
      <p:sp>
        <p:nvSpPr>
          <p:cNvPr id="6" name="Shape 4"/>
          <p:cNvSpPr/>
          <p:nvPr/>
        </p:nvSpPr>
        <p:spPr>
          <a:xfrm>
            <a:off x="475488" y="932688"/>
            <a:ext cx="64008" cy="694944"/>
          </a:xfrm>
          <a:prstGeom prst="rect">
            <a:avLst/>
          </a:prstGeom>
          <a:solidFill>
            <a:srgbClr val="C89C3D"/>
          </a:solidFill>
          <a:ln w="12700">
            <a:solidFill>
              <a:srgbClr val="C89C3D"/>
            </a:solidFill>
            <a:prstDash val="solid"/>
          </a:ln>
        </p:spPr>
      </p:sp>
      <p:sp>
        <p:nvSpPr>
          <p:cNvPr id="7" name="Text 5"/>
          <p:cNvSpPr/>
          <p:nvPr/>
        </p:nvSpPr>
        <p:spPr>
          <a:xfrm>
            <a:off x="658368" y="960120"/>
            <a:ext cx="11064240" cy="585216"/>
          </a:xfrm>
          <a:prstGeom prst="rect">
            <a:avLst/>
          </a:prstGeom>
          <a:noFill/>
          <a:ln/>
        </p:spPr>
        <p:txBody>
          <a:bodyPr wrap="square" lIns="0" tIns="0" rIns="0" bIns="0" rtlCol="0" anchor="ctr">
            <a:normAutofit/>
          </a:bodyPr>
          <a:lstStyle/>
          <a:p>
            <a:pPr indent="0" marL="0">
              <a:buNone/>
            </a:pPr>
            <a:r>
              <a:rPr lang="en-US" sz="2400" b="1" dirty="0">
                <a:solidFill>
                  <a:srgbClr val="173D24"/>
                </a:solidFill>
                <a:latin typeface="Georgia" pitchFamily="34" charset="0"/>
                <a:ea typeface="Georgia" pitchFamily="34" charset="-122"/>
                <a:cs typeface="Georgia" pitchFamily="34" charset="-120"/>
              </a:rPr>
              <a:t>ThinkRoot is not based on motivation alone. It is based on how stress, belief, practice, and patterning shape behavior.</a:t>
            </a:r>
            <a:endParaRPr lang="en-US" sz="2400" dirty="0"/>
          </a:p>
        </p:txBody>
      </p:sp>
      <p:sp>
        <p:nvSpPr>
          <p:cNvPr id="8" name="Shape 6"/>
          <p:cNvSpPr/>
          <p:nvPr/>
        </p:nvSpPr>
        <p:spPr>
          <a:xfrm>
            <a:off x="749808" y="1828800"/>
            <a:ext cx="5120640" cy="1371600"/>
          </a:xfrm>
          <a:prstGeom prst="roundRect">
            <a:avLst/>
          </a:prstGeom>
          <a:solidFill>
            <a:srgbClr val="FFFFFF"/>
          </a:solidFill>
          <a:ln w="12700">
            <a:solidFill>
              <a:srgbClr val="D2C5AE"/>
            </a:solidFill>
            <a:prstDash val="solid"/>
          </a:ln>
        </p:spPr>
      </p:sp>
      <p:sp>
        <p:nvSpPr>
          <p:cNvPr id="9" name="Text 7"/>
          <p:cNvSpPr/>
          <p:nvPr/>
        </p:nvSpPr>
        <p:spPr>
          <a:xfrm>
            <a:off x="914400" y="2011680"/>
            <a:ext cx="4754880" cy="219456"/>
          </a:xfrm>
          <a:prstGeom prst="rect">
            <a:avLst/>
          </a:prstGeom>
          <a:noFill/>
          <a:ln/>
        </p:spPr>
        <p:txBody>
          <a:bodyPr wrap="square" lIns="508" tIns="508" rIns="508" bIns="508" rtlCol="0" anchor="ctr">
            <a:normAutofit/>
          </a:bodyPr>
          <a:lstStyle/>
          <a:p>
            <a:pPr indent="0" marL="0">
              <a:buNone/>
            </a:pPr>
            <a:r>
              <a:rPr lang="en-US" sz="1700" b="1" dirty="0">
                <a:solidFill>
                  <a:srgbClr val="173D24"/>
                </a:solidFill>
                <a:latin typeface="Georgia" pitchFamily="34" charset="0"/>
                <a:ea typeface="Georgia" pitchFamily="34" charset="-122"/>
                <a:cs typeface="Georgia" pitchFamily="34" charset="-120"/>
              </a:rPr>
              <a:t>Belief shapes performance</a:t>
            </a:r>
            <a:endParaRPr lang="en-US" sz="1700" dirty="0"/>
          </a:p>
        </p:txBody>
      </p:sp>
      <p:sp>
        <p:nvSpPr>
          <p:cNvPr id="10" name="Text 8"/>
          <p:cNvSpPr/>
          <p:nvPr/>
        </p:nvSpPr>
        <p:spPr>
          <a:xfrm>
            <a:off x="914400" y="2359152"/>
            <a:ext cx="4736592" cy="493776"/>
          </a:xfrm>
          <a:prstGeom prst="rect">
            <a:avLst/>
          </a:prstGeom>
          <a:noFill/>
          <a:ln/>
        </p:spPr>
        <p:txBody>
          <a:bodyPr wrap="square" lIns="508" tIns="508" rIns="508" bIns="508" rtlCol="0" anchor="ctr">
            <a:normAutofit/>
          </a:bodyPr>
          <a:lstStyle/>
          <a:p>
            <a:pPr indent="0" marL="0">
              <a:buNone/>
            </a:pPr>
            <a:r>
              <a:rPr lang="en-US" sz="1300" dirty="0">
                <a:solidFill>
                  <a:srgbClr val="203128"/>
                </a:solidFill>
                <a:latin typeface="Aptos" pitchFamily="34" charset="0"/>
                <a:ea typeface="Aptos" pitchFamily="34" charset="-122"/>
                <a:cs typeface="Aptos" pitchFamily="34" charset="-120"/>
              </a:rPr>
              <a:t>When children believe they can handle difficulty, they stay engaged longer and recover faster.</a:t>
            </a:r>
            <a:endParaRPr lang="en-US" sz="1300" dirty="0"/>
          </a:p>
        </p:txBody>
      </p:sp>
      <p:sp>
        <p:nvSpPr>
          <p:cNvPr id="11" name="Shape 9"/>
          <p:cNvSpPr/>
          <p:nvPr/>
        </p:nvSpPr>
        <p:spPr>
          <a:xfrm>
            <a:off x="6281928" y="1828800"/>
            <a:ext cx="5120640" cy="1371600"/>
          </a:xfrm>
          <a:prstGeom prst="roundRect">
            <a:avLst/>
          </a:prstGeom>
          <a:solidFill>
            <a:srgbClr val="FBF8F3"/>
          </a:solidFill>
          <a:ln w="12700">
            <a:solidFill>
              <a:srgbClr val="D2C5AE"/>
            </a:solidFill>
            <a:prstDash val="solid"/>
          </a:ln>
        </p:spPr>
      </p:sp>
      <p:sp>
        <p:nvSpPr>
          <p:cNvPr id="12" name="Text 10"/>
          <p:cNvSpPr/>
          <p:nvPr/>
        </p:nvSpPr>
        <p:spPr>
          <a:xfrm>
            <a:off x="6446520" y="2011680"/>
            <a:ext cx="4754880" cy="219456"/>
          </a:xfrm>
          <a:prstGeom prst="rect">
            <a:avLst/>
          </a:prstGeom>
          <a:noFill/>
          <a:ln/>
        </p:spPr>
        <p:txBody>
          <a:bodyPr wrap="square" lIns="508" tIns="508" rIns="508" bIns="508" rtlCol="0" anchor="ctr">
            <a:normAutofit/>
          </a:bodyPr>
          <a:lstStyle/>
          <a:p>
            <a:pPr indent="0" marL="0">
              <a:buNone/>
            </a:pPr>
            <a:r>
              <a:rPr lang="en-US" sz="1700" b="1" dirty="0">
                <a:solidFill>
                  <a:srgbClr val="173D24"/>
                </a:solidFill>
                <a:latin typeface="Georgia" pitchFamily="34" charset="0"/>
                <a:ea typeface="Georgia" pitchFamily="34" charset="-122"/>
                <a:cs typeface="Georgia" pitchFamily="34" charset="-120"/>
              </a:rPr>
              <a:t>Stress changes cognition</a:t>
            </a:r>
            <a:endParaRPr lang="en-US" sz="1700" dirty="0"/>
          </a:p>
        </p:txBody>
      </p:sp>
      <p:sp>
        <p:nvSpPr>
          <p:cNvPr id="13" name="Text 11"/>
          <p:cNvSpPr/>
          <p:nvPr/>
        </p:nvSpPr>
        <p:spPr>
          <a:xfrm>
            <a:off x="6446520" y="2359152"/>
            <a:ext cx="4736592" cy="493776"/>
          </a:xfrm>
          <a:prstGeom prst="rect">
            <a:avLst/>
          </a:prstGeom>
          <a:noFill/>
          <a:ln/>
        </p:spPr>
        <p:txBody>
          <a:bodyPr wrap="square" lIns="508" tIns="508" rIns="508" bIns="508" rtlCol="0" anchor="ctr">
            <a:normAutofit/>
          </a:bodyPr>
          <a:lstStyle/>
          <a:p>
            <a:pPr indent="0" marL="0">
              <a:buNone/>
            </a:pPr>
            <a:r>
              <a:rPr lang="en-US" sz="1300" dirty="0">
                <a:solidFill>
                  <a:srgbClr val="203128"/>
                </a:solidFill>
                <a:latin typeface="Aptos" pitchFamily="34" charset="0"/>
                <a:ea typeface="Aptos" pitchFamily="34" charset="-122"/>
                <a:cs typeface="Aptos" pitchFamily="34" charset="-120"/>
              </a:rPr>
              <a:t>Pressure affects focus, memory, and decision-making. Emotional steadiness is not separate from performance.</a:t>
            </a:r>
            <a:endParaRPr lang="en-US" sz="1300" dirty="0"/>
          </a:p>
        </p:txBody>
      </p:sp>
      <p:sp>
        <p:nvSpPr>
          <p:cNvPr id="14" name="Shape 12"/>
          <p:cNvSpPr/>
          <p:nvPr/>
        </p:nvSpPr>
        <p:spPr>
          <a:xfrm>
            <a:off x="749808" y="3584448"/>
            <a:ext cx="5120640" cy="1371600"/>
          </a:xfrm>
          <a:prstGeom prst="roundRect">
            <a:avLst/>
          </a:prstGeom>
          <a:solidFill>
            <a:srgbClr val="FFFFFF"/>
          </a:solidFill>
          <a:ln w="12700">
            <a:solidFill>
              <a:srgbClr val="D2C5AE"/>
            </a:solidFill>
            <a:prstDash val="solid"/>
          </a:ln>
        </p:spPr>
      </p:sp>
      <p:sp>
        <p:nvSpPr>
          <p:cNvPr id="15" name="Text 13"/>
          <p:cNvSpPr/>
          <p:nvPr/>
        </p:nvSpPr>
        <p:spPr>
          <a:xfrm>
            <a:off x="914400" y="3767328"/>
            <a:ext cx="4754880" cy="219456"/>
          </a:xfrm>
          <a:prstGeom prst="rect">
            <a:avLst/>
          </a:prstGeom>
          <a:noFill/>
          <a:ln/>
        </p:spPr>
        <p:txBody>
          <a:bodyPr wrap="square" lIns="508" tIns="508" rIns="508" bIns="508" rtlCol="0" anchor="ctr">
            <a:normAutofit/>
          </a:bodyPr>
          <a:lstStyle/>
          <a:p>
            <a:pPr indent="0" marL="0">
              <a:buNone/>
            </a:pPr>
            <a:r>
              <a:rPr lang="en-US" sz="1700" b="1" dirty="0">
                <a:solidFill>
                  <a:srgbClr val="173D24"/>
                </a:solidFill>
                <a:latin typeface="Georgia" pitchFamily="34" charset="0"/>
                <a:ea typeface="Georgia" pitchFamily="34" charset="-122"/>
                <a:cs typeface="Georgia" pitchFamily="34" charset="-120"/>
              </a:rPr>
              <a:t>Patterns become habits</a:t>
            </a:r>
            <a:endParaRPr lang="en-US" sz="1700" dirty="0"/>
          </a:p>
        </p:txBody>
      </p:sp>
      <p:sp>
        <p:nvSpPr>
          <p:cNvPr id="16" name="Text 14"/>
          <p:cNvSpPr/>
          <p:nvPr/>
        </p:nvSpPr>
        <p:spPr>
          <a:xfrm>
            <a:off x="914400" y="4114800"/>
            <a:ext cx="4736592" cy="493776"/>
          </a:xfrm>
          <a:prstGeom prst="rect">
            <a:avLst/>
          </a:prstGeom>
          <a:noFill/>
          <a:ln/>
        </p:spPr>
        <p:txBody>
          <a:bodyPr wrap="square" lIns="508" tIns="508" rIns="508" bIns="508" rtlCol="0" anchor="ctr">
            <a:normAutofit/>
          </a:bodyPr>
          <a:lstStyle/>
          <a:p>
            <a:pPr indent="0" marL="0">
              <a:buNone/>
            </a:pPr>
            <a:r>
              <a:rPr lang="en-US" sz="1300" dirty="0">
                <a:solidFill>
                  <a:srgbClr val="203128"/>
                </a:solidFill>
                <a:latin typeface="Aptos" pitchFamily="34" charset="0"/>
                <a:ea typeface="Aptos" pitchFamily="34" charset="-122"/>
                <a:cs typeface="Aptos" pitchFamily="34" charset="-120"/>
              </a:rPr>
              <a:t>Repeated reactions become more automatic over time if they are never interrupted.</a:t>
            </a:r>
            <a:endParaRPr lang="en-US" sz="1300" dirty="0"/>
          </a:p>
        </p:txBody>
      </p:sp>
      <p:sp>
        <p:nvSpPr>
          <p:cNvPr id="17" name="Shape 15"/>
          <p:cNvSpPr/>
          <p:nvPr/>
        </p:nvSpPr>
        <p:spPr>
          <a:xfrm>
            <a:off x="6281928" y="3584448"/>
            <a:ext cx="5120640" cy="1371600"/>
          </a:xfrm>
          <a:prstGeom prst="roundRect">
            <a:avLst/>
          </a:prstGeom>
          <a:solidFill>
            <a:srgbClr val="FBF8F3"/>
          </a:solidFill>
          <a:ln w="12700">
            <a:solidFill>
              <a:srgbClr val="D2C5AE"/>
            </a:solidFill>
            <a:prstDash val="solid"/>
          </a:ln>
        </p:spPr>
      </p:sp>
      <p:sp>
        <p:nvSpPr>
          <p:cNvPr id="18" name="Text 16"/>
          <p:cNvSpPr/>
          <p:nvPr/>
        </p:nvSpPr>
        <p:spPr>
          <a:xfrm>
            <a:off x="6446520" y="3767328"/>
            <a:ext cx="4754880" cy="219456"/>
          </a:xfrm>
          <a:prstGeom prst="rect">
            <a:avLst/>
          </a:prstGeom>
          <a:noFill/>
          <a:ln/>
        </p:spPr>
        <p:txBody>
          <a:bodyPr wrap="square" lIns="508" tIns="508" rIns="508" bIns="508" rtlCol="0" anchor="ctr">
            <a:normAutofit/>
          </a:bodyPr>
          <a:lstStyle/>
          <a:p>
            <a:pPr indent="0" marL="0">
              <a:buNone/>
            </a:pPr>
            <a:r>
              <a:rPr lang="en-US" sz="1700" b="1" dirty="0">
                <a:solidFill>
                  <a:srgbClr val="173D24"/>
                </a:solidFill>
                <a:latin typeface="Georgia" pitchFamily="34" charset="0"/>
                <a:ea typeface="Georgia" pitchFamily="34" charset="-122"/>
                <a:cs typeface="Georgia" pitchFamily="34" charset="-120"/>
              </a:rPr>
              <a:t>Practice rewires response</a:t>
            </a:r>
            <a:endParaRPr lang="en-US" sz="1700" dirty="0"/>
          </a:p>
        </p:txBody>
      </p:sp>
      <p:sp>
        <p:nvSpPr>
          <p:cNvPr id="19" name="Text 17"/>
          <p:cNvSpPr/>
          <p:nvPr/>
        </p:nvSpPr>
        <p:spPr>
          <a:xfrm>
            <a:off x="6446520" y="4114800"/>
            <a:ext cx="4736592" cy="493776"/>
          </a:xfrm>
          <a:prstGeom prst="rect">
            <a:avLst/>
          </a:prstGeom>
          <a:noFill/>
          <a:ln/>
        </p:spPr>
        <p:txBody>
          <a:bodyPr wrap="square" lIns="508" tIns="508" rIns="508" bIns="508" rtlCol="0" anchor="ctr">
            <a:normAutofit/>
          </a:bodyPr>
          <a:lstStyle/>
          <a:p>
            <a:pPr indent="0" marL="0">
              <a:buNone/>
            </a:pPr>
            <a:r>
              <a:rPr lang="en-US" sz="1300" dirty="0">
                <a:solidFill>
                  <a:srgbClr val="203128"/>
                </a:solidFill>
                <a:latin typeface="Aptos" pitchFamily="34" charset="0"/>
                <a:ea typeface="Aptos" pitchFamily="34" charset="-122"/>
                <a:cs typeface="Aptos" pitchFamily="34" charset="-120"/>
              </a:rPr>
              <a:t>Repeated guided practice makes healthier responses more available in daily life.</a:t>
            </a:r>
            <a:endParaRPr lang="en-US" sz="1300" dirty="0"/>
          </a:p>
        </p:txBody>
      </p:sp>
      <p:sp>
        <p:nvSpPr>
          <p:cNvPr id="20" name="Text 18"/>
          <p:cNvSpPr/>
          <p:nvPr/>
        </p:nvSpPr>
        <p:spPr>
          <a:xfrm>
            <a:off x="530352" y="6355080"/>
            <a:ext cx="11064240" cy="182880"/>
          </a:xfrm>
          <a:prstGeom prst="rect">
            <a:avLst/>
          </a:prstGeom>
          <a:noFill/>
          <a:ln/>
        </p:spPr>
        <p:txBody>
          <a:bodyPr wrap="square" lIns="0" tIns="0" rIns="0" bIns="0" rtlCol="0" anchor="ctr">
            <a:normAutofit/>
          </a:bodyPr>
          <a:lstStyle/>
          <a:p>
            <a:pPr indent="0" marL="0">
              <a:buNone/>
            </a:pPr>
            <a:r>
              <a:rPr lang="en-US" sz="900" dirty="0">
                <a:solidFill>
                  <a:srgbClr val="5E6A61"/>
                </a:solidFill>
                <a:latin typeface="Aptos" pitchFamily="34" charset="0"/>
                <a:ea typeface="Aptos" pitchFamily="34" charset="-122"/>
                <a:cs typeface="Aptos" pitchFamily="34" charset="-120"/>
              </a:rPr>
              <a:t>High-level mechanism anchors: Bandura on self-efficacy, Harvard on stress and cognition, developmental science on patterning and repeated practice.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0E6"/>
        </a:solidFill>
      </p:bgPr>
    </p:bg>
    <p:spTree>
      <p:nvGrpSpPr>
        <p:cNvPr id="1" name=""/>
        <p:cNvGrpSpPr/>
        <p:nvPr/>
      </p:nvGrpSpPr>
      <p:grpSpPr>
        <a:xfrm>
          <a:off x="0" y="0"/>
          <a:ext cx="0" cy="0"/>
          <a:chOff x="0" y="0"/>
          <a:chExt cx="0" cy="0"/>
        </a:xfrm>
      </p:grpSpPr>
      <p:sp>
        <p:nvSpPr>
          <p:cNvPr id="2" name="Shape 0"/>
          <p:cNvSpPr/>
          <p:nvPr/>
        </p:nvSpPr>
        <p:spPr>
          <a:xfrm>
            <a:off x="0" y="0"/>
            <a:ext cx="12191695" cy="713232"/>
          </a:xfrm>
          <a:prstGeom prst="rect">
            <a:avLst/>
          </a:prstGeom>
          <a:solidFill>
            <a:srgbClr val="173D24"/>
          </a:solidFill>
          <a:ln w="12700">
            <a:solidFill>
              <a:srgbClr val="173D24"/>
            </a:solidFill>
            <a:prstDash val="solid"/>
          </a:ln>
        </p:spPr>
      </p:sp>
      <p:sp>
        <p:nvSpPr>
          <p:cNvPr id="3" name="Text 1"/>
          <p:cNvSpPr/>
          <p:nvPr/>
        </p:nvSpPr>
        <p:spPr>
          <a:xfrm>
            <a:off x="475488" y="146304"/>
            <a:ext cx="1828800" cy="146304"/>
          </a:xfrm>
          <a:prstGeom prst="rect">
            <a:avLst/>
          </a:prstGeom>
          <a:noFill/>
          <a:ln/>
        </p:spPr>
        <p:txBody>
          <a:bodyPr wrap="square" lIns="0" tIns="0" rIns="0" bIns="0" rtlCol="0" anchor="ctr">
            <a:normAutofit/>
          </a:bodyPr>
          <a:lstStyle/>
          <a:p>
            <a:pPr indent="0" marL="0">
              <a:buNone/>
            </a:pPr>
            <a:r>
              <a:rPr lang="en-US" sz="900" b="1" dirty="0">
                <a:solidFill>
                  <a:srgbClr val="C89C3D"/>
                </a:solidFill>
                <a:latin typeface="Aptos" pitchFamily="34" charset="0"/>
                <a:ea typeface="Aptos" pitchFamily="34" charset="-122"/>
                <a:cs typeface="Aptos" pitchFamily="34" charset="-120"/>
              </a:rPr>
              <a:t>SLIDE 10 OF 17</a:t>
            </a:r>
            <a:endParaRPr lang="en-US" sz="900" dirty="0"/>
          </a:p>
        </p:txBody>
      </p:sp>
      <p:sp>
        <p:nvSpPr>
          <p:cNvPr id="4" name="Text 2"/>
          <p:cNvSpPr/>
          <p:nvPr/>
        </p:nvSpPr>
        <p:spPr>
          <a:xfrm>
            <a:off x="475488" y="283464"/>
            <a:ext cx="8138160" cy="237744"/>
          </a:xfrm>
          <a:prstGeom prst="rect">
            <a:avLst/>
          </a:prstGeom>
          <a:noFill/>
          <a:ln/>
        </p:spPr>
        <p:txBody>
          <a:bodyPr wrap="square" lIns="0" tIns="0" rIns="0" bIns="0" rtlCol="0" anchor="ctr">
            <a:normAutofit/>
          </a:bodyPr>
          <a:lstStyle/>
          <a:p>
            <a:pPr indent="0" marL="0">
              <a:buNone/>
            </a:pPr>
            <a:r>
              <a:rPr lang="en-US" sz="2200" b="1" dirty="0">
                <a:solidFill>
                  <a:srgbClr val="FFFFFF"/>
                </a:solidFill>
                <a:latin typeface="Georgia" pitchFamily="34" charset="0"/>
                <a:ea typeface="Georgia" pitchFamily="34" charset="-122"/>
                <a:cs typeface="Georgia" pitchFamily="34" charset="-120"/>
              </a:rPr>
              <a:t>Patterns that are not addressed early do not simply disappear</a:t>
            </a:r>
            <a:endParaRPr lang="en-US" sz="2200" dirty="0"/>
          </a:p>
        </p:txBody>
      </p:sp>
      <p:sp>
        <p:nvSpPr>
          <p:cNvPr id="5" name="Text 3"/>
          <p:cNvSpPr/>
          <p:nvPr/>
        </p:nvSpPr>
        <p:spPr>
          <a:xfrm>
            <a:off x="9006840" y="173736"/>
            <a:ext cx="2697480" cy="146304"/>
          </a:xfrm>
          <a:prstGeom prst="rect">
            <a:avLst/>
          </a:prstGeom>
          <a:noFill/>
          <a:ln/>
        </p:spPr>
        <p:txBody>
          <a:bodyPr wrap="square" lIns="0" tIns="0" rIns="0" bIns="0" rtlCol="0" anchor="ctr">
            <a:normAutofit/>
          </a:bodyPr>
          <a:lstStyle/>
          <a:p>
            <a:pPr algn="r" indent="0" marL="0">
              <a:buNone/>
            </a:pPr>
            <a:r>
              <a:rPr lang="en-US" sz="900" b="1" dirty="0">
                <a:solidFill>
                  <a:srgbClr val="F6F0E6"/>
                </a:solidFill>
                <a:latin typeface="Aptos" pitchFamily="34" charset="0"/>
                <a:ea typeface="Aptos" pitchFamily="34" charset="-122"/>
                <a:cs typeface="Aptos" pitchFamily="34" charset="-120"/>
              </a:rPr>
              <a:t>WHY EARLY</a:t>
            </a:r>
            <a:endParaRPr lang="en-US" sz="900" dirty="0"/>
          </a:p>
        </p:txBody>
      </p:sp>
      <p:sp>
        <p:nvSpPr>
          <p:cNvPr id="6" name="Shape 4"/>
          <p:cNvSpPr/>
          <p:nvPr/>
        </p:nvSpPr>
        <p:spPr>
          <a:xfrm>
            <a:off x="475488" y="932688"/>
            <a:ext cx="64008" cy="694944"/>
          </a:xfrm>
          <a:prstGeom prst="rect">
            <a:avLst/>
          </a:prstGeom>
          <a:solidFill>
            <a:srgbClr val="C89C3D"/>
          </a:solidFill>
          <a:ln w="12700">
            <a:solidFill>
              <a:srgbClr val="C89C3D"/>
            </a:solidFill>
            <a:prstDash val="solid"/>
          </a:ln>
        </p:spPr>
      </p:sp>
      <p:sp>
        <p:nvSpPr>
          <p:cNvPr id="7" name="Text 5"/>
          <p:cNvSpPr/>
          <p:nvPr/>
        </p:nvSpPr>
        <p:spPr>
          <a:xfrm>
            <a:off x="658368" y="960120"/>
            <a:ext cx="11064240" cy="585216"/>
          </a:xfrm>
          <a:prstGeom prst="rect">
            <a:avLst/>
          </a:prstGeom>
          <a:noFill/>
          <a:ln/>
        </p:spPr>
        <p:txBody>
          <a:bodyPr wrap="square" lIns="0" tIns="0" rIns="0" bIns="0" rtlCol="0" anchor="ctr">
            <a:normAutofit/>
          </a:bodyPr>
          <a:lstStyle/>
          <a:p>
            <a:pPr indent="0" marL="0">
              <a:buNone/>
            </a:pPr>
            <a:r>
              <a:rPr lang="en-US" sz="2400" b="1" dirty="0">
                <a:solidFill>
                  <a:srgbClr val="173D24"/>
                </a:solidFill>
                <a:latin typeface="Georgia" pitchFamily="34" charset="0"/>
                <a:ea typeface="Georgia" pitchFamily="34" charset="-122"/>
                <a:cs typeface="Georgia" pitchFamily="34" charset="-120"/>
              </a:rPr>
              <a:t>This is not crisis intervention. It is early strength-building.</a:t>
            </a:r>
            <a:endParaRPr lang="en-US" sz="2400" dirty="0"/>
          </a:p>
        </p:txBody>
      </p:sp>
      <p:sp>
        <p:nvSpPr>
          <p:cNvPr id="8" name="Shape 6"/>
          <p:cNvSpPr/>
          <p:nvPr/>
        </p:nvSpPr>
        <p:spPr>
          <a:xfrm>
            <a:off x="749808" y="1737360"/>
            <a:ext cx="2743200" cy="347472"/>
          </a:xfrm>
          <a:prstGeom prst="roundRect">
            <a:avLst/>
          </a:prstGeom>
          <a:solidFill>
            <a:srgbClr val="C89C3D"/>
          </a:solidFill>
          <a:ln w="12700">
            <a:solidFill>
              <a:srgbClr val="C89C3D"/>
            </a:solidFill>
            <a:prstDash val="solid"/>
          </a:ln>
        </p:spPr>
      </p:sp>
      <p:sp>
        <p:nvSpPr>
          <p:cNvPr id="9" name="Text 7"/>
          <p:cNvSpPr/>
          <p:nvPr/>
        </p:nvSpPr>
        <p:spPr>
          <a:xfrm>
            <a:off x="822960" y="1792224"/>
            <a:ext cx="2596896" cy="256032"/>
          </a:xfrm>
          <a:prstGeom prst="rect">
            <a:avLst/>
          </a:prstGeom>
          <a:noFill/>
          <a:ln/>
        </p:spPr>
        <p:txBody>
          <a:bodyPr wrap="square" lIns="0" tIns="0" rIns="0" bIns="0" rtlCol="0" anchor="ctr">
            <a:normAutofit/>
          </a:bodyPr>
          <a:lstStyle/>
          <a:p>
            <a:pPr algn="ctr" indent="0" marL="0">
              <a:buNone/>
            </a:pPr>
            <a:r>
              <a:rPr lang="en-US" sz="1050" b="1" dirty="0">
                <a:solidFill>
                  <a:srgbClr val="173D24"/>
                </a:solidFill>
                <a:latin typeface="Aptos" pitchFamily="34" charset="0"/>
                <a:ea typeface="Aptos" pitchFamily="34" charset="-122"/>
                <a:cs typeface="Aptos" pitchFamily="34" charset="-120"/>
              </a:rPr>
              <a:t>CHILDHOOD IS THE EASIER WINDOW</a:t>
            </a:r>
            <a:endParaRPr lang="en-US" sz="1050" dirty="0"/>
          </a:p>
        </p:txBody>
      </p:sp>
      <p:sp>
        <p:nvSpPr>
          <p:cNvPr id="10" name="Shape 8"/>
          <p:cNvSpPr/>
          <p:nvPr/>
        </p:nvSpPr>
        <p:spPr>
          <a:xfrm>
            <a:off x="713232" y="2304288"/>
            <a:ext cx="3182112" cy="2286000"/>
          </a:xfrm>
          <a:prstGeom prst="roundRect">
            <a:avLst/>
          </a:prstGeom>
          <a:solidFill>
            <a:srgbClr val="FFFFFF"/>
          </a:solidFill>
          <a:ln w="12700">
            <a:solidFill>
              <a:srgbClr val="D2C5AE"/>
            </a:solidFill>
            <a:prstDash val="solid"/>
          </a:ln>
        </p:spPr>
      </p:sp>
      <p:sp>
        <p:nvSpPr>
          <p:cNvPr id="11" name="Shape 9"/>
          <p:cNvSpPr/>
          <p:nvPr/>
        </p:nvSpPr>
        <p:spPr>
          <a:xfrm>
            <a:off x="1956816" y="2414016"/>
            <a:ext cx="658368" cy="310896"/>
          </a:xfrm>
          <a:prstGeom prst="roundRect">
            <a:avLst/>
          </a:prstGeom>
          <a:solidFill>
            <a:srgbClr val="173D24"/>
          </a:solidFill>
          <a:ln w="12700">
            <a:solidFill>
              <a:srgbClr val="173D24"/>
            </a:solidFill>
            <a:prstDash val="solid"/>
          </a:ln>
        </p:spPr>
      </p:sp>
      <p:sp>
        <p:nvSpPr>
          <p:cNvPr id="12" name="Text 10"/>
          <p:cNvSpPr/>
          <p:nvPr/>
        </p:nvSpPr>
        <p:spPr>
          <a:xfrm>
            <a:off x="2029968" y="2468880"/>
            <a:ext cx="512064" cy="219456"/>
          </a:xfrm>
          <a:prstGeom prst="rect">
            <a:avLst/>
          </a:prstGeom>
          <a:noFill/>
          <a:ln/>
        </p:spPr>
        <p:txBody>
          <a:bodyPr wrap="square" lIns="0" tIns="0" rIns="0" bIns="0" rtlCol="0" anchor="ctr">
            <a:normAutofit/>
          </a:bodyPr>
          <a:lstStyle/>
          <a:p>
            <a:pPr algn="ctr" indent="0" marL="0">
              <a:buNone/>
            </a:pPr>
            <a:r>
              <a:rPr lang="en-US" sz="1050" b="1" dirty="0">
                <a:solidFill>
                  <a:srgbClr val="C89C3D"/>
                </a:solidFill>
                <a:latin typeface="Aptos" pitchFamily="34" charset="0"/>
                <a:ea typeface="Aptos" pitchFamily="34" charset="-122"/>
                <a:cs typeface="Aptos" pitchFamily="34" charset="-120"/>
              </a:rPr>
              <a:t>1</a:t>
            </a:r>
            <a:endParaRPr lang="en-US" sz="1050" dirty="0"/>
          </a:p>
        </p:txBody>
      </p:sp>
      <p:sp>
        <p:nvSpPr>
          <p:cNvPr id="13" name="Text 11"/>
          <p:cNvSpPr/>
          <p:nvPr/>
        </p:nvSpPr>
        <p:spPr>
          <a:xfrm>
            <a:off x="877824" y="2852928"/>
            <a:ext cx="2834640" cy="292608"/>
          </a:xfrm>
          <a:prstGeom prst="rect">
            <a:avLst/>
          </a:prstGeom>
          <a:noFill/>
          <a:ln/>
        </p:spPr>
        <p:txBody>
          <a:bodyPr wrap="square" lIns="508" tIns="508" rIns="508" bIns="508" rtlCol="0" anchor="ctr">
            <a:normAutofit/>
          </a:bodyPr>
          <a:lstStyle/>
          <a:p>
            <a:pPr algn="ctr" indent="0" marL="0">
              <a:buNone/>
            </a:pPr>
            <a:r>
              <a:rPr lang="en-US" sz="1700" b="1" dirty="0">
                <a:solidFill>
                  <a:srgbClr val="173D24"/>
                </a:solidFill>
                <a:latin typeface="Georgia" pitchFamily="34" charset="0"/>
                <a:ea typeface="Georgia" pitchFamily="34" charset="-122"/>
                <a:cs typeface="Georgia" pitchFamily="34" charset="-120"/>
              </a:rPr>
              <a:t>Early responses</a:t>
            </a:r>
            <a:endParaRPr lang="en-US" sz="1700" dirty="0"/>
          </a:p>
        </p:txBody>
      </p:sp>
      <p:sp>
        <p:nvSpPr>
          <p:cNvPr id="14" name="Text 12"/>
          <p:cNvSpPr/>
          <p:nvPr/>
        </p:nvSpPr>
        <p:spPr>
          <a:xfrm>
            <a:off x="877824" y="3419856"/>
            <a:ext cx="2834640" cy="804672"/>
          </a:xfrm>
          <a:prstGeom prst="rect">
            <a:avLst/>
          </a:prstGeom>
          <a:noFill/>
          <a:ln/>
        </p:spPr>
        <p:txBody>
          <a:bodyPr wrap="square" lIns="508" tIns="508" rIns="508" bIns="508" rtlCol="0" anchor="ctr">
            <a:normAutofit/>
          </a:bodyPr>
          <a:lstStyle/>
          <a:p>
            <a:pPr algn="ctr" indent="0" marL="0">
              <a:buNone/>
            </a:pPr>
            <a:r>
              <a:rPr lang="en-US" sz="1300" dirty="0">
                <a:solidFill>
                  <a:srgbClr val="203128"/>
                </a:solidFill>
                <a:latin typeface="Aptos" pitchFamily="34" charset="0"/>
                <a:ea typeface="Aptos" pitchFamily="34" charset="-122"/>
                <a:cs typeface="Aptos" pitchFamily="34" charset="-120"/>
              </a:rPr>
              <a:t>The child begins repeating the same thought and stress reactions.</a:t>
            </a:r>
            <a:endParaRPr lang="en-US" sz="1300" dirty="0"/>
          </a:p>
        </p:txBody>
      </p:sp>
      <p:sp>
        <p:nvSpPr>
          <p:cNvPr id="15" name="Shape 13"/>
          <p:cNvSpPr/>
          <p:nvPr/>
        </p:nvSpPr>
        <p:spPr>
          <a:xfrm>
            <a:off x="4507992" y="2304288"/>
            <a:ext cx="3182112" cy="2286000"/>
          </a:xfrm>
          <a:prstGeom prst="roundRect">
            <a:avLst/>
          </a:prstGeom>
          <a:solidFill>
            <a:srgbClr val="FFFFFF"/>
          </a:solidFill>
          <a:ln w="12700">
            <a:solidFill>
              <a:srgbClr val="D2C5AE"/>
            </a:solidFill>
            <a:prstDash val="solid"/>
          </a:ln>
        </p:spPr>
      </p:sp>
      <p:sp>
        <p:nvSpPr>
          <p:cNvPr id="16" name="Shape 14"/>
          <p:cNvSpPr/>
          <p:nvPr/>
        </p:nvSpPr>
        <p:spPr>
          <a:xfrm>
            <a:off x="5751576" y="2414016"/>
            <a:ext cx="658368" cy="310896"/>
          </a:xfrm>
          <a:prstGeom prst="roundRect">
            <a:avLst/>
          </a:prstGeom>
          <a:solidFill>
            <a:srgbClr val="173D24"/>
          </a:solidFill>
          <a:ln w="12700">
            <a:solidFill>
              <a:srgbClr val="173D24"/>
            </a:solidFill>
            <a:prstDash val="solid"/>
          </a:ln>
        </p:spPr>
      </p:sp>
      <p:sp>
        <p:nvSpPr>
          <p:cNvPr id="17" name="Text 15"/>
          <p:cNvSpPr/>
          <p:nvPr/>
        </p:nvSpPr>
        <p:spPr>
          <a:xfrm>
            <a:off x="5824728" y="2468880"/>
            <a:ext cx="512064" cy="219456"/>
          </a:xfrm>
          <a:prstGeom prst="rect">
            <a:avLst/>
          </a:prstGeom>
          <a:noFill/>
          <a:ln/>
        </p:spPr>
        <p:txBody>
          <a:bodyPr wrap="square" lIns="0" tIns="0" rIns="0" bIns="0" rtlCol="0" anchor="ctr">
            <a:normAutofit/>
          </a:bodyPr>
          <a:lstStyle/>
          <a:p>
            <a:pPr algn="ctr" indent="0" marL="0">
              <a:buNone/>
            </a:pPr>
            <a:r>
              <a:rPr lang="en-US" sz="1050" b="1" dirty="0">
                <a:solidFill>
                  <a:srgbClr val="C89C3D"/>
                </a:solidFill>
                <a:latin typeface="Aptos" pitchFamily="34" charset="0"/>
                <a:ea typeface="Aptos" pitchFamily="34" charset="-122"/>
                <a:cs typeface="Aptos" pitchFamily="34" charset="-120"/>
              </a:rPr>
              <a:t>2</a:t>
            </a:r>
            <a:endParaRPr lang="en-US" sz="1050" dirty="0"/>
          </a:p>
        </p:txBody>
      </p:sp>
      <p:sp>
        <p:nvSpPr>
          <p:cNvPr id="18" name="Text 16"/>
          <p:cNvSpPr/>
          <p:nvPr/>
        </p:nvSpPr>
        <p:spPr>
          <a:xfrm>
            <a:off x="4672584" y="2852928"/>
            <a:ext cx="2834640" cy="292608"/>
          </a:xfrm>
          <a:prstGeom prst="rect">
            <a:avLst/>
          </a:prstGeom>
          <a:noFill/>
          <a:ln/>
        </p:spPr>
        <p:txBody>
          <a:bodyPr wrap="square" lIns="508" tIns="508" rIns="508" bIns="508" rtlCol="0" anchor="ctr">
            <a:normAutofit/>
          </a:bodyPr>
          <a:lstStyle/>
          <a:p>
            <a:pPr algn="ctr" indent="0" marL="0">
              <a:buNone/>
            </a:pPr>
            <a:r>
              <a:rPr lang="en-US" sz="1700" b="1" dirty="0">
                <a:solidFill>
                  <a:srgbClr val="173D24"/>
                </a:solidFill>
                <a:latin typeface="Georgia" pitchFamily="34" charset="0"/>
                <a:ea typeface="Georgia" pitchFamily="34" charset="-122"/>
                <a:cs typeface="Georgia" pitchFamily="34" charset="-120"/>
              </a:rPr>
              <a:t>Repeated under pressure</a:t>
            </a:r>
            <a:endParaRPr lang="en-US" sz="1700" dirty="0"/>
          </a:p>
        </p:txBody>
      </p:sp>
      <p:sp>
        <p:nvSpPr>
          <p:cNvPr id="19" name="Text 17"/>
          <p:cNvSpPr/>
          <p:nvPr/>
        </p:nvSpPr>
        <p:spPr>
          <a:xfrm>
            <a:off x="4672584" y="3419856"/>
            <a:ext cx="2834640" cy="804672"/>
          </a:xfrm>
          <a:prstGeom prst="rect">
            <a:avLst/>
          </a:prstGeom>
          <a:noFill/>
          <a:ln/>
        </p:spPr>
        <p:txBody>
          <a:bodyPr wrap="square" lIns="508" tIns="508" rIns="508" bIns="508" rtlCol="0" anchor="ctr">
            <a:normAutofit/>
          </a:bodyPr>
          <a:lstStyle/>
          <a:p>
            <a:pPr algn="ctr" indent="0" marL="0">
              <a:buNone/>
            </a:pPr>
            <a:r>
              <a:rPr lang="en-US" sz="1300" dirty="0">
                <a:solidFill>
                  <a:srgbClr val="203128"/>
                </a:solidFill>
                <a:latin typeface="Aptos" pitchFamily="34" charset="0"/>
                <a:ea typeface="Aptos" pitchFamily="34" charset="-122"/>
                <a:cs typeface="Aptos" pitchFamily="34" charset="-120"/>
              </a:rPr>
              <a:t>The same response becomes easier to trigger and harder to interrupt.</a:t>
            </a:r>
            <a:endParaRPr lang="en-US" sz="1300" dirty="0"/>
          </a:p>
        </p:txBody>
      </p:sp>
      <p:sp>
        <p:nvSpPr>
          <p:cNvPr id="20" name="Shape 18"/>
          <p:cNvSpPr/>
          <p:nvPr/>
        </p:nvSpPr>
        <p:spPr>
          <a:xfrm>
            <a:off x="8302752" y="2304288"/>
            <a:ext cx="3182112" cy="2286000"/>
          </a:xfrm>
          <a:prstGeom prst="roundRect">
            <a:avLst/>
          </a:prstGeom>
          <a:solidFill>
            <a:srgbClr val="FFFFFF"/>
          </a:solidFill>
          <a:ln w="12700">
            <a:solidFill>
              <a:srgbClr val="D2C5AE"/>
            </a:solidFill>
            <a:prstDash val="solid"/>
          </a:ln>
        </p:spPr>
      </p:sp>
      <p:sp>
        <p:nvSpPr>
          <p:cNvPr id="21" name="Shape 19"/>
          <p:cNvSpPr/>
          <p:nvPr/>
        </p:nvSpPr>
        <p:spPr>
          <a:xfrm>
            <a:off x="9546336" y="2414016"/>
            <a:ext cx="658368" cy="310896"/>
          </a:xfrm>
          <a:prstGeom prst="roundRect">
            <a:avLst/>
          </a:prstGeom>
          <a:solidFill>
            <a:srgbClr val="173D24"/>
          </a:solidFill>
          <a:ln w="12700">
            <a:solidFill>
              <a:srgbClr val="173D24"/>
            </a:solidFill>
            <a:prstDash val="solid"/>
          </a:ln>
        </p:spPr>
      </p:sp>
      <p:sp>
        <p:nvSpPr>
          <p:cNvPr id="22" name="Text 20"/>
          <p:cNvSpPr/>
          <p:nvPr/>
        </p:nvSpPr>
        <p:spPr>
          <a:xfrm>
            <a:off x="9619488" y="2468880"/>
            <a:ext cx="512064" cy="219456"/>
          </a:xfrm>
          <a:prstGeom prst="rect">
            <a:avLst/>
          </a:prstGeom>
          <a:noFill/>
          <a:ln/>
        </p:spPr>
        <p:txBody>
          <a:bodyPr wrap="square" lIns="0" tIns="0" rIns="0" bIns="0" rtlCol="0" anchor="ctr">
            <a:normAutofit/>
          </a:bodyPr>
          <a:lstStyle/>
          <a:p>
            <a:pPr algn="ctr" indent="0" marL="0">
              <a:buNone/>
            </a:pPr>
            <a:r>
              <a:rPr lang="en-US" sz="1050" b="1" dirty="0">
                <a:solidFill>
                  <a:srgbClr val="C89C3D"/>
                </a:solidFill>
                <a:latin typeface="Aptos" pitchFamily="34" charset="0"/>
                <a:ea typeface="Aptos" pitchFamily="34" charset="-122"/>
                <a:cs typeface="Aptos" pitchFamily="34" charset="-120"/>
              </a:rPr>
              <a:t>3</a:t>
            </a:r>
            <a:endParaRPr lang="en-US" sz="1050" dirty="0"/>
          </a:p>
        </p:txBody>
      </p:sp>
      <p:sp>
        <p:nvSpPr>
          <p:cNvPr id="23" name="Text 21"/>
          <p:cNvSpPr/>
          <p:nvPr/>
        </p:nvSpPr>
        <p:spPr>
          <a:xfrm>
            <a:off x="8467344" y="2852928"/>
            <a:ext cx="2834640" cy="292608"/>
          </a:xfrm>
          <a:prstGeom prst="rect">
            <a:avLst/>
          </a:prstGeom>
          <a:noFill/>
          <a:ln/>
        </p:spPr>
        <p:txBody>
          <a:bodyPr wrap="square" lIns="508" tIns="508" rIns="508" bIns="508" rtlCol="0" anchor="ctr">
            <a:normAutofit/>
          </a:bodyPr>
          <a:lstStyle/>
          <a:p>
            <a:pPr algn="ctr" indent="0" marL="0">
              <a:buNone/>
            </a:pPr>
            <a:r>
              <a:rPr lang="en-US" sz="1700" b="1" dirty="0">
                <a:solidFill>
                  <a:srgbClr val="173D24"/>
                </a:solidFill>
                <a:latin typeface="Georgia" pitchFamily="34" charset="0"/>
                <a:ea typeface="Georgia" pitchFamily="34" charset="-122"/>
                <a:cs typeface="Georgia" pitchFamily="34" charset="-120"/>
              </a:rPr>
              <a:t>Longer-term pattern</a:t>
            </a:r>
            <a:endParaRPr lang="en-US" sz="1700" dirty="0"/>
          </a:p>
        </p:txBody>
      </p:sp>
      <p:sp>
        <p:nvSpPr>
          <p:cNvPr id="24" name="Text 22"/>
          <p:cNvSpPr/>
          <p:nvPr/>
        </p:nvSpPr>
        <p:spPr>
          <a:xfrm>
            <a:off x="8467344" y="3419856"/>
            <a:ext cx="2834640" cy="804672"/>
          </a:xfrm>
          <a:prstGeom prst="rect">
            <a:avLst/>
          </a:prstGeom>
          <a:noFill/>
          <a:ln/>
        </p:spPr>
        <p:txBody>
          <a:bodyPr wrap="square" lIns="508" tIns="508" rIns="508" bIns="508" rtlCol="0" anchor="ctr">
            <a:normAutofit/>
          </a:bodyPr>
          <a:lstStyle/>
          <a:p>
            <a:pPr algn="ctr" indent="0" marL="0">
              <a:buNone/>
            </a:pPr>
            <a:r>
              <a:rPr lang="en-US" sz="1300" dirty="0">
                <a:solidFill>
                  <a:srgbClr val="203128"/>
                </a:solidFill>
                <a:latin typeface="Aptos" pitchFamily="34" charset="0"/>
                <a:ea typeface="Aptos" pitchFamily="34" charset="-122"/>
                <a:cs typeface="Aptos" pitchFamily="34" charset="-120"/>
              </a:rPr>
              <a:t>What starts as a moment becomes part of how the child meets life.</a:t>
            </a:r>
            <a:endParaRPr lang="en-US" sz="1300" dirty="0"/>
          </a:p>
        </p:txBody>
      </p:sp>
      <p:sp>
        <p:nvSpPr>
          <p:cNvPr id="25" name="Shape 23"/>
          <p:cNvSpPr/>
          <p:nvPr/>
        </p:nvSpPr>
        <p:spPr>
          <a:xfrm>
            <a:off x="3913632" y="3438144"/>
            <a:ext cx="548640" cy="0"/>
          </a:xfrm>
          <a:prstGeom prst="line">
            <a:avLst/>
          </a:prstGeom>
          <a:noFill/>
          <a:ln w="12700">
            <a:solidFill>
              <a:srgbClr val="C89C3D"/>
            </a:solidFill>
            <a:prstDash val="solid"/>
          </a:ln>
        </p:spPr>
      </p:sp>
      <p:sp>
        <p:nvSpPr>
          <p:cNvPr id="26" name="Shape 24"/>
          <p:cNvSpPr/>
          <p:nvPr/>
        </p:nvSpPr>
        <p:spPr>
          <a:xfrm>
            <a:off x="7708392" y="3438144"/>
            <a:ext cx="548640" cy="0"/>
          </a:xfrm>
          <a:prstGeom prst="line">
            <a:avLst/>
          </a:prstGeom>
          <a:noFill/>
          <a:ln w="12700">
            <a:solidFill>
              <a:srgbClr val="C89C3D"/>
            </a:solidFill>
            <a:prstDash val="solid"/>
          </a:ln>
        </p:spPr>
      </p:sp>
      <p:sp>
        <p:nvSpPr>
          <p:cNvPr id="27" name="Shape 25"/>
          <p:cNvSpPr/>
          <p:nvPr/>
        </p:nvSpPr>
        <p:spPr>
          <a:xfrm>
            <a:off x="2880360" y="4919472"/>
            <a:ext cx="6400800" cy="713232"/>
          </a:xfrm>
          <a:prstGeom prst="roundRect">
            <a:avLst/>
          </a:prstGeom>
          <a:solidFill>
            <a:srgbClr val="173D24"/>
          </a:solidFill>
          <a:ln w="12700">
            <a:solidFill>
              <a:srgbClr val="173D24"/>
            </a:solidFill>
            <a:prstDash val="solid"/>
          </a:ln>
        </p:spPr>
      </p:sp>
      <p:sp>
        <p:nvSpPr>
          <p:cNvPr id="28" name="Text 26"/>
          <p:cNvSpPr/>
          <p:nvPr/>
        </p:nvSpPr>
        <p:spPr>
          <a:xfrm>
            <a:off x="3090672" y="5129784"/>
            <a:ext cx="5980176" cy="201168"/>
          </a:xfrm>
          <a:prstGeom prst="rect">
            <a:avLst/>
          </a:prstGeom>
          <a:noFill/>
          <a:ln/>
        </p:spPr>
        <p:txBody>
          <a:bodyPr wrap="square" lIns="508" tIns="508" rIns="508" bIns="508" rtlCol="0" anchor="ctr">
            <a:normAutofit/>
          </a:bodyPr>
          <a:lstStyle/>
          <a:p>
            <a:pPr algn="ctr" indent="0" marL="0">
              <a:buNone/>
            </a:pPr>
            <a:r>
              <a:rPr lang="en-US" sz="1600" b="1" dirty="0">
                <a:solidFill>
                  <a:srgbClr val="C89C3D"/>
                </a:solidFill>
                <a:latin typeface="Georgia" pitchFamily="34" charset="0"/>
                <a:ea typeface="Georgia" pitchFamily="34" charset="-122"/>
                <a:cs typeface="Georgia" pitchFamily="34" charset="-120"/>
              </a:rPr>
              <a:t>The earlier children learn to notice, accept, and redirect, the easier it is to build a different pattern.</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0E6"/>
        </a:solidFill>
      </p:bgPr>
    </p:bg>
    <p:spTree>
      <p:nvGrpSpPr>
        <p:cNvPr id="1" name=""/>
        <p:cNvGrpSpPr/>
        <p:nvPr/>
      </p:nvGrpSpPr>
      <p:grpSpPr>
        <a:xfrm>
          <a:off x="0" y="0"/>
          <a:ext cx="0" cy="0"/>
          <a:chOff x="0" y="0"/>
          <a:chExt cx="0" cy="0"/>
        </a:xfrm>
      </p:grpSpPr>
      <p:sp>
        <p:nvSpPr>
          <p:cNvPr id="2" name="Shape 0"/>
          <p:cNvSpPr/>
          <p:nvPr/>
        </p:nvSpPr>
        <p:spPr>
          <a:xfrm>
            <a:off x="0" y="0"/>
            <a:ext cx="12191695" cy="713232"/>
          </a:xfrm>
          <a:prstGeom prst="rect">
            <a:avLst/>
          </a:prstGeom>
          <a:solidFill>
            <a:srgbClr val="173D24"/>
          </a:solidFill>
          <a:ln w="12700">
            <a:solidFill>
              <a:srgbClr val="173D24"/>
            </a:solidFill>
            <a:prstDash val="solid"/>
          </a:ln>
        </p:spPr>
      </p:sp>
      <p:sp>
        <p:nvSpPr>
          <p:cNvPr id="3" name="Text 1"/>
          <p:cNvSpPr/>
          <p:nvPr/>
        </p:nvSpPr>
        <p:spPr>
          <a:xfrm>
            <a:off x="475488" y="146304"/>
            <a:ext cx="1828800" cy="146304"/>
          </a:xfrm>
          <a:prstGeom prst="rect">
            <a:avLst/>
          </a:prstGeom>
          <a:noFill/>
          <a:ln/>
        </p:spPr>
        <p:txBody>
          <a:bodyPr wrap="square" lIns="0" tIns="0" rIns="0" bIns="0" rtlCol="0" anchor="ctr">
            <a:normAutofit/>
          </a:bodyPr>
          <a:lstStyle/>
          <a:p>
            <a:pPr indent="0" marL="0">
              <a:buNone/>
            </a:pPr>
            <a:r>
              <a:rPr lang="en-US" sz="900" b="1" dirty="0">
                <a:solidFill>
                  <a:srgbClr val="C89C3D"/>
                </a:solidFill>
                <a:latin typeface="Aptos" pitchFamily="34" charset="0"/>
                <a:ea typeface="Aptos" pitchFamily="34" charset="-122"/>
                <a:cs typeface="Aptos" pitchFamily="34" charset="-120"/>
              </a:rPr>
              <a:t>SLIDE 11 OF 17</a:t>
            </a:r>
            <a:endParaRPr lang="en-US" sz="900" dirty="0"/>
          </a:p>
        </p:txBody>
      </p:sp>
      <p:sp>
        <p:nvSpPr>
          <p:cNvPr id="4" name="Text 2"/>
          <p:cNvSpPr/>
          <p:nvPr/>
        </p:nvSpPr>
        <p:spPr>
          <a:xfrm>
            <a:off x="475488" y="283464"/>
            <a:ext cx="8138160" cy="237744"/>
          </a:xfrm>
          <a:prstGeom prst="rect">
            <a:avLst/>
          </a:prstGeom>
          <a:noFill/>
          <a:ln/>
        </p:spPr>
        <p:txBody>
          <a:bodyPr wrap="square" lIns="0" tIns="0" rIns="0" bIns="0" rtlCol="0" anchor="ctr">
            <a:normAutofit/>
          </a:bodyPr>
          <a:lstStyle/>
          <a:p>
            <a:pPr indent="0" marL="0">
              <a:buNone/>
            </a:pPr>
            <a:r>
              <a:rPr lang="en-US" sz="2200" b="1" dirty="0">
                <a:solidFill>
                  <a:srgbClr val="FFFFFF"/>
                </a:solidFill>
                <a:latin typeface="Georgia" pitchFamily="34" charset="0"/>
                <a:ea typeface="Georgia" pitchFamily="34" charset="-122"/>
                <a:cs typeface="Georgia" pitchFamily="34" charset="-120"/>
              </a:rPr>
              <a:t>AAA — the structured method behind ThinkRoot</a:t>
            </a:r>
            <a:endParaRPr lang="en-US" sz="2200" dirty="0"/>
          </a:p>
        </p:txBody>
      </p:sp>
      <p:sp>
        <p:nvSpPr>
          <p:cNvPr id="5" name="Text 3"/>
          <p:cNvSpPr/>
          <p:nvPr/>
        </p:nvSpPr>
        <p:spPr>
          <a:xfrm>
            <a:off x="9006840" y="173736"/>
            <a:ext cx="2697480" cy="146304"/>
          </a:xfrm>
          <a:prstGeom prst="rect">
            <a:avLst/>
          </a:prstGeom>
          <a:noFill/>
          <a:ln/>
        </p:spPr>
        <p:txBody>
          <a:bodyPr wrap="square" lIns="0" tIns="0" rIns="0" bIns="0" rtlCol="0" anchor="ctr">
            <a:normAutofit/>
          </a:bodyPr>
          <a:lstStyle/>
          <a:p>
            <a:pPr algn="r" indent="0" marL="0">
              <a:buNone/>
            </a:pPr>
            <a:r>
              <a:rPr lang="en-US" sz="900" b="1" dirty="0">
                <a:solidFill>
                  <a:srgbClr val="F6F0E6"/>
                </a:solidFill>
                <a:latin typeface="Aptos" pitchFamily="34" charset="0"/>
                <a:ea typeface="Aptos" pitchFamily="34" charset="-122"/>
                <a:cs typeface="Aptos" pitchFamily="34" charset="-120"/>
              </a:rPr>
              <a:t>METHOD</a:t>
            </a:r>
            <a:endParaRPr lang="en-US" sz="900" dirty="0"/>
          </a:p>
        </p:txBody>
      </p:sp>
      <p:sp>
        <p:nvSpPr>
          <p:cNvPr id="6" name="Shape 4"/>
          <p:cNvSpPr/>
          <p:nvPr/>
        </p:nvSpPr>
        <p:spPr>
          <a:xfrm>
            <a:off x="475488" y="932688"/>
            <a:ext cx="64008" cy="694944"/>
          </a:xfrm>
          <a:prstGeom prst="rect">
            <a:avLst/>
          </a:prstGeom>
          <a:solidFill>
            <a:srgbClr val="C89C3D"/>
          </a:solidFill>
          <a:ln w="12700">
            <a:solidFill>
              <a:srgbClr val="C89C3D"/>
            </a:solidFill>
            <a:prstDash val="solid"/>
          </a:ln>
        </p:spPr>
      </p:sp>
      <p:sp>
        <p:nvSpPr>
          <p:cNvPr id="7" name="Text 5"/>
          <p:cNvSpPr/>
          <p:nvPr/>
        </p:nvSpPr>
        <p:spPr>
          <a:xfrm>
            <a:off x="658368" y="960120"/>
            <a:ext cx="11064240" cy="585216"/>
          </a:xfrm>
          <a:prstGeom prst="rect">
            <a:avLst/>
          </a:prstGeom>
          <a:noFill/>
          <a:ln/>
        </p:spPr>
        <p:txBody>
          <a:bodyPr wrap="square" lIns="0" tIns="0" rIns="0" bIns="0" rtlCol="0" anchor="ctr">
            <a:normAutofit/>
          </a:bodyPr>
          <a:lstStyle/>
          <a:p>
            <a:pPr indent="0" marL="0">
              <a:buNone/>
            </a:pPr>
            <a:r>
              <a:rPr lang="en-US" sz="2400" b="1" dirty="0">
                <a:solidFill>
                  <a:srgbClr val="173D24"/>
                </a:solidFill>
                <a:latin typeface="Georgia" pitchFamily="34" charset="0"/>
                <a:ea typeface="Georgia" pitchFamily="34" charset="-122"/>
                <a:cs typeface="Georgia" pitchFamily="34" charset="-120"/>
              </a:rPr>
              <a:t>One method. Three steps. A clearer response before things escalate.</a:t>
            </a:r>
            <a:endParaRPr lang="en-US" sz="2400" dirty="0"/>
          </a:p>
        </p:txBody>
      </p:sp>
      <p:sp>
        <p:nvSpPr>
          <p:cNvPr id="8" name="Shape 6"/>
          <p:cNvSpPr/>
          <p:nvPr/>
        </p:nvSpPr>
        <p:spPr>
          <a:xfrm>
            <a:off x="749808" y="1783080"/>
            <a:ext cx="1627632" cy="1078992"/>
          </a:xfrm>
          <a:prstGeom prst="roundRect">
            <a:avLst/>
          </a:prstGeom>
          <a:solidFill>
            <a:srgbClr val="C89C3D"/>
          </a:solidFill>
          <a:ln w="12700">
            <a:solidFill>
              <a:srgbClr val="C89C3D"/>
            </a:solidFill>
            <a:prstDash val="solid"/>
          </a:ln>
        </p:spPr>
      </p:sp>
      <p:sp>
        <p:nvSpPr>
          <p:cNvPr id="9" name="Text 7"/>
          <p:cNvSpPr/>
          <p:nvPr/>
        </p:nvSpPr>
        <p:spPr>
          <a:xfrm>
            <a:off x="896112" y="1929384"/>
            <a:ext cx="1335024" cy="841248"/>
          </a:xfrm>
          <a:prstGeom prst="rect">
            <a:avLst/>
          </a:prstGeom>
          <a:noFill/>
          <a:ln/>
        </p:spPr>
        <p:txBody>
          <a:bodyPr wrap="square" lIns="508" tIns="508" rIns="508" bIns="508" rtlCol="0" anchor="ctr">
            <a:normAutofit/>
          </a:bodyPr>
          <a:lstStyle/>
          <a:p>
            <a:pPr algn="ctr" indent="0" marL="0">
              <a:buNone/>
            </a:pPr>
            <a:r>
              <a:rPr lang="en-US" sz="2100" b="1" dirty="0">
                <a:solidFill>
                  <a:srgbClr val="173D24"/>
                </a:solidFill>
                <a:latin typeface="Georgia" pitchFamily="34" charset="0"/>
                <a:ea typeface="Georgia" pitchFamily="34" charset="-122"/>
                <a:cs typeface="Georgia" pitchFamily="34" charset="-120"/>
              </a:rPr>
              <a:t>A</a:t>
            </a:r>
            <a:endParaRPr lang="en-US" sz="2100" dirty="0"/>
          </a:p>
          <a:p>
            <a:pPr algn="ctr" indent="0" marL="0">
              <a:buNone/>
            </a:pPr>
            <a:r>
              <a:rPr lang="en-US" sz="2100" b="1" dirty="0">
                <a:solidFill>
                  <a:srgbClr val="173D24"/>
                </a:solidFill>
                <a:latin typeface="Georgia" pitchFamily="34" charset="0"/>
                <a:ea typeface="Georgia" pitchFamily="34" charset="-122"/>
                <a:cs typeface="Georgia" pitchFamily="34" charset="-120"/>
              </a:rPr>
              <a:t>Awareness</a:t>
            </a:r>
            <a:endParaRPr lang="en-US" sz="2100" dirty="0"/>
          </a:p>
        </p:txBody>
      </p:sp>
      <p:sp>
        <p:nvSpPr>
          <p:cNvPr id="10" name="Shape 8"/>
          <p:cNvSpPr/>
          <p:nvPr/>
        </p:nvSpPr>
        <p:spPr>
          <a:xfrm>
            <a:off x="2542032" y="1783080"/>
            <a:ext cx="8869680" cy="1078992"/>
          </a:xfrm>
          <a:prstGeom prst="roundRect">
            <a:avLst/>
          </a:prstGeom>
          <a:solidFill>
            <a:srgbClr val="FFFFFF"/>
          </a:solidFill>
          <a:ln w="12700">
            <a:solidFill>
              <a:srgbClr val="D2C5AE"/>
            </a:solidFill>
            <a:prstDash val="solid"/>
          </a:ln>
        </p:spPr>
      </p:sp>
      <p:sp>
        <p:nvSpPr>
          <p:cNvPr id="11" name="Text 9"/>
          <p:cNvSpPr/>
          <p:nvPr/>
        </p:nvSpPr>
        <p:spPr>
          <a:xfrm>
            <a:off x="2743200" y="1975104"/>
            <a:ext cx="8430768" cy="384048"/>
          </a:xfrm>
          <a:prstGeom prst="rect">
            <a:avLst/>
          </a:prstGeom>
          <a:noFill/>
          <a:ln/>
        </p:spPr>
        <p:txBody>
          <a:bodyPr wrap="square" lIns="508" tIns="508" rIns="508" bIns="508" rtlCol="0" anchor="ctr">
            <a:normAutofit/>
          </a:bodyPr>
          <a:lstStyle/>
          <a:p>
            <a:pPr indent="0" marL="0">
              <a:buNone/>
            </a:pPr>
            <a:r>
              <a:rPr lang="en-US" sz="1400" dirty="0">
                <a:solidFill>
                  <a:srgbClr val="203128"/>
                </a:solidFill>
                <a:latin typeface="Aptos" pitchFamily="34" charset="0"/>
                <a:ea typeface="Aptos" pitchFamily="34" charset="-122"/>
                <a:cs typeface="Aptos" pitchFamily="34" charset="-120"/>
              </a:rPr>
              <a:t>Notice what is happening in your mind and body before it escalates. Catch the thought, the feeling, the physical signal — early.</a:t>
            </a:r>
            <a:endParaRPr lang="en-US" sz="1400" dirty="0"/>
          </a:p>
        </p:txBody>
      </p:sp>
      <p:sp>
        <p:nvSpPr>
          <p:cNvPr id="12" name="Text 10"/>
          <p:cNvSpPr/>
          <p:nvPr/>
        </p:nvSpPr>
        <p:spPr>
          <a:xfrm>
            <a:off x="2743200" y="2377440"/>
            <a:ext cx="8412480" cy="164592"/>
          </a:xfrm>
          <a:prstGeom prst="rect">
            <a:avLst/>
          </a:prstGeom>
          <a:noFill/>
          <a:ln/>
        </p:spPr>
        <p:txBody>
          <a:bodyPr wrap="square" lIns="508" tIns="508" rIns="508" bIns="508" rtlCol="0" anchor="ctr">
            <a:normAutofit/>
          </a:bodyPr>
          <a:lstStyle/>
          <a:p>
            <a:pPr indent="0" marL="0">
              <a:buNone/>
            </a:pPr>
            <a:r>
              <a:rPr lang="en-US" sz="1150" b="1" dirty="0">
                <a:solidFill>
                  <a:srgbClr val="173D24"/>
                </a:solidFill>
                <a:latin typeface="Aptos" pitchFamily="34" charset="0"/>
                <a:ea typeface="Aptos" pitchFamily="34" charset="-122"/>
                <a:cs typeface="Aptos" pitchFamily="34" charset="-120"/>
              </a:rPr>
              <a:t>This is the step most children have never been taught.</a:t>
            </a:r>
            <a:endParaRPr lang="en-US" sz="1150" dirty="0"/>
          </a:p>
        </p:txBody>
      </p:sp>
      <p:sp>
        <p:nvSpPr>
          <p:cNvPr id="13" name="Shape 11"/>
          <p:cNvSpPr/>
          <p:nvPr/>
        </p:nvSpPr>
        <p:spPr>
          <a:xfrm>
            <a:off x="749808" y="3081528"/>
            <a:ext cx="1627632" cy="1243584"/>
          </a:xfrm>
          <a:prstGeom prst="roundRect">
            <a:avLst/>
          </a:prstGeom>
          <a:solidFill>
            <a:srgbClr val="173D24"/>
          </a:solidFill>
          <a:ln w="12700">
            <a:solidFill>
              <a:srgbClr val="173D24"/>
            </a:solidFill>
            <a:prstDash val="solid"/>
          </a:ln>
        </p:spPr>
      </p:sp>
      <p:sp>
        <p:nvSpPr>
          <p:cNvPr id="14" name="Text 12"/>
          <p:cNvSpPr/>
          <p:nvPr/>
        </p:nvSpPr>
        <p:spPr>
          <a:xfrm>
            <a:off x="896112" y="3227832"/>
            <a:ext cx="1335024" cy="1005840"/>
          </a:xfrm>
          <a:prstGeom prst="rect">
            <a:avLst/>
          </a:prstGeom>
          <a:noFill/>
          <a:ln/>
        </p:spPr>
        <p:txBody>
          <a:bodyPr wrap="square" lIns="508" tIns="508" rIns="508" bIns="508" rtlCol="0" anchor="ctr">
            <a:normAutofit/>
          </a:bodyPr>
          <a:lstStyle/>
          <a:p>
            <a:pPr algn="ctr" indent="0" marL="0">
              <a:buNone/>
            </a:pPr>
            <a:r>
              <a:rPr lang="en-US" sz="2100" b="1" dirty="0">
                <a:solidFill>
                  <a:srgbClr val="C89C3D"/>
                </a:solidFill>
                <a:latin typeface="Georgia" pitchFamily="34" charset="0"/>
                <a:ea typeface="Georgia" pitchFamily="34" charset="-122"/>
                <a:cs typeface="Georgia" pitchFamily="34" charset="-120"/>
              </a:rPr>
              <a:t>A</a:t>
            </a:r>
            <a:endParaRPr lang="en-US" sz="2100" dirty="0"/>
          </a:p>
          <a:p>
            <a:pPr algn="ctr" indent="0" marL="0">
              <a:buNone/>
            </a:pPr>
            <a:r>
              <a:rPr lang="en-US" sz="2100" b="1" dirty="0">
                <a:solidFill>
                  <a:srgbClr val="C89C3D"/>
                </a:solidFill>
                <a:latin typeface="Georgia" pitchFamily="34" charset="0"/>
                <a:ea typeface="Georgia" pitchFamily="34" charset="-122"/>
                <a:cs typeface="Georgia" pitchFamily="34" charset="-120"/>
              </a:rPr>
              <a:t>Accept</a:t>
            </a:r>
            <a:endParaRPr lang="en-US" sz="2100" dirty="0"/>
          </a:p>
        </p:txBody>
      </p:sp>
      <p:sp>
        <p:nvSpPr>
          <p:cNvPr id="15" name="Shape 13"/>
          <p:cNvSpPr/>
          <p:nvPr/>
        </p:nvSpPr>
        <p:spPr>
          <a:xfrm>
            <a:off x="2542032" y="3081528"/>
            <a:ext cx="8869680" cy="1243584"/>
          </a:xfrm>
          <a:prstGeom prst="roundRect">
            <a:avLst/>
          </a:prstGeom>
          <a:solidFill>
            <a:srgbClr val="FFFFFF"/>
          </a:solidFill>
          <a:ln w="12700">
            <a:solidFill>
              <a:srgbClr val="D2C5AE"/>
            </a:solidFill>
            <a:prstDash val="solid"/>
          </a:ln>
        </p:spPr>
      </p:sp>
      <p:sp>
        <p:nvSpPr>
          <p:cNvPr id="16" name="Text 14"/>
          <p:cNvSpPr/>
          <p:nvPr/>
        </p:nvSpPr>
        <p:spPr>
          <a:xfrm>
            <a:off x="2743200" y="3273552"/>
            <a:ext cx="8430768" cy="256032"/>
          </a:xfrm>
          <a:prstGeom prst="rect">
            <a:avLst/>
          </a:prstGeom>
          <a:noFill/>
          <a:ln/>
        </p:spPr>
        <p:txBody>
          <a:bodyPr wrap="square" lIns="508" tIns="508" rIns="508" bIns="508" rtlCol="0" anchor="ctr">
            <a:normAutofit/>
          </a:bodyPr>
          <a:lstStyle/>
          <a:p>
            <a:pPr indent="0" marL="0">
              <a:buNone/>
            </a:pPr>
            <a:r>
              <a:rPr lang="en-US" sz="1400" dirty="0">
                <a:solidFill>
                  <a:srgbClr val="203128"/>
                </a:solidFill>
                <a:latin typeface="Aptos" pitchFamily="34" charset="0"/>
                <a:ea typeface="Aptos" pitchFamily="34" charset="-122"/>
                <a:cs typeface="Aptos" pitchFamily="34" charset="-120"/>
              </a:rPr>
              <a:t>Acknowledge the thought or feeling without fighting it or pushing it away.</a:t>
            </a:r>
            <a:endParaRPr lang="en-US" sz="1400" dirty="0"/>
          </a:p>
        </p:txBody>
      </p:sp>
      <p:sp>
        <p:nvSpPr>
          <p:cNvPr id="17" name="Text 15"/>
          <p:cNvSpPr/>
          <p:nvPr/>
        </p:nvSpPr>
        <p:spPr>
          <a:xfrm>
            <a:off x="2743200" y="3657600"/>
            <a:ext cx="8430768" cy="164592"/>
          </a:xfrm>
          <a:prstGeom prst="rect">
            <a:avLst/>
          </a:prstGeom>
          <a:noFill/>
          <a:ln/>
        </p:spPr>
        <p:txBody>
          <a:bodyPr wrap="square" lIns="508" tIns="508" rIns="508" bIns="508" rtlCol="0" anchor="ctr">
            <a:normAutofit/>
          </a:bodyPr>
          <a:lstStyle/>
          <a:p>
            <a:pPr indent="0" marL="0">
              <a:buNone/>
            </a:pPr>
            <a:r>
              <a:rPr lang="en-US" sz="1150" b="1" dirty="0">
                <a:solidFill>
                  <a:srgbClr val="8B3C3C"/>
                </a:solidFill>
                <a:latin typeface="Aptos" pitchFamily="34" charset="0"/>
                <a:ea typeface="Aptos" pitchFamily="34" charset="-122"/>
                <a:cs typeface="Aptos" pitchFamily="34" charset="-120"/>
              </a:rPr>
              <a:t>Suppression makes patterns stronger. Acceptance is what allows transformation.</a:t>
            </a:r>
            <a:endParaRPr lang="en-US" sz="1150" dirty="0"/>
          </a:p>
        </p:txBody>
      </p:sp>
      <p:sp>
        <p:nvSpPr>
          <p:cNvPr id="18" name="Text 16"/>
          <p:cNvSpPr/>
          <p:nvPr/>
        </p:nvSpPr>
        <p:spPr>
          <a:xfrm>
            <a:off x="2743200" y="3886200"/>
            <a:ext cx="8430768" cy="164592"/>
          </a:xfrm>
          <a:prstGeom prst="rect">
            <a:avLst/>
          </a:prstGeom>
          <a:noFill/>
          <a:ln/>
        </p:spPr>
        <p:txBody>
          <a:bodyPr wrap="square" lIns="508" tIns="508" rIns="508" bIns="508" rtlCol="0" anchor="ctr">
            <a:normAutofit/>
          </a:bodyPr>
          <a:lstStyle/>
          <a:p>
            <a:pPr indent="0" marL="0">
              <a:buNone/>
            </a:pPr>
            <a:r>
              <a:rPr lang="en-US" sz="1150" b="1" dirty="0">
                <a:solidFill>
                  <a:srgbClr val="173D24"/>
                </a:solidFill>
                <a:latin typeface="Aptos" pitchFamily="34" charset="0"/>
                <a:ea typeface="Aptos" pitchFamily="34" charset="-122"/>
                <a:cs typeface="Aptos" pitchFamily="34" charset="-120"/>
              </a:rPr>
              <a:t>This step is what separates ThinkRoot from generic coping techniques.</a:t>
            </a:r>
            <a:endParaRPr lang="en-US" sz="1150" dirty="0"/>
          </a:p>
        </p:txBody>
      </p:sp>
      <p:sp>
        <p:nvSpPr>
          <p:cNvPr id="19" name="Shape 17"/>
          <p:cNvSpPr/>
          <p:nvPr/>
        </p:nvSpPr>
        <p:spPr>
          <a:xfrm>
            <a:off x="749808" y="4553712"/>
            <a:ext cx="1627632" cy="1316736"/>
          </a:xfrm>
          <a:prstGeom prst="roundRect">
            <a:avLst/>
          </a:prstGeom>
          <a:solidFill>
            <a:srgbClr val="C89C3D"/>
          </a:solidFill>
          <a:ln w="12700">
            <a:solidFill>
              <a:srgbClr val="C89C3D"/>
            </a:solidFill>
            <a:prstDash val="solid"/>
          </a:ln>
        </p:spPr>
      </p:sp>
      <p:sp>
        <p:nvSpPr>
          <p:cNvPr id="20" name="Text 18"/>
          <p:cNvSpPr/>
          <p:nvPr/>
        </p:nvSpPr>
        <p:spPr>
          <a:xfrm>
            <a:off x="896112" y="4700016"/>
            <a:ext cx="1335024" cy="1078992"/>
          </a:xfrm>
          <a:prstGeom prst="rect">
            <a:avLst/>
          </a:prstGeom>
          <a:noFill/>
          <a:ln/>
        </p:spPr>
        <p:txBody>
          <a:bodyPr wrap="square" lIns="508" tIns="508" rIns="508" bIns="508" rtlCol="0" anchor="ctr">
            <a:normAutofit/>
          </a:bodyPr>
          <a:lstStyle/>
          <a:p>
            <a:pPr algn="ctr" indent="0" marL="0">
              <a:buNone/>
            </a:pPr>
            <a:r>
              <a:rPr lang="en-US" sz="2100" b="1" dirty="0">
                <a:solidFill>
                  <a:srgbClr val="173D24"/>
                </a:solidFill>
                <a:latin typeface="Georgia" pitchFamily="34" charset="0"/>
                <a:ea typeface="Georgia" pitchFamily="34" charset="-122"/>
                <a:cs typeface="Georgia" pitchFamily="34" charset="-120"/>
              </a:rPr>
              <a:t>A</a:t>
            </a:r>
            <a:endParaRPr lang="en-US" sz="2100" dirty="0"/>
          </a:p>
          <a:p>
            <a:pPr algn="ctr" indent="0" marL="0">
              <a:buNone/>
            </a:pPr>
            <a:r>
              <a:rPr lang="en-US" sz="2100" b="1" dirty="0">
                <a:solidFill>
                  <a:srgbClr val="173D24"/>
                </a:solidFill>
                <a:latin typeface="Georgia" pitchFamily="34" charset="0"/>
                <a:ea typeface="Georgia" pitchFamily="34" charset="-122"/>
                <a:cs typeface="Georgia" pitchFamily="34" charset="-120"/>
              </a:rPr>
              <a:t>Action</a:t>
            </a:r>
            <a:endParaRPr lang="en-US" sz="2100" dirty="0"/>
          </a:p>
        </p:txBody>
      </p:sp>
      <p:sp>
        <p:nvSpPr>
          <p:cNvPr id="21" name="Shape 19"/>
          <p:cNvSpPr/>
          <p:nvPr/>
        </p:nvSpPr>
        <p:spPr>
          <a:xfrm>
            <a:off x="2542032" y="4553712"/>
            <a:ext cx="8869680" cy="1316736"/>
          </a:xfrm>
          <a:prstGeom prst="roundRect">
            <a:avLst/>
          </a:prstGeom>
          <a:solidFill>
            <a:srgbClr val="FFFFFF"/>
          </a:solidFill>
          <a:ln w="12700">
            <a:solidFill>
              <a:srgbClr val="D2C5AE"/>
            </a:solidFill>
            <a:prstDash val="solid"/>
          </a:ln>
        </p:spPr>
      </p:sp>
      <p:sp>
        <p:nvSpPr>
          <p:cNvPr id="22" name="Text 20"/>
          <p:cNvSpPr/>
          <p:nvPr/>
        </p:nvSpPr>
        <p:spPr>
          <a:xfrm>
            <a:off x="2743200" y="4736592"/>
            <a:ext cx="8430768" cy="256032"/>
          </a:xfrm>
          <a:prstGeom prst="rect">
            <a:avLst/>
          </a:prstGeom>
          <a:noFill/>
          <a:ln/>
        </p:spPr>
        <p:txBody>
          <a:bodyPr wrap="square" lIns="508" tIns="508" rIns="508" bIns="508" rtlCol="0" anchor="ctr">
            <a:normAutofit/>
          </a:bodyPr>
          <a:lstStyle/>
          <a:p>
            <a:pPr indent="0" marL="0">
              <a:buNone/>
            </a:pPr>
            <a:r>
              <a:rPr lang="en-US" sz="1400" dirty="0">
                <a:solidFill>
                  <a:srgbClr val="203128"/>
                </a:solidFill>
                <a:latin typeface="Aptos" pitchFamily="34" charset="0"/>
                <a:ea typeface="Aptos" pitchFamily="34" charset="-122"/>
                <a:cs typeface="Aptos" pitchFamily="34" charset="-120"/>
              </a:rPr>
              <a:t>Use a specific, practised technique to redirect and choose a steadier response.</a:t>
            </a:r>
            <a:endParaRPr lang="en-US" sz="1400" dirty="0"/>
          </a:p>
        </p:txBody>
      </p:sp>
      <p:sp>
        <p:nvSpPr>
          <p:cNvPr id="23" name="Text 21"/>
          <p:cNvSpPr/>
          <p:nvPr/>
        </p:nvSpPr>
        <p:spPr>
          <a:xfrm>
            <a:off x="2743200" y="5102352"/>
            <a:ext cx="8394192" cy="329184"/>
          </a:xfrm>
          <a:prstGeom prst="rect">
            <a:avLst/>
          </a:prstGeom>
          <a:noFill/>
          <a:ln/>
        </p:spPr>
        <p:txBody>
          <a:bodyPr wrap="square" lIns="508" tIns="508" rIns="508" bIns="508" rtlCol="0" anchor="ctr">
            <a:normAutofit/>
          </a:bodyPr>
          <a:lstStyle/>
          <a:p>
            <a:pPr indent="0" marL="0">
              <a:buNone/>
            </a:pPr>
            <a:r>
              <a:rPr lang="en-US" sz="1150" b="1" dirty="0">
                <a:solidFill>
                  <a:srgbClr val="173D24"/>
                </a:solidFill>
                <a:latin typeface="Aptos" pitchFamily="34" charset="0"/>
                <a:ea typeface="Aptos" pitchFamily="34" charset="-122"/>
                <a:cs typeface="Aptos" pitchFamily="34" charset="-120"/>
              </a:rPr>
              <a:t>The Five Power Technique is the concrete Action tool — under 3 minutes, no equipment, memorised and usable anywhere: before a test, after a mistake, at bedtime.</a:t>
            </a:r>
            <a:endParaRPr lang="en-US" sz="1150" dirty="0"/>
          </a:p>
        </p:txBody>
      </p:sp>
      <p:sp>
        <p:nvSpPr>
          <p:cNvPr id="24" name="Shape 22"/>
          <p:cNvSpPr/>
          <p:nvPr/>
        </p:nvSpPr>
        <p:spPr>
          <a:xfrm>
            <a:off x="2834640" y="6035040"/>
            <a:ext cx="6492240" cy="384048"/>
          </a:xfrm>
          <a:prstGeom prst="roundRect">
            <a:avLst/>
          </a:prstGeom>
          <a:solidFill>
            <a:srgbClr val="173D24"/>
          </a:solidFill>
          <a:ln w="12700">
            <a:solidFill>
              <a:srgbClr val="173D24"/>
            </a:solidFill>
            <a:prstDash val="solid"/>
          </a:ln>
        </p:spPr>
      </p:sp>
      <p:sp>
        <p:nvSpPr>
          <p:cNvPr id="25" name="Text 23"/>
          <p:cNvSpPr/>
          <p:nvPr/>
        </p:nvSpPr>
        <p:spPr>
          <a:xfrm>
            <a:off x="2907792" y="6089904"/>
            <a:ext cx="6345936" cy="292608"/>
          </a:xfrm>
          <a:prstGeom prst="rect">
            <a:avLst/>
          </a:prstGeom>
          <a:noFill/>
          <a:ln/>
        </p:spPr>
        <p:txBody>
          <a:bodyPr wrap="square" lIns="0" tIns="0" rIns="0" bIns="0" rtlCol="0" anchor="ctr">
            <a:normAutofit/>
          </a:bodyPr>
          <a:lstStyle/>
          <a:p>
            <a:pPr algn="ctr" indent="0" marL="0">
              <a:buNone/>
            </a:pPr>
            <a:r>
              <a:rPr lang="en-US" sz="1050" b="1" dirty="0">
                <a:solidFill>
                  <a:srgbClr val="C89C3D"/>
                </a:solidFill>
                <a:latin typeface="Aptos" pitchFamily="34" charset="0"/>
                <a:ea typeface="Aptos" pitchFamily="34" charset="-122"/>
                <a:cs typeface="Aptos" pitchFamily="34" charset="-120"/>
              </a:rPr>
              <a:t>ThinkRoot goes deeper — to the root cause.</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0E6"/>
        </a:solidFill>
      </p:bgPr>
    </p:bg>
    <p:spTree>
      <p:nvGrpSpPr>
        <p:cNvPr id="1" name=""/>
        <p:cNvGrpSpPr/>
        <p:nvPr/>
      </p:nvGrpSpPr>
      <p:grpSpPr>
        <a:xfrm>
          <a:off x="0" y="0"/>
          <a:ext cx="0" cy="0"/>
          <a:chOff x="0" y="0"/>
          <a:chExt cx="0" cy="0"/>
        </a:xfrm>
      </p:grpSpPr>
      <p:sp>
        <p:nvSpPr>
          <p:cNvPr id="2" name="Shape 0"/>
          <p:cNvSpPr/>
          <p:nvPr/>
        </p:nvSpPr>
        <p:spPr>
          <a:xfrm>
            <a:off x="0" y="0"/>
            <a:ext cx="12191695" cy="713232"/>
          </a:xfrm>
          <a:prstGeom prst="rect">
            <a:avLst/>
          </a:prstGeom>
          <a:solidFill>
            <a:srgbClr val="173D24"/>
          </a:solidFill>
          <a:ln w="12700">
            <a:solidFill>
              <a:srgbClr val="173D24"/>
            </a:solidFill>
            <a:prstDash val="solid"/>
          </a:ln>
        </p:spPr>
      </p:sp>
      <p:sp>
        <p:nvSpPr>
          <p:cNvPr id="3" name="Text 1"/>
          <p:cNvSpPr/>
          <p:nvPr/>
        </p:nvSpPr>
        <p:spPr>
          <a:xfrm>
            <a:off x="475488" y="146304"/>
            <a:ext cx="1828800" cy="146304"/>
          </a:xfrm>
          <a:prstGeom prst="rect">
            <a:avLst/>
          </a:prstGeom>
          <a:noFill/>
          <a:ln/>
        </p:spPr>
        <p:txBody>
          <a:bodyPr wrap="square" lIns="0" tIns="0" rIns="0" bIns="0" rtlCol="0" anchor="ctr">
            <a:normAutofit/>
          </a:bodyPr>
          <a:lstStyle/>
          <a:p>
            <a:pPr indent="0" marL="0">
              <a:buNone/>
            </a:pPr>
            <a:r>
              <a:rPr lang="en-US" sz="900" b="1" dirty="0">
                <a:solidFill>
                  <a:srgbClr val="C89C3D"/>
                </a:solidFill>
                <a:latin typeface="Aptos" pitchFamily="34" charset="0"/>
                <a:ea typeface="Aptos" pitchFamily="34" charset="-122"/>
                <a:cs typeface="Aptos" pitchFamily="34" charset="-120"/>
              </a:rPr>
              <a:t>SLIDE 12 OF 17</a:t>
            </a:r>
            <a:endParaRPr lang="en-US" sz="900" dirty="0"/>
          </a:p>
        </p:txBody>
      </p:sp>
      <p:sp>
        <p:nvSpPr>
          <p:cNvPr id="4" name="Text 2"/>
          <p:cNvSpPr/>
          <p:nvPr/>
        </p:nvSpPr>
        <p:spPr>
          <a:xfrm>
            <a:off x="475488" y="283464"/>
            <a:ext cx="8138160" cy="237744"/>
          </a:xfrm>
          <a:prstGeom prst="rect">
            <a:avLst/>
          </a:prstGeom>
          <a:noFill/>
          <a:ln/>
        </p:spPr>
        <p:txBody>
          <a:bodyPr wrap="square" lIns="0" tIns="0" rIns="0" bIns="0" rtlCol="0" anchor="ctr">
            <a:normAutofit/>
          </a:bodyPr>
          <a:lstStyle/>
          <a:p>
            <a:pPr indent="0" marL="0">
              <a:buNone/>
            </a:pPr>
            <a:r>
              <a:rPr lang="en-US" sz="2200" b="1" dirty="0">
                <a:solidFill>
                  <a:srgbClr val="FFFFFF"/>
                </a:solidFill>
                <a:latin typeface="Georgia" pitchFamily="34" charset="0"/>
                <a:ea typeface="Georgia" pitchFamily="34" charset="-122"/>
                <a:cs typeface="Georgia" pitchFamily="34" charset="-120"/>
              </a:rPr>
              <a:t>What children build through ThinkRoot</a:t>
            </a:r>
            <a:endParaRPr lang="en-US" sz="2200" dirty="0"/>
          </a:p>
        </p:txBody>
      </p:sp>
      <p:sp>
        <p:nvSpPr>
          <p:cNvPr id="5" name="Text 3"/>
          <p:cNvSpPr/>
          <p:nvPr/>
        </p:nvSpPr>
        <p:spPr>
          <a:xfrm>
            <a:off x="9006840" y="173736"/>
            <a:ext cx="2697480" cy="146304"/>
          </a:xfrm>
          <a:prstGeom prst="rect">
            <a:avLst/>
          </a:prstGeom>
          <a:noFill/>
          <a:ln/>
        </p:spPr>
        <p:txBody>
          <a:bodyPr wrap="square" lIns="0" tIns="0" rIns="0" bIns="0" rtlCol="0" anchor="ctr">
            <a:normAutofit/>
          </a:bodyPr>
          <a:lstStyle/>
          <a:p>
            <a:pPr algn="r" indent="0" marL="0">
              <a:buNone/>
            </a:pPr>
            <a:r>
              <a:rPr lang="en-US" sz="900" b="1" dirty="0">
                <a:solidFill>
                  <a:srgbClr val="F6F0E6"/>
                </a:solidFill>
                <a:latin typeface="Aptos" pitchFamily="34" charset="0"/>
                <a:ea typeface="Aptos" pitchFamily="34" charset="-122"/>
                <a:cs typeface="Aptos" pitchFamily="34" charset="-120"/>
              </a:rPr>
              <a:t>OUTCOMES</a:t>
            </a:r>
            <a:endParaRPr lang="en-US" sz="900" dirty="0"/>
          </a:p>
        </p:txBody>
      </p:sp>
      <p:sp>
        <p:nvSpPr>
          <p:cNvPr id="6" name="Shape 4"/>
          <p:cNvSpPr/>
          <p:nvPr/>
        </p:nvSpPr>
        <p:spPr>
          <a:xfrm>
            <a:off x="475488" y="932688"/>
            <a:ext cx="64008" cy="694944"/>
          </a:xfrm>
          <a:prstGeom prst="rect">
            <a:avLst/>
          </a:prstGeom>
          <a:solidFill>
            <a:srgbClr val="C89C3D"/>
          </a:solidFill>
          <a:ln w="12700">
            <a:solidFill>
              <a:srgbClr val="C89C3D"/>
            </a:solidFill>
            <a:prstDash val="solid"/>
          </a:ln>
        </p:spPr>
      </p:sp>
      <p:sp>
        <p:nvSpPr>
          <p:cNvPr id="7" name="Text 5"/>
          <p:cNvSpPr/>
          <p:nvPr/>
        </p:nvSpPr>
        <p:spPr>
          <a:xfrm>
            <a:off x="658368" y="960120"/>
            <a:ext cx="11064240" cy="585216"/>
          </a:xfrm>
          <a:prstGeom prst="rect">
            <a:avLst/>
          </a:prstGeom>
          <a:noFill/>
          <a:ln/>
        </p:spPr>
        <p:txBody>
          <a:bodyPr wrap="square" lIns="0" tIns="0" rIns="0" bIns="0" rtlCol="0" anchor="ctr">
            <a:normAutofit/>
          </a:bodyPr>
          <a:lstStyle/>
          <a:p>
            <a:pPr indent="0" marL="0">
              <a:buNone/>
            </a:pPr>
            <a:r>
              <a:rPr lang="en-US" sz="2400" b="1" dirty="0">
                <a:solidFill>
                  <a:srgbClr val="173D24"/>
                </a:solidFill>
                <a:latin typeface="Georgia" pitchFamily="34" charset="0"/>
                <a:ea typeface="Georgia" pitchFamily="34" charset="-122"/>
                <a:cs typeface="Georgia" pitchFamily="34" charset="-120"/>
              </a:rPr>
              <a:t>The program is not just about feeling better in the moment. It builds a toolkit children carry into daily life.</a:t>
            </a:r>
            <a:endParaRPr lang="en-US" sz="2400" dirty="0"/>
          </a:p>
        </p:txBody>
      </p:sp>
      <p:sp>
        <p:nvSpPr>
          <p:cNvPr id="8" name="Shape 6"/>
          <p:cNvSpPr/>
          <p:nvPr/>
        </p:nvSpPr>
        <p:spPr>
          <a:xfrm>
            <a:off x="804672" y="1920240"/>
            <a:ext cx="3182112" cy="1444752"/>
          </a:xfrm>
          <a:prstGeom prst="roundRect">
            <a:avLst/>
          </a:prstGeom>
          <a:solidFill>
            <a:srgbClr val="FFFFFF"/>
          </a:solidFill>
          <a:ln w="12700">
            <a:solidFill>
              <a:srgbClr val="D2C5AE"/>
            </a:solidFill>
            <a:prstDash val="solid"/>
          </a:ln>
        </p:spPr>
      </p:sp>
      <p:sp>
        <p:nvSpPr>
          <p:cNvPr id="9" name="Text 7"/>
          <p:cNvSpPr/>
          <p:nvPr/>
        </p:nvSpPr>
        <p:spPr>
          <a:xfrm>
            <a:off x="969264" y="2121408"/>
            <a:ext cx="2834640" cy="219456"/>
          </a:xfrm>
          <a:prstGeom prst="rect">
            <a:avLst/>
          </a:prstGeom>
          <a:noFill/>
          <a:ln/>
        </p:spPr>
        <p:txBody>
          <a:bodyPr wrap="square" lIns="508" tIns="508" rIns="508" bIns="508" rtlCol="0" anchor="ctr">
            <a:normAutofit/>
          </a:bodyPr>
          <a:lstStyle/>
          <a:p>
            <a:pPr algn="ctr" indent="0" marL="0">
              <a:buNone/>
            </a:pPr>
            <a:r>
              <a:rPr lang="en-US" sz="1600" b="1" dirty="0">
                <a:solidFill>
                  <a:srgbClr val="173D24"/>
                </a:solidFill>
                <a:latin typeface="Georgia" pitchFamily="34" charset="0"/>
                <a:ea typeface="Georgia" pitchFamily="34" charset="-122"/>
                <a:cs typeface="Georgia" pitchFamily="34" charset="-120"/>
              </a:rPr>
              <a:t>Better judgment</a:t>
            </a:r>
            <a:endParaRPr lang="en-US" sz="1600" dirty="0"/>
          </a:p>
        </p:txBody>
      </p:sp>
      <p:sp>
        <p:nvSpPr>
          <p:cNvPr id="10" name="Text 8"/>
          <p:cNvSpPr/>
          <p:nvPr/>
        </p:nvSpPr>
        <p:spPr>
          <a:xfrm>
            <a:off x="969264" y="2523744"/>
            <a:ext cx="2834640" cy="493776"/>
          </a:xfrm>
          <a:prstGeom prst="rect">
            <a:avLst/>
          </a:prstGeom>
          <a:noFill/>
          <a:ln/>
        </p:spPr>
        <p:txBody>
          <a:bodyPr wrap="square" lIns="508" tIns="508" rIns="508" bIns="508" rtlCol="0" anchor="ctr">
            <a:normAutofit/>
          </a:bodyPr>
          <a:lstStyle/>
          <a:p>
            <a:pPr algn="ctr" indent="0" marL="0">
              <a:buNone/>
            </a:pPr>
            <a:r>
              <a:rPr lang="en-US" sz="1250" dirty="0">
                <a:solidFill>
                  <a:srgbClr val="203128"/>
                </a:solidFill>
                <a:latin typeface="Aptos" pitchFamily="34" charset="0"/>
                <a:ea typeface="Aptos" pitchFamily="34" charset="-122"/>
                <a:cs typeface="Aptos" pitchFamily="34" charset="-120"/>
              </a:rPr>
              <a:t>Pause before reacting and make wiser choices.</a:t>
            </a:r>
            <a:endParaRPr lang="en-US" sz="1250" dirty="0"/>
          </a:p>
        </p:txBody>
      </p:sp>
      <p:sp>
        <p:nvSpPr>
          <p:cNvPr id="11" name="Shape 9"/>
          <p:cNvSpPr/>
          <p:nvPr/>
        </p:nvSpPr>
        <p:spPr>
          <a:xfrm>
            <a:off x="4517136" y="1920240"/>
            <a:ext cx="3182112" cy="1444752"/>
          </a:xfrm>
          <a:prstGeom prst="roundRect">
            <a:avLst/>
          </a:prstGeom>
          <a:solidFill>
            <a:srgbClr val="FFFFFF"/>
          </a:solidFill>
          <a:ln w="12700">
            <a:solidFill>
              <a:srgbClr val="D2C5AE"/>
            </a:solidFill>
            <a:prstDash val="solid"/>
          </a:ln>
        </p:spPr>
      </p:sp>
      <p:sp>
        <p:nvSpPr>
          <p:cNvPr id="12" name="Text 10"/>
          <p:cNvSpPr/>
          <p:nvPr/>
        </p:nvSpPr>
        <p:spPr>
          <a:xfrm>
            <a:off x="4681728" y="2121408"/>
            <a:ext cx="2834640" cy="219456"/>
          </a:xfrm>
          <a:prstGeom prst="rect">
            <a:avLst/>
          </a:prstGeom>
          <a:noFill/>
          <a:ln/>
        </p:spPr>
        <p:txBody>
          <a:bodyPr wrap="square" lIns="508" tIns="508" rIns="508" bIns="508" rtlCol="0" anchor="ctr">
            <a:normAutofit/>
          </a:bodyPr>
          <a:lstStyle/>
          <a:p>
            <a:pPr algn="ctr" indent="0" marL="0">
              <a:buNone/>
            </a:pPr>
            <a:r>
              <a:rPr lang="en-US" sz="1600" b="1" dirty="0">
                <a:solidFill>
                  <a:srgbClr val="173D24"/>
                </a:solidFill>
                <a:latin typeface="Georgia" pitchFamily="34" charset="0"/>
                <a:ea typeface="Georgia" pitchFamily="34" charset="-122"/>
                <a:cs typeface="Georgia" pitchFamily="34" charset="-120"/>
              </a:rPr>
              <a:t>More responsibility</a:t>
            </a:r>
            <a:endParaRPr lang="en-US" sz="1600" dirty="0"/>
          </a:p>
        </p:txBody>
      </p:sp>
      <p:sp>
        <p:nvSpPr>
          <p:cNvPr id="13" name="Text 11"/>
          <p:cNvSpPr/>
          <p:nvPr/>
        </p:nvSpPr>
        <p:spPr>
          <a:xfrm>
            <a:off x="4681728" y="2523744"/>
            <a:ext cx="2834640" cy="493776"/>
          </a:xfrm>
          <a:prstGeom prst="rect">
            <a:avLst/>
          </a:prstGeom>
          <a:noFill/>
          <a:ln/>
        </p:spPr>
        <p:txBody>
          <a:bodyPr wrap="square" lIns="508" tIns="508" rIns="508" bIns="508" rtlCol="0" anchor="ctr">
            <a:normAutofit/>
          </a:bodyPr>
          <a:lstStyle/>
          <a:p>
            <a:pPr algn="ctr" indent="0" marL="0">
              <a:buNone/>
            </a:pPr>
            <a:r>
              <a:rPr lang="en-US" sz="1250" dirty="0">
                <a:solidFill>
                  <a:srgbClr val="203128"/>
                </a:solidFill>
                <a:latin typeface="Aptos" pitchFamily="34" charset="0"/>
                <a:ea typeface="Aptos" pitchFamily="34" charset="-122"/>
                <a:cs typeface="Aptos" pitchFamily="34" charset="-120"/>
              </a:rPr>
              <a:t>Take more ownership of choices and behavior.</a:t>
            </a:r>
            <a:endParaRPr lang="en-US" sz="1250" dirty="0"/>
          </a:p>
        </p:txBody>
      </p:sp>
      <p:sp>
        <p:nvSpPr>
          <p:cNvPr id="14" name="Shape 12"/>
          <p:cNvSpPr/>
          <p:nvPr/>
        </p:nvSpPr>
        <p:spPr>
          <a:xfrm>
            <a:off x="8229600" y="1920240"/>
            <a:ext cx="3182112" cy="1444752"/>
          </a:xfrm>
          <a:prstGeom prst="roundRect">
            <a:avLst/>
          </a:prstGeom>
          <a:solidFill>
            <a:srgbClr val="FFFFFF"/>
          </a:solidFill>
          <a:ln w="12700">
            <a:solidFill>
              <a:srgbClr val="D2C5AE"/>
            </a:solidFill>
            <a:prstDash val="solid"/>
          </a:ln>
        </p:spPr>
      </p:sp>
      <p:sp>
        <p:nvSpPr>
          <p:cNvPr id="15" name="Text 13"/>
          <p:cNvSpPr/>
          <p:nvPr/>
        </p:nvSpPr>
        <p:spPr>
          <a:xfrm>
            <a:off x="8394192" y="2121408"/>
            <a:ext cx="2834640" cy="219456"/>
          </a:xfrm>
          <a:prstGeom prst="rect">
            <a:avLst/>
          </a:prstGeom>
          <a:noFill/>
          <a:ln/>
        </p:spPr>
        <p:txBody>
          <a:bodyPr wrap="square" lIns="508" tIns="508" rIns="508" bIns="508" rtlCol="0" anchor="ctr">
            <a:normAutofit/>
          </a:bodyPr>
          <a:lstStyle/>
          <a:p>
            <a:pPr algn="ctr" indent="0" marL="0">
              <a:buNone/>
            </a:pPr>
            <a:r>
              <a:rPr lang="en-US" sz="1600" b="1" dirty="0">
                <a:solidFill>
                  <a:srgbClr val="173D24"/>
                </a:solidFill>
                <a:latin typeface="Georgia" pitchFamily="34" charset="0"/>
                <a:ea typeface="Georgia" pitchFamily="34" charset="-122"/>
                <a:cs typeface="Georgia" pitchFamily="34" charset="-120"/>
              </a:rPr>
              <a:t>Emotional steadiness</a:t>
            </a:r>
            <a:endParaRPr lang="en-US" sz="1600" dirty="0"/>
          </a:p>
        </p:txBody>
      </p:sp>
      <p:sp>
        <p:nvSpPr>
          <p:cNvPr id="16" name="Text 14"/>
          <p:cNvSpPr/>
          <p:nvPr/>
        </p:nvSpPr>
        <p:spPr>
          <a:xfrm>
            <a:off x="8394192" y="2523744"/>
            <a:ext cx="2834640" cy="493776"/>
          </a:xfrm>
          <a:prstGeom prst="rect">
            <a:avLst/>
          </a:prstGeom>
          <a:noFill/>
          <a:ln/>
        </p:spPr>
        <p:txBody>
          <a:bodyPr wrap="square" lIns="508" tIns="508" rIns="508" bIns="508" rtlCol="0" anchor="ctr">
            <a:normAutofit/>
          </a:bodyPr>
          <a:lstStyle/>
          <a:p>
            <a:pPr algn="ctr" indent="0" marL="0">
              <a:buNone/>
            </a:pPr>
            <a:r>
              <a:rPr lang="en-US" sz="1250" dirty="0">
                <a:solidFill>
                  <a:srgbClr val="203128"/>
                </a:solidFill>
                <a:latin typeface="Aptos" pitchFamily="34" charset="0"/>
                <a:ea typeface="Aptos" pitchFamily="34" charset="-122"/>
                <a:cs typeface="Aptos" pitchFamily="34" charset="-120"/>
              </a:rPr>
              <a:t>Handle pressure without falling apart so quickly.</a:t>
            </a:r>
            <a:endParaRPr lang="en-US" sz="1250" dirty="0"/>
          </a:p>
        </p:txBody>
      </p:sp>
      <p:sp>
        <p:nvSpPr>
          <p:cNvPr id="17" name="Shape 15"/>
          <p:cNvSpPr/>
          <p:nvPr/>
        </p:nvSpPr>
        <p:spPr>
          <a:xfrm>
            <a:off x="2697480" y="3822192"/>
            <a:ext cx="3182112" cy="1444752"/>
          </a:xfrm>
          <a:prstGeom prst="roundRect">
            <a:avLst/>
          </a:prstGeom>
          <a:solidFill>
            <a:srgbClr val="FFFFFF"/>
          </a:solidFill>
          <a:ln w="12700">
            <a:solidFill>
              <a:srgbClr val="D2C5AE"/>
            </a:solidFill>
            <a:prstDash val="solid"/>
          </a:ln>
        </p:spPr>
      </p:sp>
      <p:sp>
        <p:nvSpPr>
          <p:cNvPr id="18" name="Text 16"/>
          <p:cNvSpPr/>
          <p:nvPr/>
        </p:nvSpPr>
        <p:spPr>
          <a:xfrm>
            <a:off x="2862072" y="4023360"/>
            <a:ext cx="2834640" cy="219456"/>
          </a:xfrm>
          <a:prstGeom prst="rect">
            <a:avLst/>
          </a:prstGeom>
          <a:noFill/>
          <a:ln/>
        </p:spPr>
        <p:txBody>
          <a:bodyPr wrap="square" lIns="508" tIns="508" rIns="508" bIns="508" rtlCol="0" anchor="ctr">
            <a:normAutofit/>
          </a:bodyPr>
          <a:lstStyle/>
          <a:p>
            <a:pPr algn="ctr" indent="0" marL="0">
              <a:buNone/>
            </a:pPr>
            <a:r>
              <a:rPr lang="en-US" sz="1600" b="1" dirty="0">
                <a:solidFill>
                  <a:srgbClr val="173D24"/>
                </a:solidFill>
                <a:latin typeface="Georgia" pitchFamily="34" charset="0"/>
                <a:ea typeface="Georgia" pitchFamily="34" charset="-122"/>
                <a:cs typeface="Georgia" pitchFamily="34" charset="-120"/>
              </a:rPr>
              <a:t>Recovery after setbacks</a:t>
            </a:r>
            <a:endParaRPr lang="en-US" sz="1600" dirty="0"/>
          </a:p>
        </p:txBody>
      </p:sp>
      <p:sp>
        <p:nvSpPr>
          <p:cNvPr id="19" name="Text 17"/>
          <p:cNvSpPr/>
          <p:nvPr/>
        </p:nvSpPr>
        <p:spPr>
          <a:xfrm>
            <a:off x="2862072" y="4425696"/>
            <a:ext cx="2834640" cy="493776"/>
          </a:xfrm>
          <a:prstGeom prst="rect">
            <a:avLst/>
          </a:prstGeom>
          <a:noFill/>
          <a:ln/>
        </p:spPr>
        <p:txBody>
          <a:bodyPr wrap="square" lIns="508" tIns="508" rIns="508" bIns="508" rtlCol="0" anchor="ctr">
            <a:normAutofit/>
          </a:bodyPr>
          <a:lstStyle/>
          <a:p>
            <a:pPr algn="ctr" indent="0" marL="0">
              <a:buNone/>
            </a:pPr>
            <a:r>
              <a:rPr lang="en-US" sz="1250" dirty="0">
                <a:solidFill>
                  <a:srgbClr val="203128"/>
                </a:solidFill>
                <a:latin typeface="Aptos" pitchFamily="34" charset="0"/>
                <a:ea typeface="Aptos" pitchFamily="34" charset="-122"/>
                <a:cs typeface="Aptos" pitchFamily="34" charset="-120"/>
              </a:rPr>
              <a:t>Bounce back faster after mistakes or disappointment.</a:t>
            </a:r>
            <a:endParaRPr lang="en-US" sz="1250" dirty="0"/>
          </a:p>
        </p:txBody>
      </p:sp>
      <p:sp>
        <p:nvSpPr>
          <p:cNvPr id="20" name="Shape 18"/>
          <p:cNvSpPr/>
          <p:nvPr/>
        </p:nvSpPr>
        <p:spPr>
          <a:xfrm>
            <a:off x="6409944" y="3822192"/>
            <a:ext cx="3182112" cy="1444752"/>
          </a:xfrm>
          <a:prstGeom prst="roundRect">
            <a:avLst/>
          </a:prstGeom>
          <a:solidFill>
            <a:srgbClr val="FFFFFF"/>
          </a:solidFill>
          <a:ln w="12700">
            <a:solidFill>
              <a:srgbClr val="D2C5AE"/>
            </a:solidFill>
            <a:prstDash val="solid"/>
          </a:ln>
        </p:spPr>
      </p:sp>
      <p:sp>
        <p:nvSpPr>
          <p:cNvPr id="21" name="Text 19"/>
          <p:cNvSpPr/>
          <p:nvPr/>
        </p:nvSpPr>
        <p:spPr>
          <a:xfrm>
            <a:off x="6574536" y="4023360"/>
            <a:ext cx="2834640" cy="219456"/>
          </a:xfrm>
          <a:prstGeom prst="rect">
            <a:avLst/>
          </a:prstGeom>
          <a:noFill/>
          <a:ln/>
        </p:spPr>
        <p:txBody>
          <a:bodyPr wrap="square" lIns="508" tIns="508" rIns="508" bIns="508" rtlCol="0" anchor="ctr">
            <a:normAutofit/>
          </a:bodyPr>
          <a:lstStyle/>
          <a:p>
            <a:pPr algn="ctr" indent="0" marL="0">
              <a:buNone/>
            </a:pPr>
            <a:r>
              <a:rPr lang="en-US" sz="1600" b="1" dirty="0">
                <a:solidFill>
                  <a:srgbClr val="173D24"/>
                </a:solidFill>
                <a:latin typeface="Georgia" pitchFamily="34" charset="0"/>
                <a:ea typeface="Georgia" pitchFamily="34" charset="-122"/>
                <a:cs typeface="Georgia" pitchFamily="34" charset="-120"/>
              </a:rPr>
              <a:t>Confidence under challenge</a:t>
            </a:r>
            <a:endParaRPr lang="en-US" sz="1600" dirty="0"/>
          </a:p>
        </p:txBody>
      </p:sp>
      <p:sp>
        <p:nvSpPr>
          <p:cNvPr id="22" name="Text 20"/>
          <p:cNvSpPr/>
          <p:nvPr/>
        </p:nvSpPr>
        <p:spPr>
          <a:xfrm>
            <a:off x="6574536" y="4425696"/>
            <a:ext cx="2834640" cy="493776"/>
          </a:xfrm>
          <a:prstGeom prst="rect">
            <a:avLst/>
          </a:prstGeom>
          <a:noFill/>
          <a:ln/>
        </p:spPr>
        <p:txBody>
          <a:bodyPr wrap="square" lIns="508" tIns="508" rIns="508" bIns="508" rtlCol="0" anchor="ctr">
            <a:normAutofit/>
          </a:bodyPr>
          <a:lstStyle/>
          <a:p>
            <a:pPr algn="ctr" indent="0" marL="0">
              <a:buNone/>
            </a:pPr>
            <a:r>
              <a:rPr lang="en-US" sz="1250" dirty="0">
                <a:solidFill>
                  <a:srgbClr val="203128"/>
                </a:solidFill>
                <a:latin typeface="Aptos" pitchFamily="34" charset="0"/>
                <a:ea typeface="Aptos" pitchFamily="34" charset="-122"/>
                <a:cs typeface="Aptos" pitchFamily="34" charset="-120"/>
              </a:rPr>
              <a:t>Trust themselves more when things are uncertain.</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0E6"/>
        </a:solidFill>
      </p:bgPr>
    </p:bg>
    <p:spTree>
      <p:nvGrpSpPr>
        <p:cNvPr id="1" name=""/>
        <p:cNvGrpSpPr/>
        <p:nvPr/>
      </p:nvGrpSpPr>
      <p:grpSpPr>
        <a:xfrm>
          <a:off x="0" y="0"/>
          <a:ext cx="0" cy="0"/>
          <a:chOff x="0" y="0"/>
          <a:chExt cx="0" cy="0"/>
        </a:xfrm>
      </p:grpSpPr>
      <p:sp>
        <p:nvSpPr>
          <p:cNvPr id="2" name="Shape 0"/>
          <p:cNvSpPr/>
          <p:nvPr/>
        </p:nvSpPr>
        <p:spPr>
          <a:xfrm>
            <a:off x="0" y="0"/>
            <a:ext cx="12191695" cy="713232"/>
          </a:xfrm>
          <a:prstGeom prst="rect">
            <a:avLst/>
          </a:prstGeom>
          <a:solidFill>
            <a:srgbClr val="173D24"/>
          </a:solidFill>
          <a:ln w="12700">
            <a:solidFill>
              <a:srgbClr val="173D24"/>
            </a:solidFill>
            <a:prstDash val="solid"/>
          </a:ln>
        </p:spPr>
      </p:sp>
      <p:sp>
        <p:nvSpPr>
          <p:cNvPr id="3" name="Text 1"/>
          <p:cNvSpPr/>
          <p:nvPr/>
        </p:nvSpPr>
        <p:spPr>
          <a:xfrm>
            <a:off x="475488" y="146304"/>
            <a:ext cx="1828800" cy="146304"/>
          </a:xfrm>
          <a:prstGeom prst="rect">
            <a:avLst/>
          </a:prstGeom>
          <a:noFill/>
          <a:ln/>
        </p:spPr>
        <p:txBody>
          <a:bodyPr wrap="square" lIns="0" tIns="0" rIns="0" bIns="0" rtlCol="0" anchor="ctr">
            <a:normAutofit/>
          </a:bodyPr>
          <a:lstStyle/>
          <a:p>
            <a:pPr indent="0" marL="0">
              <a:buNone/>
            </a:pPr>
            <a:r>
              <a:rPr lang="en-US" sz="900" b="1" dirty="0">
                <a:solidFill>
                  <a:srgbClr val="C89C3D"/>
                </a:solidFill>
                <a:latin typeface="Aptos" pitchFamily="34" charset="0"/>
                <a:ea typeface="Aptos" pitchFamily="34" charset="-122"/>
                <a:cs typeface="Aptos" pitchFamily="34" charset="-120"/>
              </a:rPr>
              <a:t>SLIDE 13 OF 17</a:t>
            </a:r>
            <a:endParaRPr lang="en-US" sz="900" dirty="0"/>
          </a:p>
        </p:txBody>
      </p:sp>
      <p:sp>
        <p:nvSpPr>
          <p:cNvPr id="4" name="Text 2"/>
          <p:cNvSpPr/>
          <p:nvPr/>
        </p:nvSpPr>
        <p:spPr>
          <a:xfrm>
            <a:off x="475488" y="283464"/>
            <a:ext cx="8138160" cy="237744"/>
          </a:xfrm>
          <a:prstGeom prst="rect">
            <a:avLst/>
          </a:prstGeom>
          <a:noFill/>
          <a:ln/>
        </p:spPr>
        <p:txBody>
          <a:bodyPr wrap="square" lIns="0" tIns="0" rIns="0" bIns="0" rtlCol="0" anchor="ctr">
            <a:normAutofit/>
          </a:bodyPr>
          <a:lstStyle/>
          <a:p>
            <a:pPr indent="0" marL="0">
              <a:buNone/>
            </a:pPr>
            <a:r>
              <a:rPr lang="en-US" sz="2200" b="1" dirty="0">
                <a:solidFill>
                  <a:srgbClr val="FFFFFF"/>
                </a:solidFill>
                <a:latin typeface="Georgia" pitchFamily="34" charset="0"/>
                <a:ea typeface="Georgia" pitchFamily="34" charset="-122"/>
                <a:cs typeface="Georgia" pitchFamily="34" charset="-120"/>
              </a:rPr>
              <a:t>The 6-week program: the toolkit students build over time</a:t>
            </a:r>
            <a:endParaRPr lang="en-US" sz="2200" dirty="0"/>
          </a:p>
        </p:txBody>
      </p:sp>
      <p:sp>
        <p:nvSpPr>
          <p:cNvPr id="5" name="Text 3"/>
          <p:cNvSpPr/>
          <p:nvPr/>
        </p:nvSpPr>
        <p:spPr>
          <a:xfrm>
            <a:off x="9006840" y="173736"/>
            <a:ext cx="2697480" cy="146304"/>
          </a:xfrm>
          <a:prstGeom prst="rect">
            <a:avLst/>
          </a:prstGeom>
          <a:noFill/>
          <a:ln/>
        </p:spPr>
        <p:txBody>
          <a:bodyPr wrap="square" lIns="0" tIns="0" rIns="0" bIns="0" rtlCol="0" anchor="ctr">
            <a:normAutofit/>
          </a:bodyPr>
          <a:lstStyle/>
          <a:p>
            <a:pPr algn="r" indent="0" marL="0">
              <a:buNone/>
            </a:pPr>
            <a:r>
              <a:rPr lang="en-US" sz="900" b="1" dirty="0">
                <a:solidFill>
                  <a:srgbClr val="F6F0E6"/>
                </a:solidFill>
                <a:latin typeface="Aptos" pitchFamily="34" charset="0"/>
                <a:ea typeface="Aptos" pitchFamily="34" charset="-122"/>
                <a:cs typeface="Aptos" pitchFamily="34" charset="-120"/>
              </a:rPr>
              <a:t>PROGRAM DESIGN</a:t>
            </a:r>
            <a:endParaRPr lang="en-US" sz="900" dirty="0"/>
          </a:p>
        </p:txBody>
      </p:sp>
      <p:sp>
        <p:nvSpPr>
          <p:cNvPr id="6" name="Shape 4"/>
          <p:cNvSpPr/>
          <p:nvPr/>
        </p:nvSpPr>
        <p:spPr>
          <a:xfrm>
            <a:off x="475488" y="932688"/>
            <a:ext cx="64008" cy="694944"/>
          </a:xfrm>
          <a:prstGeom prst="rect">
            <a:avLst/>
          </a:prstGeom>
          <a:solidFill>
            <a:srgbClr val="C89C3D"/>
          </a:solidFill>
          <a:ln w="12700">
            <a:solidFill>
              <a:srgbClr val="C89C3D"/>
            </a:solidFill>
            <a:prstDash val="solid"/>
          </a:ln>
        </p:spPr>
      </p:sp>
      <p:sp>
        <p:nvSpPr>
          <p:cNvPr id="7" name="Text 5"/>
          <p:cNvSpPr/>
          <p:nvPr/>
        </p:nvSpPr>
        <p:spPr>
          <a:xfrm>
            <a:off x="658368" y="960120"/>
            <a:ext cx="11064240" cy="585216"/>
          </a:xfrm>
          <a:prstGeom prst="rect">
            <a:avLst/>
          </a:prstGeom>
          <a:noFill/>
          <a:ln/>
        </p:spPr>
        <p:txBody>
          <a:bodyPr wrap="square" lIns="0" tIns="0" rIns="0" bIns="0" rtlCol="0" anchor="ctr">
            <a:normAutofit/>
          </a:bodyPr>
          <a:lstStyle/>
          <a:p>
            <a:pPr indent="0" marL="0">
              <a:buNone/>
            </a:pPr>
            <a:r>
              <a:rPr lang="en-US" sz="2400" b="1" dirty="0">
                <a:solidFill>
                  <a:srgbClr val="173D24"/>
                </a:solidFill>
                <a:latin typeface="Georgia" pitchFamily="34" charset="0"/>
                <a:ea typeface="Georgia" pitchFamily="34" charset="-122"/>
                <a:cs typeface="Georgia" pitchFamily="34" charset="-120"/>
              </a:rPr>
              <a:t>The full pathway is designed for retention, transfer, and repeated practice.</a:t>
            </a:r>
            <a:endParaRPr lang="en-US" sz="2400" dirty="0"/>
          </a:p>
        </p:txBody>
      </p:sp>
      <p:sp>
        <p:nvSpPr>
          <p:cNvPr id="8" name="Shape 6"/>
          <p:cNvSpPr/>
          <p:nvPr/>
        </p:nvSpPr>
        <p:spPr>
          <a:xfrm>
            <a:off x="713232" y="1664208"/>
            <a:ext cx="5248656" cy="310896"/>
          </a:xfrm>
          <a:prstGeom prst="roundRect">
            <a:avLst/>
          </a:prstGeom>
          <a:solidFill>
            <a:srgbClr val="E9F2EA"/>
          </a:solidFill>
          <a:ln w="12700">
            <a:solidFill>
              <a:srgbClr val="D2C5AE"/>
            </a:solidFill>
            <a:prstDash val="solid"/>
          </a:ln>
        </p:spPr>
      </p:sp>
      <p:sp>
        <p:nvSpPr>
          <p:cNvPr id="9" name="Text 7"/>
          <p:cNvSpPr/>
          <p:nvPr/>
        </p:nvSpPr>
        <p:spPr>
          <a:xfrm>
            <a:off x="786384" y="1719072"/>
            <a:ext cx="5102352" cy="219456"/>
          </a:xfrm>
          <a:prstGeom prst="rect">
            <a:avLst/>
          </a:prstGeom>
          <a:noFill/>
          <a:ln/>
        </p:spPr>
        <p:txBody>
          <a:bodyPr wrap="square" lIns="0" tIns="0" rIns="0" bIns="0" rtlCol="0" anchor="ctr">
            <a:normAutofit/>
          </a:bodyPr>
          <a:lstStyle/>
          <a:p>
            <a:pPr algn="ctr" indent="0" marL="0">
              <a:buNone/>
            </a:pPr>
            <a:r>
              <a:rPr lang="en-US" sz="1050" b="1" dirty="0">
                <a:solidFill>
                  <a:srgbClr val="173D24"/>
                </a:solidFill>
                <a:latin typeface="Aptos" pitchFamily="34" charset="0"/>
                <a:ea typeface="Aptos" pitchFamily="34" charset="-122"/>
                <a:cs typeface="Aptos" pitchFamily="34" charset="-120"/>
              </a:rPr>
              <a:t>Spaced repetition improves retention</a:t>
            </a:r>
            <a:endParaRPr lang="en-US" sz="1050" dirty="0"/>
          </a:p>
        </p:txBody>
      </p:sp>
      <p:sp>
        <p:nvSpPr>
          <p:cNvPr id="10" name="Shape 8"/>
          <p:cNvSpPr/>
          <p:nvPr/>
        </p:nvSpPr>
        <p:spPr>
          <a:xfrm>
            <a:off x="6336792" y="1664208"/>
            <a:ext cx="5248656" cy="310896"/>
          </a:xfrm>
          <a:prstGeom prst="roundRect">
            <a:avLst/>
          </a:prstGeom>
          <a:solidFill>
            <a:srgbClr val="FFFFFF"/>
          </a:solidFill>
          <a:ln w="12700">
            <a:solidFill>
              <a:srgbClr val="D2C5AE"/>
            </a:solidFill>
            <a:prstDash val="solid"/>
          </a:ln>
        </p:spPr>
      </p:sp>
      <p:sp>
        <p:nvSpPr>
          <p:cNvPr id="11" name="Text 9"/>
          <p:cNvSpPr/>
          <p:nvPr/>
        </p:nvSpPr>
        <p:spPr>
          <a:xfrm>
            <a:off x="6409944" y="1719072"/>
            <a:ext cx="5102352" cy="219456"/>
          </a:xfrm>
          <a:prstGeom prst="rect">
            <a:avLst/>
          </a:prstGeom>
          <a:noFill/>
          <a:ln/>
        </p:spPr>
        <p:txBody>
          <a:bodyPr wrap="square" lIns="0" tIns="0" rIns="0" bIns="0" rtlCol="0" anchor="ctr">
            <a:normAutofit/>
          </a:bodyPr>
          <a:lstStyle/>
          <a:p>
            <a:pPr algn="ctr" indent="0" marL="0">
              <a:buNone/>
            </a:pPr>
            <a:r>
              <a:rPr lang="en-US" sz="1050" b="1" dirty="0">
                <a:solidFill>
                  <a:srgbClr val="173D24"/>
                </a:solidFill>
                <a:latin typeface="Aptos" pitchFamily="34" charset="0"/>
                <a:ea typeface="Aptos" pitchFamily="34" charset="-122"/>
                <a:cs typeface="Aptos" pitchFamily="34" charset="-120"/>
              </a:rPr>
              <a:t>Retrieval and review strengthen recall</a:t>
            </a:r>
            <a:endParaRPr lang="en-US" sz="1050" dirty="0"/>
          </a:p>
        </p:txBody>
      </p:sp>
      <p:sp>
        <p:nvSpPr>
          <p:cNvPr id="12" name="Shape 10"/>
          <p:cNvSpPr/>
          <p:nvPr/>
        </p:nvSpPr>
        <p:spPr>
          <a:xfrm>
            <a:off x="713232" y="2066544"/>
            <a:ext cx="5248656" cy="310896"/>
          </a:xfrm>
          <a:prstGeom prst="roundRect">
            <a:avLst/>
          </a:prstGeom>
          <a:solidFill>
            <a:srgbClr val="E9F2EA"/>
          </a:solidFill>
          <a:ln w="12700">
            <a:solidFill>
              <a:srgbClr val="D2C5AE"/>
            </a:solidFill>
            <a:prstDash val="solid"/>
          </a:ln>
        </p:spPr>
      </p:sp>
      <p:sp>
        <p:nvSpPr>
          <p:cNvPr id="13" name="Text 11"/>
          <p:cNvSpPr/>
          <p:nvPr/>
        </p:nvSpPr>
        <p:spPr>
          <a:xfrm>
            <a:off x="786384" y="2121408"/>
            <a:ext cx="5102352" cy="219456"/>
          </a:xfrm>
          <a:prstGeom prst="rect">
            <a:avLst/>
          </a:prstGeom>
          <a:noFill/>
          <a:ln/>
        </p:spPr>
        <p:txBody>
          <a:bodyPr wrap="square" lIns="0" tIns="0" rIns="0" bIns="0" rtlCol="0" anchor="ctr">
            <a:normAutofit/>
          </a:bodyPr>
          <a:lstStyle/>
          <a:p>
            <a:pPr algn="ctr" indent="0" marL="0">
              <a:buNone/>
            </a:pPr>
            <a:r>
              <a:rPr lang="en-US" sz="1050" b="1" dirty="0">
                <a:solidFill>
                  <a:srgbClr val="173D24"/>
                </a:solidFill>
                <a:latin typeface="Aptos" pitchFamily="34" charset="0"/>
                <a:ea typeface="Aptos" pitchFamily="34" charset="-122"/>
                <a:cs typeface="Aptos" pitchFamily="34" charset="-120"/>
              </a:rPr>
              <a:t>Between-session application improves transfer into real life</a:t>
            </a:r>
            <a:endParaRPr lang="en-US" sz="1050" dirty="0"/>
          </a:p>
        </p:txBody>
      </p:sp>
      <p:sp>
        <p:nvSpPr>
          <p:cNvPr id="14" name="Shape 12"/>
          <p:cNvSpPr/>
          <p:nvPr/>
        </p:nvSpPr>
        <p:spPr>
          <a:xfrm>
            <a:off x="6336792" y="2066544"/>
            <a:ext cx="5248656" cy="310896"/>
          </a:xfrm>
          <a:prstGeom prst="roundRect">
            <a:avLst/>
          </a:prstGeom>
          <a:solidFill>
            <a:srgbClr val="FFFFFF"/>
          </a:solidFill>
          <a:ln w="12700">
            <a:solidFill>
              <a:srgbClr val="D2C5AE"/>
            </a:solidFill>
            <a:prstDash val="solid"/>
          </a:ln>
        </p:spPr>
      </p:sp>
      <p:sp>
        <p:nvSpPr>
          <p:cNvPr id="15" name="Text 13"/>
          <p:cNvSpPr/>
          <p:nvPr/>
        </p:nvSpPr>
        <p:spPr>
          <a:xfrm>
            <a:off x="6409944" y="2121408"/>
            <a:ext cx="5102352" cy="219456"/>
          </a:xfrm>
          <a:prstGeom prst="rect">
            <a:avLst/>
          </a:prstGeom>
          <a:noFill/>
          <a:ln/>
        </p:spPr>
        <p:txBody>
          <a:bodyPr wrap="square" lIns="0" tIns="0" rIns="0" bIns="0" rtlCol="0" anchor="ctr">
            <a:normAutofit/>
          </a:bodyPr>
          <a:lstStyle/>
          <a:p>
            <a:pPr algn="ctr" indent="0" marL="0">
              <a:buNone/>
            </a:pPr>
            <a:r>
              <a:rPr lang="en-US" sz="1050" b="1" dirty="0">
                <a:solidFill>
                  <a:srgbClr val="173D24"/>
                </a:solidFill>
                <a:latin typeface="Aptos" pitchFamily="34" charset="0"/>
                <a:ea typeface="Aptos" pitchFamily="34" charset="-122"/>
                <a:cs typeface="Aptos" pitchFamily="34" charset="-120"/>
              </a:rPr>
              <a:t>Repeated guided practice helps healthier responses become more automatic</a:t>
            </a:r>
            <a:endParaRPr lang="en-US" sz="10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58368" y="2542032"/>
          <a:ext cx="10881360" cy="3310128"/>
        </p:xfrm>
        <a:graphic>
          <a:graphicData uri="http://schemas.openxmlformats.org/drawingml/2006/table">
            <a:tbl>
              <a:tblPr/>
              <a:tblGrid>
                <a:gridCol w="594360"/>
                <a:gridCol w="3611880"/>
                <a:gridCol w="2834640"/>
                <a:gridCol w="2606040"/>
              </a:tblGrid>
              <a:tr h="384048">
                <a:tc>
                  <a:txBody>
                    <a:bodyPr/>
                    <a:lstStyle/>
                    <a:p>
                      <a:pPr algn="ctr" indent="0" marL="0">
                        <a:buNone/>
                      </a:pPr>
                      <a:r>
                        <a:rPr lang="en-US" sz="1050" b="1" dirty="0">
                          <a:solidFill>
                            <a:srgbClr val="FFFFFF"/>
                          </a:solidFill>
                          <a:latin typeface="Aptos" pitchFamily="34" charset="0"/>
                          <a:ea typeface="Aptos" pitchFamily="34" charset="-122"/>
                          <a:cs typeface="Aptos" pitchFamily="34" charset="-120"/>
                        </a:rPr>
                        <a:t>Session</a:t>
                      </a:r>
                      <a:endParaRPr lang="en-US" sz="1050" dirty="0">
                        <a:latin typeface="Aptos" charset="0"/>
                        <a:ea typeface="Aptos" charset="0"/>
                        <a:cs typeface="Aptos" charset="0"/>
                      </a:endParaRPr>
                    </a:p>
                  </a:txBody>
                  <a:tcPr marL="54864" marR="54864" marT="54864" marB="54864"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173D24"/>
                    </a:solidFill>
                  </a:tcPr>
                </a:tc>
                <a:tc>
                  <a:txBody>
                    <a:bodyPr/>
                    <a:lstStyle/>
                    <a:p>
                      <a:pPr algn="ctr" indent="0" marL="0">
                        <a:buNone/>
                      </a:pPr>
                      <a:r>
                        <a:rPr lang="en-US" sz="1050" b="1" dirty="0">
                          <a:solidFill>
                            <a:srgbClr val="FFFFFF"/>
                          </a:solidFill>
                          <a:latin typeface="Aptos" pitchFamily="34" charset="0"/>
                          <a:ea typeface="Aptos" pitchFamily="34" charset="-122"/>
                          <a:cs typeface="Aptos" pitchFamily="34" charset="-120"/>
                        </a:rPr>
                        <a:t>Topic and explanation</a:t>
                      </a:r>
                      <a:endParaRPr lang="en-US" sz="1050" dirty="0">
                        <a:latin typeface="Aptos" charset="0"/>
                        <a:ea typeface="Aptos" charset="0"/>
                        <a:cs typeface="Aptos" charset="0"/>
                      </a:endParaRPr>
                    </a:p>
                  </a:txBody>
                  <a:tcPr marL="54864" marR="54864" marT="54864" marB="54864"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173D24"/>
                    </a:solidFill>
                  </a:tcPr>
                </a:tc>
                <a:tc>
                  <a:txBody>
                    <a:bodyPr/>
                    <a:lstStyle/>
                    <a:p>
                      <a:pPr algn="ctr" indent="0" marL="0">
                        <a:buNone/>
                      </a:pPr>
                      <a:r>
                        <a:rPr lang="en-US" sz="1050" b="1" dirty="0">
                          <a:solidFill>
                            <a:srgbClr val="FFFFFF"/>
                          </a:solidFill>
                          <a:latin typeface="Aptos" pitchFamily="34" charset="0"/>
                          <a:ea typeface="Aptos" pitchFamily="34" charset="-122"/>
                          <a:cs typeface="Aptos" pitchFamily="34" charset="-120"/>
                        </a:rPr>
                        <a:t>Research anchor</a:t>
                      </a:r>
                      <a:endParaRPr lang="en-US" sz="1050" dirty="0">
                        <a:latin typeface="Aptos" charset="0"/>
                        <a:ea typeface="Aptos" charset="0"/>
                        <a:cs typeface="Aptos" charset="0"/>
                      </a:endParaRPr>
                    </a:p>
                  </a:txBody>
                  <a:tcPr marL="54864" marR="54864" marT="54864" marB="54864"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173D24"/>
                    </a:solidFill>
                  </a:tcPr>
                </a:tc>
                <a:tc>
                  <a:txBody>
                    <a:bodyPr/>
                    <a:lstStyle/>
                    <a:p>
                      <a:pPr algn="ctr" indent="0" marL="0">
                        <a:buNone/>
                      </a:pPr>
                      <a:r>
                        <a:rPr lang="en-US" sz="1050" b="1" dirty="0">
                          <a:solidFill>
                            <a:srgbClr val="FFFFFF"/>
                          </a:solidFill>
                          <a:latin typeface="Aptos" pitchFamily="34" charset="0"/>
                          <a:ea typeface="Aptos" pitchFamily="34" charset="-122"/>
                          <a:cs typeface="Aptos" pitchFamily="34" charset="-120"/>
                        </a:rPr>
                        <a:t>Toolkit students build</a:t>
                      </a:r>
                      <a:endParaRPr lang="en-US" sz="1050" dirty="0">
                        <a:latin typeface="Aptos" charset="0"/>
                        <a:ea typeface="Aptos" charset="0"/>
                        <a:cs typeface="Aptos" charset="0"/>
                      </a:endParaRPr>
                    </a:p>
                  </a:txBody>
                  <a:tcPr marL="54864" marR="54864" marT="54864" marB="54864"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173D24"/>
                    </a:solidFill>
                  </a:tcPr>
                </a:tc>
              </a:tr>
              <a:tr h="475488">
                <a:tc>
                  <a:txBody>
                    <a:bodyPr/>
                    <a:lstStyle/>
                    <a:p>
                      <a:pPr indent="0" marL="0">
                        <a:buNone/>
                      </a:pPr>
                      <a:r>
                        <a:rPr lang="en-US" sz="1050" dirty="0">
                          <a:solidFill>
                            <a:srgbClr val="203128"/>
                          </a:solidFill>
                          <a:latin typeface="Aptos" pitchFamily="34" charset="0"/>
                          <a:ea typeface="Aptos" pitchFamily="34" charset="-122"/>
                          <a:cs typeface="Aptos" pitchFamily="34" charset="-120"/>
                        </a:rPr>
                        <a:t>1</a:t>
                      </a:r>
                      <a:endParaRPr lang="en-US" sz="1050" dirty="0">
                        <a:latin typeface="Aptos" charset="0"/>
                        <a:ea typeface="Aptos" charset="0"/>
                        <a:cs typeface="Aptos" charset="0"/>
                      </a:endParaRPr>
                    </a:p>
                  </a:txBody>
                  <a:tcPr marL="54864" marR="54864" marT="54864" marB="54864"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FFFFFF"/>
                    </a:solidFill>
                  </a:tcPr>
                </a:tc>
                <a:tc>
                  <a:txBody>
                    <a:bodyPr/>
                    <a:lstStyle/>
                    <a:p>
                      <a:pPr indent="0" marL="0">
                        <a:buNone/>
                      </a:pPr>
                      <a:r>
                        <a:rPr lang="en-US" sz="1050" dirty="0">
                          <a:solidFill>
                            <a:srgbClr val="203128"/>
                          </a:solidFill>
                          <a:latin typeface="Aptos" pitchFamily="34" charset="0"/>
                          <a:ea typeface="Aptos" pitchFamily="34" charset="-122"/>
                          <a:cs typeface="Aptos" pitchFamily="34" charset="-120"/>
                        </a:rPr>
                        <a:t>Meet Your Brain</a:t>
                      </a:r>
                      <a:endParaRPr lang="en-US" sz="1050" dirty="0">
                        <a:latin typeface="Aptos" charset="0"/>
                        <a:ea typeface="Aptos" charset="0"/>
                        <a:cs typeface="Aptos" charset="0"/>
                      </a:endParaRPr>
                    </a:p>
                    <a:p>
                      <a:pPr indent="0" marL="0">
                        <a:buNone/>
                      </a:pPr>
                      <a:r>
                        <a:rPr lang="en-US" sz="1050" dirty="0">
                          <a:solidFill>
                            <a:srgbClr val="203128"/>
                          </a:solidFill>
                          <a:latin typeface="Aptos" pitchFamily="34" charset="0"/>
                          <a:ea typeface="Aptos" pitchFamily="34" charset="-122"/>
                          <a:cs typeface="Aptos" pitchFamily="34" charset="-120"/>
                        </a:rPr>
                        <a:t>How thoughts, attention, and stress patterns work</a:t>
                      </a:r>
                      <a:endParaRPr lang="en-US" sz="1050" dirty="0">
                        <a:latin typeface="Aptos" charset="0"/>
                        <a:ea typeface="Aptos" charset="0"/>
                        <a:cs typeface="Aptos" charset="0"/>
                      </a:endParaRPr>
                    </a:p>
                  </a:txBody>
                  <a:tcPr marL="54864" marR="54864" marT="54864" marB="54864"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FFFFFF"/>
                    </a:solidFill>
                  </a:tcPr>
                </a:tc>
                <a:tc>
                  <a:txBody>
                    <a:bodyPr/>
                    <a:lstStyle/>
                    <a:p>
                      <a:pPr indent="0" marL="0">
                        <a:buNone/>
                      </a:pPr>
                      <a:r>
                        <a:rPr lang="en-US" sz="1050" dirty="0">
                          <a:solidFill>
                            <a:srgbClr val="203128"/>
                          </a:solidFill>
                          <a:latin typeface="Aptos" pitchFamily="34" charset="0"/>
                          <a:ea typeface="Aptos" pitchFamily="34" charset="-122"/>
                          <a:cs typeface="Aptos" pitchFamily="34" charset="-120"/>
                        </a:rPr>
                        <a:t>Learning science</a:t>
                      </a:r>
                      <a:endParaRPr lang="en-US" sz="1050" dirty="0">
                        <a:latin typeface="Aptos" charset="0"/>
                        <a:ea typeface="Aptos" charset="0"/>
                        <a:cs typeface="Aptos" charset="0"/>
                      </a:endParaRPr>
                    </a:p>
                    <a:p>
                      <a:pPr indent="0" marL="0">
                        <a:buNone/>
                      </a:pPr>
                      <a:r>
                        <a:rPr lang="en-US" sz="1050" dirty="0">
                          <a:solidFill>
                            <a:srgbClr val="203128"/>
                          </a:solidFill>
                          <a:latin typeface="Aptos" pitchFamily="34" charset="0"/>
                          <a:ea typeface="Aptos" pitchFamily="34" charset="-122"/>
                          <a:cs typeface="Aptos" pitchFamily="34" charset="-120"/>
                        </a:rPr>
                        <a:t>Metacognition</a:t>
                      </a:r>
                      <a:endParaRPr lang="en-US" sz="1050" dirty="0">
                        <a:latin typeface="Aptos" charset="0"/>
                        <a:ea typeface="Aptos" charset="0"/>
                        <a:cs typeface="Aptos" charset="0"/>
                      </a:endParaRPr>
                    </a:p>
                  </a:txBody>
                  <a:tcPr marL="54864" marR="54864" marT="54864" marB="54864"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FFFFFF"/>
                    </a:solidFill>
                  </a:tcPr>
                </a:tc>
                <a:tc>
                  <a:txBody>
                    <a:bodyPr/>
                    <a:lstStyle/>
                    <a:p>
                      <a:pPr indent="0" marL="0">
                        <a:buNone/>
                      </a:pPr>
                      <a:r>
                        <a:rPr lang="en-US" sz="1050" dirty="0">
                          <a:solidFill>
                            <a:srgbClr val="203128"/>
                          </a:solidFill>
                          <a:latin typeface="Aptos" pitchFamily="34" charset="0"/>
                          <a:ea typeface="Aptos" pitchFamily="34" charset="-122"/>
                          <a:cs typeface="Aptos" pitchFamily="34" charset="-120"/>
                        </a:rPr>
                        <a:t>Recognize thoughts earlier</a:t>
                      </a:r>
                      <a:endParaRPr lang="en-US" sz="1050" dirty="0">
                        <a:latin typeface="Aptos" charset="0"/>
                        <a:ea typeface="Aptos" charset="0"/>
                        <a:cs typeface="Aptos" charset="0"/>
                      </a:endParaRPr>
                    </a:p>
                  </a:txBody>
                  <a:tcPr marL="54864" marR="54864" marT="54864" marB="54864"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FFFFFF"/>
                    </a:solidFill>
                  </a:tcPr>
                </a:tc>
              </a:tr>
              <a:tr h="512064">
                <a:tc>
                  <a:txBody>
                    <a:bodyPr/>
                    <a:lstStyle/>
                    <a:p>
                      <a:pPr indent="0" marL="0">
                        <a:buNone/>
                      </a:pPr>
                      <a:r>
                        <a:rPr lang="en-US" sz="1050" dirty="0">
                          <a:solidFill>
                            <a:srgbClr val="203128"/>
                          </a:solidFill>
                          <a:latin typeface="Aptos" pitchFamily="34" charset="0"/>
                          <a:ea typeface="Aptos" pitchFamily="34" charset="-122"/>
                          <a:cs typeface="Aptos" pitchFamily="34" charset="-120"/>
                        </a:rPr>
                        <a:t>2</a:t>
                      </a:r>
                      <a:endParaRPr lang="en-US" sz="1050" dirty="0">
                        <a:latin typeface="Aptos" charset="0"/>
                        <a:ea typeface="Aptos" charset="0"/>
                        <a:cs typeface="Aptos" charset="0"/>
                      </a:endParaRPr>
                    </a:p>
                  </a:txBody>
                  <a:tcPr marL="54864" marR="54864" marT="54864" marB="54864"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FFFFFF"/>
                    </a:solidFill>
                  </a:tcPr>
                </a:tc>
                <a:tc>
                  <a:txBody>
                    <a:bodyPr/>
                    <a:lstStyle/>
                    <a:p>
                      <a:pPr indent="0" marL="0">
                        <a:buNone/>
                      </a:pPr>
                      <a:r>
                        <a:rPr lang="en-US" sz="1050" dirty="0">
                          <a:solidFill>
                            <a:srgbClr val="203128"/>
                          </a:solidFill>
                          <a:latin typeface="Aptos" pitchFamily="34" charset="0"/>
                          <a:ea typeface="Aptos" pitchFamily="34" charset="-122"/>
                          <a:cs typeface="Aptos" pitchFamily="34" charset="-120"/>
                        </a:rPr>
                        <a:t>Thought Patterns</a:t>
                      </a:r>
                      <a:endParaRPr lang="en-US" sz="1050" dirty="0">
                        <a:latin typeface="Aptos" charset="0"/>
                        <a:ea typeface="Aptos" charset="0"/>
                        <a:cs typeface="Aptos" charset="0"/>
                      </a:endParaRPr>
                    </a:p>
                    <a:p>
                      <a:pPr indent="0" marL="0">
                        <a:buNone/>
                      </a:pPr>
                      <a:r>
                        <a:rPr lang="en-US" sz="1050" dirty="0">
                          <a:solidFill>
                            <a:srgbClr val="203128"/>
                          </a:solidFill>
                          <a:latin typeface="Aptos" pitchFamily="34" charset="0"/>
                          <a:ea typeface="Aptos" pitchFamily="34" charset="-122"/>
                          <a:cs typeface="Aptos" pitchFamily="34" charset="-120"/>
                        </a:rPr>
                        <a:t>Catch limiting interpretations before they escalate</a:t>
                      </a:r>
                      <a:endParaRPr lang="en-US" sz="1050" dirty="0">
                        <a:latin typeface="Aptos" charset="0"/>
                        <a:ea typeface="Aptos" charset="0"/>
                        <a:cs typeface="Aptos" charset="0"/>
                      </a:endParaRPr>
                    </a:p>
                  </a:txBody>
                  <a:tcPr marL="54864" marR="54864" marT="54864" marB="54864"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FFFFFF"/>
                    </a:solidFill>
                  </a:tcPr>
                </a:tc>
                <a:tc>
                  <a:txBody>
                    <a:bodyPr/>
                    <a:lstStyle/>
                    <a:p>
                      <a:pPr indent="0" marL="0">
                        <a:buNone/>
                      </a:pPr>
                      <a:r>
                        <a:rPr lang="en-US" sz="1050" dirty="0">
                          <a:solidFill>
                            <a:srgbClr val="203128"/>
                          </a:solidFill>
                          <a:latin typeface="Aptos" pitchFamily="34" charset="0"/>
                          <a:ea typeface="Aptos" pitchFamily="34" charset="-122"/>
                          <a:cs typeface="Aptos" pitchFamily="34" charset="-120"/>
                        </a:rPr>
                        <a:t>Stanford / Bandura</a:t>
                      </a:r>
                      <a:endParaRPr lang="en-US" sz="1050" dirty="0">
                        <a:latin typeface="Aptos" charset="0"/>
                        <a:ea typeface="Aptos" charset="0"/>
                        <a:cs typeface="Aptos" charset="0"/>
                      </a:endParaRPr>
                    </a:p>
                    <a:p>
                      <a:pPr indent="0" marL="0">
                        <a:buNone/>
                      </a:pPr>
                      <a:r>
                        <a:rPr lang="en-US" sz="1050" dirty="0">
                          <a:solidFill>
                            <a:srgbClr val="203128"/>
                          </a:solidFill>
                          <a:latin typeface="Aptos" pitchFamily="34" charset="0"/>
                          <a:ea typeface="Aptos" pitchFamily="34" charset="-122"/>
                          <a:cs typeface="Aptos" pitchFamily="34" charset="-120"/>
                        </a:rPr>
                        <a:t>Self-efficacy and appraisal</a:t>
                      </a:r>
                      <a:endParaRPr lang="en-US" sz="1050" dirty="0">
                        <a:latin typeface="Aptos" charset="0"/>
                        <a:ea typeface="Aptos" charset="0"/>
                        <a:cs typeface="Aptos" charset="0"/>
                      </a:endParaRPr>
                    </a:p>
                  </a:txBody>
                  <a:tcPr marL="54864" marR="54864" marT="54864" marB="54864"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FFFFFF"/>
                    </a:solidFill>
                  </a:tcPr>
                </a:tc>
                <a:tc>
                  <a:txBody>
                    <a:bodyPr/>
                    <a:lstStyle/>
                    <a:p>
                      <a:pPr indent="0" marL="0">
                        <a:buNone/>
                      </a:pPr>
                      <a:r>
                        <a:rPr lang="en-US" sz="1050" dirty="0">
                          <a:solidFill>
                            <a:srgbClr val="203128"/>
                          </a:solidFill>
                          <a:latin typeface="Aptos" pitchFamily="34" charset="0"/>
                          <a:ea typeface="Aptos" pitchFamily="34" charset="-122"/>
                          <a:cs typeface="Aptos" pitchFamily="34" charset="-120"/>
                        </a:rPr>
                        <a:t>Catch patterns before they escalate</a:t>
                      </a:r>
                      <a:endParaRPr lang="en-US" sz="1050" dirty="0">
                        <a:latin typeface="Aptos" charset="0"/>
                        <a:ea typeface="Aptos" charset="0"/>
                        <a:cs typeface="Aptos" charset="0"/>
                      </a:endParaRPr>
                    </a:p>
                  </a:txBody>
                  <a:tcPr marL="54864" marR="54864" marT="54864" marB="54864"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FFFFFF"/>
                    </a:solidFill>
                  </a:tcPr>
                </a:tc>
              </a:tr>
              <a:tr h="566928">
                <a:tc>
                  <a:txBody>
                    <a:bodyPr/>
                    <a:lstStyle/>
                    <a:p>
                      <a:pPr indent="0" marL="0">
                        <a:buNone/>
                      </a:pPr>
                      <a:r>
                        <a:rPr lang="en-US" sz="1050" dirty="0">
                          <a:solidFill>
                            <a:srgbClr val="203128"/>
                          </a:solidFill>
                          <a:latin typeface="Aptos" pitchFamily="34" charset="0"/>
                          <a:ea typeface="Aptos" pitchFamily="34" charset="-122"/>
                          <a:cs typeface="Aptos" pitchFamily="34" charset="-120"/>
                        </a:rPr>
                        <a:t>3</a:t>
                      </a:r>
                      <a:endParaRPr lang="en-US" sz="1050" dirty="0">
                        <a:latin typeface="Aptos" charset="0"/>
                        <a:ea typeface="Aptos" charset="0"/>
                        <a:cs typeface="Aptos" charset="0"/>
                      </a:endParaRPr>
                    </a:p>
                  </a:txBody>
                  <a:tcPr marL="54864" marR="54864" marT="54864" marB="54864"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FFFFFF"/>
                    </a:solidFill>
                  </a:tcPr>
                </a:tc>
                <a:tc>
                  <a:txBody>
                    <a:bodyPr/>
                    <a:lstStyle/>
                    <a:p>
                      <a:pPr indent="0" marL="0">
                        <a:buNone/>
                      </a:pPr>
                      <a:r>
                        <a:rPr lang="en-US" sz="1050" dirty="0">
                          <a:solidFill>
                            <a:srgbClr val="203128"/>
                          </a:solidFill>
                          <a:latin typeface="Aptos" pitchFamily="34" charset="0"/>
                          <a:ea typeface="Aptos" pitchFamily="34" charset="-122"/>
                          <a:cs typeface="Aptos" pitchFamily="34" charset="-120"/>
                        </a:rPr>
                        <a:t>The Feeling Body</a:t>
                      </a:r>
                      <a:endParaRPr lang="en-US" sz="1050" dirty="0">
                        <a:latin typeface="Aptos" charset="0"/>
                        <a:ea typeface="Aptos" charset="0"/>
                        <a:cs typeface="Aptos" charset="0"/>
                      </a:endParaRPr>
                    </a:p>
                    <a:p>
                      <a:pPr indent="0" marL="0">
                        <a:buNone/>
                      </a:pPr>
                      <a:r>
                        <a:rPr lang="en-US" sz="1050" dirty="0">
                          <a:solidFill>
                            <a:srgbClr val="203128"/>
                          </a:solidFill>
                          <a:latin typeface="Aptos" pitchFamily="34" charset="0"/>
                          <a:ea typeface="Aptos" pitchFamily="34" charset="-122"/>
                          <a:cs typeface="Aptos" pitchFamily="34" charset="-120"/>
                        </a:rPr>
                        <a:t>Recognize stress in the body before reaction</a:t>
                      </a:r>
                      <a:endParaRPr lang="en-US" sz="1050" dirty="0">
                        <a:latin typeface="Aptos" charset="0"/>
                        <a:ea typeface="Aptos" charset="0"/>
                        <a:cs typeface="Aptos" charset="0"/>
                      </a:endParaRPr>
                    </a:p>
                  </a:txBody>
                  <a:tcPr marL="54864" marR="54864" marT="54864" marB="54864"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FFFFFF"/>
                    </a:solidFill>
                  </a:tcPr>
                </a:tc>
                <a:tc>
                  <a:txBody>
                    <a:bodyPr/>
                    <a:lstStyle/>
                    <a:p>
                      <a:pPr indent="0" marL="0">
                        <a:buNone/>
                      </a:pPr>
                      <a:r>
                        <a:rPr lang="en-US" sz="1050" dirty="0">
                          <a:solidFill>
                            <a:srgbClr val="203128"/>
                          </a:solidFill>
                          <a:latin typeface="Aptos" pitchFamily="34" charset="0"/>
                          <a:ea typeface="Aptos" pitchFamily="34" charset="-122"/>
                          <a:cs typeface="Aptos" pitchFamily="34" charset="-120"/>
                        </a:rPr>
                        <a:t>Yale + UC Berkeley Greater Good</a:t>
                      </a:r>
                      <a:endParaRPr lang="en-US" sz="1050" dirty="0">
                        <a:latin typeface="Aptos" charset="0"/>
                        <a:ea typeface="Aptos" charset="0"/>
                        <a:cs typeface="Aptos" charset="0"/>
                      </a:endParaRPr>
                    </a:p>
                    <a:p>
                      <a:pPr indent="0" marL="0">
                        <a:buNone/>
                      </a:pPr>
                      <a:r>
                        <a:rPr lang="en-US" sz="1050" dirty="0">
                          <a:solidFill>
                            <a:srgbClr val="203128"/>
                          </a:solidFill>
                          <a:latin typeface="Aptos" pitchFamily="34" charset="0"/>
                          <a:ea typeface="Aptos" pitchFamily="34" charset="-122"/>
                          <a:cs typeface="Aptos" pitchFamily="34" charset="-120"/>
                        </a:rPr>
                        <a:t>Emotion regulation and mind-body awareness</a:t>
                      </a:r>
                      <a:endParaRPr lang="en-US" sz="1050" dirty="0">
                        <a:latin typeface="Aptos" charset="0"/>
                        <a:ea typeface="Aptos" charset="0"/>
                        <a:cs typeface="Aptos" charset="0"/>
                      </a:endParaRPr>
                    </a:p>
                  </a:txBody>
                  <a:tcPr marL="54864" marR="54864" marT="54864" marB="54864"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FFFFFF"/>
                    </a:solidFill>
                  </a:tcPr>
                </a:tc>
                <a:tc>
                  <a:txBody>
                    <a:bodyPr/>
                    <a:lstStyle/>
                    <a:p>
                      <a:pPr indent="0" marL="0">
                        <a:buNone/>
                      </a:pPr>
                      <a:r>
                        <a:rPr lang="en-US" sz="1050" dirty="0">
                          <a:solidFill>
                            <a:srgbClr val="203128"/>
                          </a:solidFill>
                          <a:latin typeface="Aptos" pitchFamily="34" charset="0"/>
                          <a:ea typeface="Aptos" pitchFamily="34" charset="-122"/>
                          <a:cs typeface="Aptos" pitchFamily="34" charset="-120"/>
                        </a:rPr>
                        <a:t>Notice physical signals earlier</a:t>
                      </a:r>
                      <a:endParaRPr lang="en-US" sz="1050" dirty="0">
                        <a:latin typeface="Aptos" charset="0"/>
                        <a:ea typeface="Aptos" charset="0"/>
                        <a:cs typeface="Aptos" charset="0"/>
                      </a:endParaRPr>
                    </a:p>
                  </a:txBody>
                  <a:tcPr marL="54864" marR="54864" marT="54864" marB="54864"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FFFFFF"/>
                    </a:solidFill>
                  </a:tcPr>
                </a:tc>
              </a:tr>
              <a:tr h="512064">
                <a:tc>
                  <a:txBody>
                    <a:bodyPr/>
                    <a:lstStyle/>
                    <a:p>
                      <a:pPr indent="0" marL="0">
                        <a:buNone/>
                      </a:pPr>
                      <a:r>
                        <a:rPr lang="en-US" sz="1050" dirty="0">
                          <a:solidFill>
                            <a:srgbClr val="203128"/>
                          </a:solidFill>
                          <a:latin typeface="Aptos" pitchFamily="34" charset="0"/>
                          <a:ea typeface="Aptos" pitchFamily="34" charset="-122"/>
                          <a:cs typeface="Aptos" pitchFamily="34" charset="-120"/>
                        </a:rPr>
                        <a:t>4</a:t>
                      </a:r>
                      <a:endParaRPr lang="en-US" sz="1050" dirty="0">
                        <a:latin typeface="Aptos" charset="0"/>
                        <a:ea typeface="Aptos" charset="0"/>
                        <a:cs typeface="Aptos" charset="0"/>
                      </a:endParaRPr>
                    </a:p>
                  </a:txBody>
                  <a:tcPr marL="54864" marR="54864" marT="54864" marB="54864"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FFFFFF"/>
                    </a:solidFill>
                  </a:tcPr>
                </a:tc>
                <a:tc>
                  <a:txBody>
                    <a:bodyPr/>
                    <a:lstStyle/>
                    <a:p>
                      <a:pPr indent="0" marL="0">
                        <a:buNone/>
                      </a:pPr>
                      <a:r>
                        <a:rPr lang="en-US" sz="1050" dirty="0">
                          <a:solidFill>
                            <a:srgbClr val="203128"/>
                          </a:solidFill>
                          <a:latin typeface="Aptos" pitchFamily="34" charset="0"/>
                          <a:ea typeface="Aptos" pitchFamily="34" charset="-122"/>
                          <a:cs typeface="Aptos" pitchFamily="34" charset="-120"/>
                        </a:rPr>
                        <a:t>Response and Redirection</a:t>
                      </a:r>
                      <a:endParaRPr lang="en-US" sz="1050" dirty="0">
                        <a:latin typeface="Aptos" charset="0"/>
                        <a:ea typeface="Aptos" charset="0"/>
                        <a:cs typeface="Aptos" charset="0"/>
                      </a:endParaRPr>
                    </a:p>
                    <a:p>
                      <a:pPr indent="0" marL="0">
                        <a:buNone/>
                      </a:pPr>
                      <a:r>
                        <a:rPr lang="en-US" sz="1050" dirty="0">
                          <a:solidFill>
                            <a:srgbClr val="203128"/>
                          </a:solidFill>
                          <a:latin typeface="Aptos" pitchFamily="34" charset="0"/>
                          <a:ea typeface="Aptos" pitchFamily="34" charset="-122"/>
                          <a:cs typeface="Aptos" pitchFamily="34" charset="-120"/>
                        </a:rPr>
                        <a:t>Practise steadier responses in real time</a:t>
                      </a:r>
                      <a:endParaRPr lang="en-US" sz="1050" dirty="0">
                        <a:latin typeface="Aptos" charset="0"/>
                        <a:ea typeface="Aptos" charset="0"/>
                        <a:cs typeface="Aptos" charset="0"/>
                      </a:endParaRPr>
                    </a:p>
                  </a:txBody>
                  <a:tcPr marL="54864" marR="54864" marT="54864" marB="54864"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FFFFFF"/>
                    </a:solidFill>
                  </a:tcPr>
                </a:tc>
                <a:tc>
                  <a:txBody>
                    <a:bodyPr/>
                    <a:lstStyle/>
                    <a:p>
                      <a:pPr indent="0" marL="0">
                        <a:buNone/>
                      </a:pPr>
                      <a:r>
                        <a:rPr lang="en-US" sz="1050" dirty="0">
                          <a:solidFill>
                            <a:srgbClr val="203128"/>
                          </a:solidFill>
                          <a:latin typeface="Aptos" pitchFamily="34" charset="0"/>
                          <a:ea typeface="Aptos" pitchFamily="34" charset="-122"/>
                          <a:cs typeface="Aptos" pitchFamily="34" charset="-120"/>
                        </a:rPr>
                        <a:t>Harvard stress and cognition research</a:t>
                      </a:r>
                      <a:endParaRPr lang="en-US" sz="1050" dirty="0">
                        <a:latin typeface="Aptos" charset="0"/>
                        <a:ea typeface="Aptos" charset="0"/>
                        <a:cs typeface="Aptos" charset="0"/>
                      </a:endParaRPr>
                    </a:p>
                  </a:txBody>
                  <a:tcPr marL="54864" marR="54864" marT="54864" marB="54864"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FFFFFF"/>
                    </a:solidFill>
                  </a:tcPr>
                </a:tc>
                <a:tc>
                  <a:txBody>
                    <a:bodyPr/>
                    <a:lstStyle/>
                    <a:p>
                      <a:pPr indent="0" marL="0">
                        <a:buNone/>
                      </a:pPr>
                      <a:r>
                        <a:rPr lang="en-US" sz="1050" dirty="0">
                          <a:solidFill>
                            <a:srgbClr val="203128"/>
                          </a:solidFill>
                          <a:latin typeface="Aptos" pitchFamily="34" charset="0"/>
                          <a:ea typeface="Aptos" pitchFamily="34" charset="-122"/>
                          <a:cs typeface="Aptos" pitchFamily="34" charset="-120"/>
                        </a:rPr>
                        <a:t>Interrupt and redirect reactions</a:t>
                      </a:r>
                      <a:endParaRPr lang="en-US" sz="1050" dirty="0">
                        <a:latin typeface="Aptos" charset="0"/>
                        <a:ea typeface="Aptos" charset="0"/>
                        <a:cs typeface="Aptos" charset="0"/>
                      </a:endParaRPr>
                    </a:p>
                  </a:txBody>
                  <a:tcPr marL="54864" marR="54864" marT="54864" marB="54864"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FFFFFF"/>
                    </a:solidFill>
                  </a:tcPr>
                </a:tc>
              </a:tr>
              <a:tr h="512064">
                <a:tc>
                  <a:txBody>
                    <a:bodyPr/>
                    <a:lstStyle/>
                    <a:p>
                      <a:pPr indent="0" marL="0">
                        <a:buNone/>
                      </a:pPr>
                      <a:r>
                        <a:rPr lang="en-US" sz="1050" dirty="0">
                          <a:solidFill>
                            <a:srgbClr val="203128"/>
                          </a:solidFill>
                          <a:latin typeface="Aptos" pitchFamily="34" charset="0"/>
                          <a:ea typeface="Aptos" pitchFamily="34" charset="-122"/>
                          <a:cs typeface="Aptos" pitchFamily="34" charset="-120"/>
                        </a:rPr>
                        <a:t>5</a:t>
                      </a:r>
                      <a:endParaRPr lang="en-US" sz="1050" dirty="0">
                        <a:latin typeface="Aptos" charset="0"/>
                        <a:ea typeface="Aptos" charset="0"/>
                        <a:cs typeface="Aptos" charset="0"/>
                      </a:endParaRPr>
                    </a:p>
                  </a:txBody>
                  <a:tcPr marL="54864" marR="54864" marT="54864" marB="54864"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FFFFFF"/>
                    </a:solidFill>
                  </a:tcPr>
                </a:tc>
                <a:tc>
                  <a:txBody>
                    <a:bodyPr/>
                    <a:lstStyle/>
                    <a:p>
                      <a:pPr indent="0" marL="0">
                        <a:buNone/>
                      </a:pPr>
                      <a:r>
                        <a:rPr lang="en-US" sz="1050" dirty="0">
                          <a:solidFill>
                            <a:srgbClr val="203128"/>
                          </a:solidFill>
                          <a:latin typeface="Aptos" pitchFamily="34" charset="0"/>
                          <a:ea typeface="Aptos" pitchFamily="34" charset="-122"/>
                          <a:cs typeface="Aptos" pitchFamily="34" charset="-120"/>
                        </a:rPr>
                        <a:t>I Am the Author</a:t>
                      </a:r>
                      <a:endParaRPr lang="en-US" sz="1050" dirty="0">
                        <a:latin typeface="Aptos" charset="0"/>
                        <a:ea typeface="Aptos" charset="0"/>
                        <a:cs typeface="Aptos" charset="0"/>
                      </a:endParaRPr>
                    </a:p>
                    <a:p>
                      <a:pPr indent="0" marL="0">
                        <a:buNone/>
                      </a:pPr>
                      <a:r>
                        <a:rPr lang="en-US" sz="1050" dirty="0">
                          <a:solidFill>
                            <a:srgbClr val="203128"/>
                          </a:solidFill>
                          <a:latin typeface="Aptos" pitchFamily="34" charset="0"/>
                          <a:ea typeface="Aptos" pitchFamily="34" charset="-122"/>
                          <a:cs typeface="Aptos" pitchFamily="34" charset="-120"/>
                        </a:rPr>
                        <a:t>Build agency over self-talk, choices, and meaning</a:t>
                      </a:r>
                      <a:endParaRPr lang="en-US" sz="1050" dirty="0">
                        <a:latin typeface="Aptos" charset="0"/>
                        <a:ea typeface="Aptos" charset="0"/>
                        <a:cs typeface="Aptos" charset="0"/>
                      </a:endParaRPr>
                    </a:p>
                  </a:txBody>
                  <a:tcPr marL="54864" marR="54864" marT="54864" marB="54864"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FFFFFF"/>
                    </a:solidFill>
                  </a:tcPr>
                </a:tc>
                <a:tc>
                  <a:txBody>
                    <a:bodyPr/>
                    <a:lstStyle/>
                    <a:p>
                      <a:pPr indent="0" marL="0">
                        <a:buNone/>
                      </a:pPr>
                      <a:r>
                        <a:rPr lang="en-US" sz="1050" dirty="0">
                          <a:solidFill>
                            <a:srgbClr val="203128"/>
                          </a:solidFill>
                          <a:latin typeface="Aptos" pitchFamily="34" charset="0"/>
                          <a:ea typeface="Aptos" pitchFamily="34" charset="-122"/>
                          <a:cs typeface="Aptos" pitchFamily="34" charset="-120"/>
                        </a:rPr>
                        <a:t>Stanford self-efficacy research</a:t>
                      </a:r>
                      <a:endParaRPr lang="en-US" sz="1050" dirty="0">
                        <a:latin typeface="Aptos" charset="0"/>
                        <a:ea typeface="Aptos" charset="0"/>
                        <a:cs typeface="Aptos" charset="0"/>
                      </a:endParaRPr>
                    </a:p>
                  </a:txBody>
                  <a:tcPr marL="54864" marR="54864" marT="54864" marB="54864"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FFFFFF"/>
                    </a:solidFill>
                  </a:tcPr>
                </a:tc>
                <a:tc>
                  <a:txBody>
                    <a:bodyPr/>
                    <a:lstStyle/>
                    <a:p>
                      <a:pPr indent="0" marL="0">
                        <a:buNone/>
                      </a:pPr>
                      <a:r>
                        <a:rPr lang="en-US" sz="1050" dirty="0">
                          <a:solidFill>
                            <a:srgbClr val="203128"/>
                          </a:solidFill>
                          <a:latin typeface="Aptos" pitchFamily="34" charset="0"/>
                          <a:ea typeface="Aptos" pitchFamily="34" charset="-122"/>
                          <a:cs typeface="Aptos" pitchFamily="34" charset="-120"/>
                        </a:rPr>
                        <a:t>Take ownership of the story</a:t>
                      </a:r>
                      <a:endParaRPr lang="en-US" sz="1050" dirty="0">
                        <a:latin typeface="Aptos" charset="0"/>
                        <a:ea typeface="Aptos" charset="0"/>
                        <a:cs typeface="Aptos" charset="0"/>
                      </a:endParaRPr>
                    </a:p>
                  </a:txBody>
                  <a:tcPr marL="54864" marR="54864" marT="54864" marB="54864"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FFFFFF"/>
                    </a:solidFill>
                  </a:tcPr>
                </a:tc>
              </a:tr>
              <a:tr h="512064">
                <a:tc>
                  <a:txBody>
                    <a:bodyPr/>
                    <a:lstStyle/>
                    <a:p>
                      <a:pPr indent="0" marL="0">
                        <a:buNone/>
                      </a:pPr>
                      <a:r>
                        <a:rPr lang="en-US" sz="1050" dirty="0">
                          <a:solidFill>
                            <a:srgbClr val="203128"/>
                          </a:solidFill>
                          <a:latin typeface="Aptos" pitchFamily="34" charset="0"/>
                          <a:ea typeface="Aptos" pitchFamily="34" charset="-122"/>
                          <a:cs typeface="Aptos" pitchFamily="34" charset="-120"/>
                        </a:rPr>
                        <a:t>6</a:t>
                      </a:r>
                      <a:endParaRPr lang="en-US" sz="1050" dirty="0">
                        <a:latin typeface="Aptos" charset="0"/>
                        <a:ea typeface="Aptos" charset="0"/>
                        <a:cs typeface="Aptos" charset="0"/>
                      </a:endParaRPr>
                    </a:p>
                  </a:txBody>
                  <a:tcPr marL="54864" marR="54864" marT="54864" marB="54864"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FFFFFF"/>
                    </a:solidFill>
                  </a:tcPr>
                </a:tc>
                <a:tc>
                  <a:txBody>
                    <a:bodyPr/>
                    <a:lstStyle/>
                    <a:p>
                      <a:pPr indent="0" marL="0">
                        <a:buNone/>
                      </a:pPr>
                      <a:r>
                        <a:rPr lang="en-US" sz="1050" dirty="0">
                          <a:solidFill>
                            <a:srgbClr val="203128"/>
                          </a:solidFill>
                          <a:latin typeface="Aptos" pitchFamily="34" charset="0"/>
                          <a:ea typeface="Aptos" pitchFamily="34" charset="-122"/>
                          <a:cs typeface="Aptos" pitchFamily="34" charset="-120"/>
                        </a:rPr>
                        <a:t>I Am the Root</a:t>
                      </a:r>
                      <a:endParaRPr lang="en-US" sz="1050" dirty="0">
                        <a:latin typeface="Aptos" charset="0"/>
                        <a:ea typeface="Aptos" charset="0"/>
                        <a:cs typeface="Aptos" charset="0"/>
                      </a:endParaRPr>
                    </a:p>
                    <a:p>
                      <a:pPr indent="0" marL="0">
                        <a:buNone/>
                      </a:pPr>
                      <a:r>
                        <a:rPr lang="en-US" sz="1050" dirty="0">
                          <a:solidFill>
                            <a:srgbClr val="203128"/>
                          </a:solidFill>
                          <a:latin typeface="Aptos" pitchFamily="34" charset="0"/>
                          <a:ea typeface="Aptos" pitchFamily="34" charset="-122"/>
                          <a:cs typeface="Aptos" pitchFamily="34" charset="-120"/>
                        </a:rPr>
                        <a:t>Integrate reflection, self-compassion, and a practice plan</a:t>
                      </a:r>
                      <a:endParaRPr lang="en-US" sz="1050" dirty="0">
                        <a:latin typeface="Aptos" charset="0"/>
                        <a:ea typeface="Aptos" charset="0"/>
                        <a:cs typeface="Aptos" charset="0"/>
                      </a:endParaRPr>
                    </a:p>
                  </a:txBody>
                  <a:tcPr marL="54864" marR="54864" marT="54864" marB="54864"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FFFFFF"/>
                    </a:solidFill>
                  </a:tcPr>
                </a:tc>
                <a:tc>
                  <a:txBody>
                    <a:bodyPr/>
                    <a:lstStyle/>
                    <a:p>
                      <a:pPr indent="0" marL="0">
                        <a:buNone/>
                      </a:pPr>
                      <a:r>
                        <a:rPr lang="en-US" sz="1050" dirty="0">
                          <a:solidFill>
                            <a:srgbClr val="203128"/>
                          </a:solidFill>
                          <a:latin typeface="Aptos" pitchFamily="34" charset="0"/>
                          <a:ea typeface="Aptos" pitchFamily="34" charset="-122"/>
                          <a:cs typeface="Aptos" pitchFamily="34" charset="-120"/>
                        </a:rPr>
                        <a:t>Greater Good</a:t>
                      </a:r>
                      <a:endParaRPr lang="en-US" sz="1050" dirty="0">
                        <a:latin typeface="Aptos" charset="0"/>
                        <a:ea typeface="Aptos" charset="0"/>
                        <a:cs typeface="Aptos" charset="0"/>
                      </a:endParaRPr>
                    </a:p>
                    <a:p>
                      <a:pPr indent="0" marL="0">
                        <a:buNone/>
                      </a:pPr>
                      <a:r>
                        <a:rPr lang="en-US" sz="1050" dirty="0">
                          <a:solidFill>
                            <a:srgbClr val="203128"/>
                          </a:solidFill>
                          <a:latin typeface="Aptos" pitchFamily="34" charset="0"/>
                          <a:ea typeface="Aptos" pitchFamily="34" charset="-122"/>
                          <a:cs typeface="Aptos" pitchFamily="34" charset="-120"/>
                        </a:rPr>
                        <a:t>Self-compassion and habit formation</a:t>
                      </a:r>
                      <a:endParaRPr lang="en-US" sz="1050" dirty="0">
                        <a:latin typeface="Aptos" charset="0"/>
                        <a:ea typeface="Aptos" charset="0"/>
                        <a:cs typeface="Aptos" charset="0"/>
                      </a:endParaRPr>
                    </a:p>
                  </a:txBody>
                  <a:tcPr marL="54864" marR="54864" marT="54864" marB="54864"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FFFFFF"/>
                    </a:solidFill>
                  </a:tcPr>
                </a:tc>
                <a:tc>
                  <a:txBody>
                    <a:bodyPr/>
                    <a:lstStyle/>
                    <a:p>
                      <a:pPr indent="0" marL="0">
                        <a:buNone/>
                      </a:pPr>
                      <a:r>
                        <a:rPr lang="en-US" sz="1050" dirty="0">
                          <a:solidFill>
                            <a:srgbClr val="203128"/>
                          </a:solidFill>
                          <a:latin typeface="Aptos" pitchFamily="34" charset="0"/>
                          <a:ea typeface="Aptos" pitchFamily="34" charset="-122"/>
                          <a:cs typeface="Aptos" pitchFamily="34" charset="-120"/>
                        </a:rPr>
                        <a:t>A fuller resilience toolkit</a:t>
                      </a:r>
                      <a:endParaRPr lang="en-US" sz="1050" dirty="0">
                        <a:latin typeface="Aptos" charset="0"/>
                        <a:ea typeface="Aptos" charset="0"/>
                        <a:cs typeface="Aptos" charset="0"/>
                      </a:endParaRPr>
                    </a:p>
                  </a:txBody>
                  <a:tcPr marL="54864" marR="54864" marT="54864" marB="54864"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FFFFFF"/>
                    </a:solidFill>
                  </a:tcPr>
                </a:tc>
              </a:tr>
            </a:tbl>
          </a:graphicData>
        </a:graphic>
      </p:graphicFrame>
      <p:sp>
        <p:nvSpPr>
          <p:cNvPr id="17" name="Text 14"/>
          <p:cNvSpPr/>
          <p:nvPr/>
        </p:nvSpPr>
        <p:spPr>
          <a:xfrm>
            <a:off x="530352" y="6355080"/>
            <a:ext cx="11064240" cy="182880"/>
          </a:xfrm>
          <a:prstGeom prst="rect">
            <a:avLst/>
          </a:prstGeom>
          <a:noFill/>
          <a:ln/>
        </p:spPr>
        <p:txBody>
          <a:bodyPr wrap="square" lIns="0" tIns="0" rIns="0" bIns="0" rtlCol="0" anchor="ctr">
            <a:normAutofit/>
          </a:bodyPr>
          <a:lstStyle/>
          <a:p>
            <a:pPr indent="0" marL="0">
              <a:buNone/>
            </a:pPr>
            <a:r>
              <a:rPr lang="en-US" sz="900" dirty="0">
                <a:solidFill>
                  <a:srgbClr val="5E6A61"/>
                </a:solidFill>
                <a:latin typeface="Aptos" pitchFamily="34" charset="0"/>
                <a:ea typeface="Aptos" pitchFamily="34" charset="-122"/>
                <a:cs typeface="Aptos" pitchFamily="34" charset="-120"/>
              </a:rPr>
              <a:t>Research anchors across the sequence: Stanford, Yale Center for Emotional Intelligence, UC Berkeley Greater Good Science Center, Harvard learning and stress research.</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0E6"/>
        </a:solidFill>
      </p:bgPr>
    </p:bg>
    <p:spTree>
      <p:nvGrpSpPr>
        <p:cNvPr id="1" name=""/>
        <p:cNvGrpSpPr/>
        <p:nvPr/>
      </p:nvGrpSpPr>
      <p:grpSpPr>
        <a:xfrm>
          <a:off x="0" y="0"/>
          <a:ext cx="0" cy="0"/>
          <a:chOff x="0" y="0"/>
          <a:chExt cx="0" cy="0"/>
        </a:xfrm>
      </p:grpSpPr>
      <p:sp>
        <p:nvSpPr>
          <p:cNvPr id="2" name="Shape 0"/>
          <p:cNvSpPr/>
          <p:nvPr/>
        </p:nvSpPr>
        <p:spPr>
          <a:xfrm>
            <a:off x="0" y="0"/>
            <a:ext cx="12191695" cy="713232"/>
          </a:xfrm>
          <a:prstGeom prst="rect">
            <a:avLst/>
          </a:prstGeom>
          <a:solidFill>
            <a:srgbClr val="173D24"/>
          </a:solidFill>
          <a:ln w="12700">
            <a:solidFill>
              <a:srgbClr val="173D24"/>
            </a:solidFill>
            <a:prstDash val="solid"/>
          </a:ln>
        </p:spPr>
      </p:sp>
      <p:sp>
        <p:nvSpPr>
          <p:cNvPr id="3" name="Text 1"/>
          <p:cNvSpPr/>
          <p:nvPr/>
        </p:nvSpPr>
        <p:spPr>
          <a:xfrm>
            <a:off x="475488" y="146304"/>
            <a:ext cx="1828800" cy="146304"/>
          </a:xfrm>
          <a:prstGeom prst="rect">
            <a:avLst/>
          </a:prstGeom>
          <a:noFill/>
          <a:ln/>
        </p:spPr>
        <p:txBody>
          <a:bodyPr wrap="square" lIns="0" tIns="0" rIns="0" bIns="0" rtlCol="0" anchor="ctr">
            <a:normAutofit/>
          </a:bodyPr>
          <a:lstStyle/>
          <a:p>
            <a:pPr indent="0" marL="0">
              <a:buNone/>
            </a:pPr>
            <a:r>
              <a:rPr lang="en-US" sz="900" b="1" dirty="0">
                <a:solidFill>
                  <a:srgbClr val="C89C3D"/>
                </a:solidFill>
                <a:latin typeface="Aptos" pitchFamily="34" charset="0"/>
                <a:ea typeface="Aptos" pitchFamily="34" charset="-122"/>
                <a:cs typeface="Aptos" pitchFamily="34" charset="-120"/>
              </a:rPr>
              <a:t>SLIDE 14 OF 17</a:t>
            </a:r>
            <a:endParaRPr lang="en-US" sz="900" dirty="0"/>
          </a:p>
        </p:txBody>
      </p:sp>
      <p:sp>
        <p:nvSpPr>
          <p:cNvPr id="4" name="Text 2"/>
          <p:cNvSpPr/>
          <p:nvPr/>
        </p:nvSpPr>
        <p:spPr>
          <a:xfrm>
            <a:off x="475488" y="283464"/>
            <a:ext cx="8138160" cy="237744"/>
          </a:xfrm>
          <a:prstGeom prst="rect">
            <a:avLst/>
          </a:prstGeom>
          <a:noFill/>
          <a:ln/>
        </p:spPr>
        <p:txBody>
          <a:bodyPr wrap="square" lIns="0" tIns="0" rIns="0" bIns="0" rtlCol="0" anchor="ctr">
            <a:normAutofit/>
          </a:bodyPr>
          <a:lstStyle/>
          <a:p>
            <a:pPr indent="0" marL="0">
              <a:buNone/>
            </a:pPr>
            <a:r>
              <a:rPr lang="en-US" sz="2200" b="1" dirty="0">
                <a:solidFill>
                  <a:srgbClr val="FFFFFF"/>
                </a:solidFill>
                <a:latin typeface="Georgia" pitchFamily="34" charset="0"/>
                <a:ea typeface="Georgia" pitchFamily="34" charset="-122"/>
                <a:cs typeface="Georgia" pitchFamily="34" charset="-120"/>
              </a:rPr>
              <a:t>The 5-day Resilience Lab is the shorter entry point</a:t>
            </a:r>
            <a:endParaRPr lang="en-US" sz="2200" dirty="0"/>
          </a:p>
        </p:txBody>
      </p:sp>
      <p:sp>
        <p:nvSpPr>
          <p:cNvPr id="5" name="Text 3"/>
          <p:cNvSpPr/>
          <p:nvPr/>
        </p:nvSpPr>
        <p:spPr>
          <a:xfrm>
            <a:off x="9006840" y="173736"/>
            <a:ext cx="2697480" cy="146304"/>
          </a:xfrm>
          <a:prstGeom prst="rect">
            <a:avLst/>
          </a:prstGeom>
          <a:noFill/>
          <a:ln/>
        </p:spPr>
        <p:txBody>
          <a:bodyPr wrap="square" lIns="0" tIns="0" rIns="0" bIns="0" rtlCol="0" anchor="ctr">
            <a:normAutofit/>
          </a:bodyPr>
          <a:lstStyle/>
          <a:p>
            <a:pPr algn="r" indent="0" marL="0">
              <a:buNone/>
            </a:pPr>
            <a:r>
              <a:rPr lang="en-US" sz="900" b="1" dirty="0">
                <a:solidFill>
                  <a:srgbClr val="F6F0E6"/>
                </a:solidFill>
                <a:latin typeface="Aptos" pitchFamily="34" charset="0"/>
                <a:ea typeface="Aptos" pitchFamily="34" charset="-122"/>
                <a:cs typeface="Aptos" pitchFamily="34" charset="-120"/>
              </a:rPr>
              <a:t>OFFER STRUCTURE</a:t>
            </a:r>
            <a:endParaRPr lang="en-US" sz="900" dirty="0"/>
          </a:p>
        </p:txBody>
      </p:sp>
      <p:sp>
        <p:nvSpPr>
          <p:cNvPr id="6" name="Shape 4"/>
          <p:cNvSpPr/>
          <p:nvPr/>
        </p:nvSpPr>
        <p:spPr>
          <a:xfrm>
            <a:off x="475488" y="932688"/>
            <a:ext cx="64008" cy="694944"/>
          </a:xfrm>
          <a:prstGeom prst="rect">
            <a:avLst/>
          </a:prstGeom>
          <a:solidFill>
            <a:srgbClr val="C89C3D"/>
          </a:solidFill>
          <a:ln w="12700">
            <a:solidFill>
              <a:srgbClr val="C89C3D"/>
            </a:solidFill>
            <a:prstDash val="solid"/>
          </a:ln>
        </p:spPr>
      </p:sp>
      <p:sp>
        <p:nvSpPr>
          <p:cNvPr id="7" name="Text 5"/>
          <p:cNvSpPr/>
          <p:nvPr/>
        </p:nvSpPr>
        <p:spPr>
          <a:xfrm>
            <a:off x="658368" y="960120"/>
            <a:ext cx="11064240" cy="585216"/>
          </a:xfrm>
          <a:prstGeom prst="rect">
            <a:avLst/>
          </a:prstGeom>
          <a:noFill/>
          <a:ln/>
        </p:spPr>
        <p:txBody>
          <a:bodyPr wrap="square" lIns="0" tIns="0" rIns="0" bIns="0" rtlCol="0" anchor="ctr">
            <a:normAutofit/>
          </a:bodyPr>
          <a:lstStyle/>
          <a:p>
            <a:pPr indent="0" marL="0">
              <a:buNone/>
            </a:pPr>
            <a:r>
              <a:rPr lang="en-US" sz="2400" b="1" dirty="0">
                <a:solidFill>
                  <a:srgbClr val="173D24"/>
                </a:solidFill>
                <a:latin typeface="Georgia" pitchFamily="34" charset="0"/>
                <a:ea typeface="Georgia" pitchFamily="34" charset="-122"/>
                <a:cs typeface="Georgia" pitchFamily="34" charset="-120"/>
              </a:rPr>
              <a:t>Same philosophy. Different depth.</a:t>
            </a:r>
            <a:endParaRPr lang="en-US" sz="2400" dirty="0"/>
          </a:p>
        </p:txBody>
      </p:sp>
      <p:sp>
        <p:nvSpPr>
          <p:cNvPr id="8" name="Shape 6"/>
          <p:cNvSpPr/>
          <p:nvPr/>
        </p:nvSpPr>
        <p:spPr>
          <a:xfrm>
            <a:off x="1143000" y="1719072"/>
            <a:ext cx="9921240" cy="384048"/>
          </a:xfrm>
          <a:prstGeom prst="roundRect">
            <a:avLst/>
          </a:prstGeom>
          <a:solidFill>
            <a:srgbClr val="C89C3D"/>
          </a:solidFill>
          <a:ln w="12700">
            <a:solidFill>
              <a:srgbClr val="C89C3D"/>
            </a:solidFill>
            <a:prstDash val="solid"/>
          </a:ln>
        </p:spPr>
      </p:sp>
      <p:sp>
        <p:nvSpPr>
          <p:cNvPr id="9" name="Text 7"/>
          <p:cNvSpPr/>
          <p:nvPr/>
        </p:nvSpPr>
        <p:spPr>
          <a:xfrm>
            <a:off x="1216152" y="1773936"/>
            <a:ext cx="9774936" cy="292608"/>
          </a:xfrm>
          <a:prstGeom prst="rect">
            <a:avLst/>
          </a:prstGeom>
          <a:noFill/>
          <a:ln/>
        </p:spPr>
        <p:txBody>
          <a:bodyPr wrap="square" lIns="0" tIns="0" rIns="0" bIns="0" rtlCol="0" anchor="ctr">
            <a:normAutofit/>
          </a:bodyPr>
          <a:lstStyle/>
          <a:p>
            <a:pPr algn="ctr" indent="0" marL="0">
              <a:buNone/>
            </a:pPr>
            <a:r>
              <a:rPr lang="en-US" sz="1050" b="1" dirty="0">
                <a:solidFill>
                  <a:srgbClr val="173D24"/>
                </a:solidFill>
                <a:latin typeface="Aptos" pitchFamily="34" charset="0"/>
                <a:ea typeface="Aptos" pitchFamily="34" charset="-122"/>
                <a:cs typeface="Aptos" pitchFamily="34" charset="-120"/>
              </a:rPr>
              <a:t>The 5-day format introduces the work. The 6-week format deepens and reinforces it.</a:t>
            </a:r>
            <a:endParaRPr lang="en-US" sz="10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1051560" y="2414016"/>
          <a:ext cx="10058400" cy="2468880"/>
        </p:xfrm>
        <a:graphic>
          <a:graphicData uri="http://schemas.openxmlformats.org/drawingml/2006/table">
            <a:tbl>
              <a:tblPr/>
              <a:tblGrid>
                <a:gridCol w="1828800"/>
                <a:gridCol w="3749040"/>
                <a:gridCol w="4480560"/>
              </a:tblGrid>
              <a:tr h="411480">
                <a:tc>
                  <a:txBody>
                    <a:bodyPr/>
                    <a:lstStyle/>
                    <a:p>
                      <a:pPr indent="0" marL="0">
                        <a:buNone/>
                      </a:pPr>
                      <a:endParaRPr lang="en-US" sz="1200" dirty="0">
                        <a:latin typeface="Aptos" charset="0"/>
                        <a:ea typeface="Aptos" charset="0"/>
                        <a:cs typeface="Aptos" charset="0"/>
                      </a:endParaRPr>
                    </a:p>
                  </a:txBody>
                  <a:tcPr marL="73152" marR="73152" marT="73152" marB="73152"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173D24"/>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5-day Resilience Lab</a:t>
                      </a:r>
                      <a:endParaRPr lang="en-US" sz="1200" dirty="0">
                        <a:latin typeface="Aptos" charset="0"/>
                        <a:ea typeface="Aptos" charset="0"/>
                        <a:cs typeface="Aptos" charset="0"/>
                      </a:endParaRPr>
                    </a:p>
                  </a:txBody>
                  <a:tcPr marL="73152" marR="73152" marT="73152" marB="73152"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173D24"/>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6-week program</a:t>
                      </a:r>
                      <a:endParaRPr lang="en-US" sz="1200" dirty="0">
                        <a:latin typeface="Aptos" charset="0"/>
                        <a:ea typeface="Aptos" charset="0"/>
                        <a:cs typeface="Aptos" charset="0"/>
                      </a:endParaRPr>
                    </a:p>
                  </a:txBody>
                  <a:tcPr marL="73152" marR="73152" marT="73152" marB="73152"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173D24"/>
                    </a:solidFill>
                  </a:tcPr>
                </a:tc>
              </a:tr>
              <a:tr h="457200">
                <a:tc>
                  <a:txBody>
                    <a:bodyPr/>
                    <a:lstStyle/>
                    <a:p>
                      <a:pPr indent="0" marL="0">
                        <a:buNone/>
                      </a:pPr>
                      <a:r>
                        <a:rPr lang="en-US" sz="1200" dirty="0">
                          <a:solidFill>
                            <a:srgbClr val="203128"/>
                          </a:solidFill>
                          <a:latin typeface="Aptos" pitchFamily="34" charset="0"/>
                          <a:ea typeface="Aptos" pitchFamily="34" charset="-122"/>
                          <a:cs typeface="Aptos" pitchFamily="34" charset="-120"/>
                        </a:rPr>
                        <a:t>Purpose</a:t>
                      </a:r>
                      <a:endParaRPr lang="en-US" sz="1200" dirty="0">
                        <a:latin typeface="Aptos" charset="0"/>
                        <a:ea typeface="Aptos" charset="0"/>
                        <a:cs typeface="Aptos" charset="0"/>
                      </a:endParaRPr>
                    </a:p>
                  </a:txBody>
                  <a:tcPr marL="73152" marR="73152" marT="73152" marB="73152"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FFFFFF"/>
                    </a:solidFill>
                  </a:tcPr>
                </a:tc>
                <a:tc>
                  <a:txBody>
                    <a:bodyPr/>
                    <a:lstStyle/>
                    <a:p>
                      <a:pPr indent="0" marL="0">
                        <a:buNone/>
                      </a:pPr>
                      <a:r>
                        <a:rPr lang="en-US" sz="1200" dirty="0">
                          <a:solidFill>
                            <a:srgbClr val="203128"/>
                          </a:solidFill>
                          <a:latin typeface="Aptos" pitchFamily="34" charset="0"/>
                          <a:ea typeface="Aptos" pitchFamily="34" charset="-122"/>
                          <a:cs typeface="Aptos" pitchFamily="34" charset="-120"/>
                        </a:rPr>
                        <a:t>Focused entry point</a:t>
                      </a:r>
                      <a:endParaRPr lang="en-US" sz="1200" dirty="0">
                        <a:latin typeface="Aptos" charset="0"/>
                        <a:ea typeface="Aptos" charset="0"/>
                        <a:cs typeface="Aptos" charset="0"/>
                      </a:endParaRPr>
                    </a:p>
                  </a:txBody>
                  <a:tcPr marL="73152" marR="73152" marT="73152" marB="73152"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FFFFFF"/>
                    </a:solidFill>
                  </a:tcPr>
                </a:tc>
                <a:tc>
                  <a:txBody>
                    <a:bodyPr/>
                    <a:lstStyle/>
                    <a:p>
                      <a:pPr indent="0" marL="0">
                        <a:buNone/>
                      </a:pPr>
                      <a:r>
                        <a:rPr lang="en-US" sz="1200" dirty="0">
                          <a:solidFill>
                            <a:srgbClr val="203128"/>
                          </a:solidFill>
                          <a:latin typeface="Aptos" pitchFamily="34" charset="0"/>
                          <a:ea typeface="Aptos" pitchFamily="34" charset="-122"/>
                          <a:cs typeface="Aptos" pitchFamily="34" charset="-120"/>
                        </a:rPr>
                        <a:t>Fuller developmental pathway</a:t>
                      </a:r>
                      <a:endParaRPr lang="en-US" sz="1200" dirty="0">
                        <a:latin typeface="Aptos" charset="0"/>
                        <a:ea typeface="Aptos" charset="0"/>
                        <a:cs typeface="Aptos" charset="0"/>
                      </a:endParaRPr>
                    </a:p>
                  </a:txBody>
                  <a:tcPr marL="73152" marR="73152" marT="73152" marB="73152"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FFFFFF"/>
                    </a:solidFill>
                  </a:tcPr>
                </a:tc>
              </a:tr>
              <a:tr h="493776">
                <a:tc>
                  <a:txBody>
                    <a:bodyPr/>
                    <a:lstStyle/>
                    <a:p>
                      <a:pPr indent="0" marL="0">
                        <a:buNone/>
                      </a:pPr>
                      <a:r>
                        <a:rPr lang="en-US" sz="1200" dirty="0">
                          <a:solidFill>
                            <a:srgbClr val="203128"/>
                          </a:solidFill>
                          <a:latin typeface="Aptos" pitchFamily="34" charset="0"/>
                          <a:ea typeface="Aptos" pitchFamily="34" charset="-122"/>
                          <a:cs typeface="Aptos" pitchFamily="34" charset="-120"/>
                        </a:rPr>
                        <a:t>Covers</a:t>
                      </a:r>
                      <a:endParaRPr lang="en-US" sz="1200" dirty="0">
                        <a:latin typeface="Aptos" charset="0"/>
                        <a:ea typeface="Aptos" charset="0"/>
                        <a:cs typeface="Aptos" charset="0"/>
                      </a:endParaRPr>
                    </a:p>
                  </a:txBody>
                  <a:tcPr marL="73152" marR="73152" marT="73152" marB="73152"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FFFFFF"/>
                    </a:solidFill>
                  </a:tcPr>
                </a:tc>
                <a:tc>
                  <a:txBody>
                    <a:bodyPr/>
                    <a:lstStyle/>
                    <a:p>
                      <a:pPr indent="0" marL="0">
                        <a:buNone/>
                      </a:pPr>
                      <a:r>
                        <a:rPr lang="en-US" sz="1200" dirty="0">
                          <a:solidFill>
                            <a:srgbClr val="203128"/>
                          </a:solidFill>
                          <a:latin typeface="Aptos" pitchFamily="34" charset="0"/>
                          <a:ea typeface="Aptos" pitchFamily="34" charset="-122"/>
                          <a:cs typeface="Aptos" pitchFamily="34" charset="-120"/>
                        </a:rPr>
                        <a:t>Core concepts from the same method</a:t>
                      </a:r>
                      <a:endParaRPr lang="en-US" sz="1200" dirty="0">
                        <a:latin typeface="Aptos" charset="0"/>
                        <a:ea typeface="Aptos" charset="0"/>
                        <a:cs typeface="Aptos" charset="0"/>
                      </a:endParaRPr>
                    </a:p>
                  </a:txBody>
                  <a:tcPr marL="73152" marR="73152" marT="73152" marB="73152"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FFFFFF"/>
                    </a:solidFill>
                  </a:tcPr>
                </a:tc>
                <a:tc>
                  <a:txBody>
                    <a:bodyPr/>
                    <a:lstStyle/>
                    <a:p>
                      <a:pPr indent="0" marL="0">
                        <a:buNone/>
                      </a:pPr>
                      <a:r>
                        <a:rPr lang="en-US" sz="1200" dirty="0">
                          <a:solidFill>
                            <a:srgbClr val="203128"/>
                          </a:solidFill>
                          <a:latin typeface="Aptos" pitchFamily="34" charset="0"/>
                          <a:ea typeface="Aptos" pitchFamily="34" charset="-122"/>
                          <a:cs typeface="Aptos" pitchFamily="34" charset="-120"/>
                        </a:rPr>
                        <a:t>Full sequence + deeper reinforcement</a:t>
                      </a:r>
                      <a:endParaRPr lang="en-US" sz="1200" dirty="0">
                        <a:latin typeface="Aptos" charset="0"/>
                        <a:ea typeface="Aptos" charset="0"/>
                        <a:cs typeface="Aptos" charset="0"/>
                      </a:endParaRPr>
                    </a:p>
                  </a:txBody>
                  <a:tcPr marL="73152" marR="73152" marT="73152" marB="73152"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FFFFFF"/>
                    </a:solidFill>
                  </a:tcPr>
                </a:tc>
              </a:tr>
              <a:tr h="493776">
                <a:tc>
                  <a:txBody>
                    <a:bodyPr/>
                    <a:lstStyle/>
                    <a:p>
                      <a:pPr indent="0" marL="0">
                        <a:buNone/>
                      </a:pPr>
                      <a:r>
                        <a:rPr lang="en-US" sz="1200" dirty="0">
                          <a:solidFill>
                            <a:srgbClr val="203128"/>
                          </a:solidFill>
                          <a:latin typeface="Aptos" pitchFamily="34" charset="0"/>
                          <a:ea typeface="Aptos" pitchFamily="34" charset="-122"/>
                          <a:cs typeface="Aptos" pitchFamily="34" charset="-120"/>
                        </a:rPr>
                        <a:t>Best for</a:t>
                      </a:r>
                      <a:endParaRPr lang="en-US" sz="1200" dirty="0">
                        <a:latin typeface="Aptos" charset="0"/>
                        <a:ea typeface="Aptos" charset="0"/>
                        <a:cs typeface="Aptos" charset="0"/>
                      </a:endParaRPr>
                    </a:p>
                  </a:txBody>
                  <a:tcPr marL="73152" marR="73152" marT="73152" marB="73152"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FFFFFF"/>
                    </a:solidFill>
                  </a:tcPr>
                </a:tc>
                <a:tc>
                  <a:txBody>
                    <a:bodyPr/>
                    <a:lstStyle/>
                    <a:p>
                      <a:pPr indent="0" marL="0">
                        <a:buNone/>
                      </a:pPr>
                      <a:r>
                        <a:rPr lang="en-US" sz="1200" dirty="0">
                          <a:solidFill>
                            <a:srgbClr val="203128"/>
                          </a:solidFill>
                          <a:latin typeface="Aptos" pitchFamily="34" charset="0"/>
                          <a:ea typeface="Aptos" pitchFamily="34" charset="-122"/>
                          <a:cs typeface="Aptos" pitchFamily="34" charset="-120"/>
                        </a:rPr>
                        <a:t>Families who want a strong start</a:t>
                      </a:r>
                      <a:endParaRPr lang="en-US" sz="1200" dirty="0">
                        <a:latin typeface="Aptos" charset="0"/>
                        <a:ea typeface="Aptos" charset="0"/>
                        <a:cs typeface="Aptos" charset="0"/>
                      </a:endParaRPr>
                    </a:p>
                  </a:txBody>
                  <a:tcPr marL="73152" marR="73152" marT="73152" marB="73152"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FFFFFF"/>
                    </a:solidFill>
                  </a:tcPr>
                </a:tc>
                <a:tc>
                  <a:txBody>
                    <a:bodyPr/>
                    <a:lstStyle/>
                    <a:p>
                      <a:pPr indent="0" marL="0">
                        <a:buNone/>
                      </a:pPr>
                      <a:r>
                        <a:rPr lang="en-US" sz="1200" dirty="0">
                          <a:solidFill>
                            <a:srgbClr val="203128"/>
                          </a:solidFill>
                          <a:latin typeface="Aptos" pitchFamily="34" charset="0"/>
                          <a:ea typeface="Aptos" pitchFamily="34" charset="-122"/>
                          <a:cs typeface="Aptos" pitchFamily="34" charset="-120"/>
                        </a:rPr>
                        <a:t>Families ready for more sustained practice</a:t>
                      </a:r>
                      <a:endParaRPr lang="en-US" sz="1200" dirty="0">
                        <a:latin typeface="Aptos" charset="0"/>
                        <a:ea typeface="Aptos" charset="0"/>
                        <a:cs typeface="Aptos" charset="0"/>
                      </a:endParaRPr>
                    </a:p>
                  </a:txBody>
                  <a:tcPr marL="73152" marR="73152" marT="73152" marB="73152"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FFFFFF"/>
                    </a:solidFill>
                  </a:tcPr>
                </a:tc>
              </a:tr>
              <a:tr h="493776">
                <a:tc>
                  <a:txBody>
                    <a:bodyPr/>
                    <a:lstStyle/>
                    <a:p>
                      <a:pPr indent="0" marL="0">
                        <a:buNone/>
                      </a:pPr>
                      <a:r>
                        <a:rPr lang="en-US" sz="1200" dirty="0">
                          <a:solidFill>
                            <a:srgbClr val="203128"/>
                          </a:solidFill>
                          <a:latin typeface="Aptos" pitchFamily="34" charset="0"/>
                          <a:ea typeface="Aptos" pitchFamily="34" charset="-122"/>
                          <a:cs typeface="Aptos" pitchFamily="34" charset="-120"/>
                        </a:rPr>
                        <a:t>Takeaway</a:t>
                      </a:r>
                      <a:endParaRPr lang="en-US" sz="1200" dirty="0">
                        <a:latin typeface="Aptos" charset="0"/>
                        <a:ea typeface="Aptos" charset="0"/>
                        <a:cs typeface="Aptos" charset="0"/>
                      </a:endParaRPr>
                    </a:p>
                  </a:txBody>
                  <a:tcPr marL="73152" marR="73152" marT="73152" marB="73152"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FFFFFF"/>
                    </a:solidFill>
                  </a:tcPr>
                </a:tc>
                <a:tc>
                  <a:txBody>
                    <a:bodyPr/>
                    <a:lstStyle/>
                    <a:p>
                      <a:pPr indent="0" marL="0">
                        <a:buNone/>
                      </a:pPr>
                      <a:r>
                        <a:rPr lang="en-US" sz="1200" dirty="0">
                          <a:solidFill>
                            <a:srgbClr val="203128"/>
                          </a:solidFill>
                          <a:latin typeface="Aptos" pitchFamily="34" charset="0"/>
                          <a:ea typeface="Aptos" pitchFamily="34" charset="-122"/>
                          <a:cs typeface="Aptos" pitchFamily="34" charset="-120"/>
                        </a:rPr>
                        <a:t>A practical beginning</a:t>
                      </a:r>
                      <a:endParaRPr lang="en-US" sz="1200" dirty="0">
                        <a:latin typeface="Aptos" charset="0"/>
                        <a:ea typeface="Aptos" charset="0"/>
                        <a:cs typeface="Aptos" charset="0"/>
                      </a:endParaRPr>
                    </a:p>
                  </a:txBody>
                  <a:tcPr marL="73152" marR="73152" marT="73152" marB="73152"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FFFFFF"/>
                    </a:solidFill>
                  </a:tcPr>
                </a:tc>
                <a:tc>
                  <a:txBody>
                    <a:bodyPr/>
                    <a:lstStyle/>
                    <a:p>
                      <a:pPr indent="0" marL="0">
                        <a:buNone/>
                      </a:pPr>
                      <a:r>
                        <a:rPr lang="en-US" sz="1200" dirty="0">
                          <a:solidFill>
                            <a:srgbClr val="203128"/>
                          </a:solidFill>
                          <a:latin typeface="Aptos" pitchFamily="34" charset="0"/>
                          <a:ea typeface="Aptos" pitchFamily="34" charset="-122"/>
                          <a:cs typeface="Aptos" pitchFamily="34" charset="-120"/>
                        </a:rPr>
                        <a:t>A more complete resilience toolkit</a:t>
                      </a:r>
                      <a:endParaRPr lang="en-US" sz="1200" dirty="0">
                        <a:latin typeface="Aptos" charset="0"/>
                        <a:ea typeface="Aptos" charset="0"/>
                        <a:cs typeface="Aptos" charset="0"/>
                      </a:endParaRPr>
                    </a:p>
                  </a:txBody>
                  <a:tcPr marL="73152" marR="73152" marT="73152" marB="73152"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FFFFFF"/>
                    </a:solidFill>
                  </a:tcPr>
                </a:tc>
              </a:tr>
            </a:tbl>
          </a:graphicData>
        </a:graphic>
      </p:graphicFrame>
      <p:sp>
        <p:nvSpPr>
          <p:cNvPr id="11" name="Shape 8"/>
          <p:cNvSpPr/>
          <p:nvPr/>
        </p:nvSpPr>
        <p:spPr>
          <a:xfrm>
            <a:off x="1060704" y="5266944"/>
            <a:ext cx="10058400" cy="603504"/>
          </a:xfrm>
          <a:prstGeom prst="roundRect">
            <a:avLst/>
          </a:prstGeom>
          <a:solidFill>
            <a:srgbClr val="FFFFFF"/>
          </a:solidFill>
          <a:ln w="12700">
            <a:solidFill>
              <a:srgbClr val="C89C3D"/>
            </a:solidFill>
            <a:prstDash val="solid"/>
          </a:ln>
        </p:spPr>
      </p:sp>
      <p:sp>
        <p:nvSpPr>
          <p:cNvPr id="12" name="Text 9"/>
          <p:cNvSpPr/>
          <p:nvPr/>
        </p:nvSpPr>
        <p:spPr>
          <a:xfrm>
            <a:off x="1243584" y="5449824"/>
            <a:ext cx="9674352" cy="182880"/>
          </a:xfrm>
          <a:prstGeom prst="rect">
            <a:avLst/>
          </a:prstGeom>
          <a:noFill/>
          <a:ln/>
        </p:spPr>
        <p:txBody>
          <a:bodyPr wrap="square" lIns="508" tIns="508" rIns="508" bIns="508" rtlCol="0" anchor="ctr">
            <a:normAutofit/>
          </a:bodyPr>
          <a:lstStyle/>
          <a:p>
            <a:pPr algn="ctr" indent="0" marL="0">
              <a:buNone/>
            </a:pPr>
            <a:r>
              <a:rPr lang="en-US" sz="1500" b="1" dirty="0">
                <a:solidFill>
                  <a:srgbClr val="173D24"/>
                </a:solidFill>
                <a:latin typeface="Georgia" pitchFamily="34" charset="0"/>
                <a:ea typeface="Georgia" pitchFamily="34" charset="-122"/>
                <a:cs typeface="Georgia" pitchFamily="34" charset="-120"/>
              </a:rPr>
              <a:t>For this presentation, the 6-week program shows the fuller architecture. The 5-day program is the shorter subset parents can begin with first.</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0E6"/>
        </a:solidFill>
      </p:bgPr>
    </p:bg>
    <p:spTree>
      <p:nvGrpSpPr>
        <p:cNvPr id="1" name=""/>
        <p:cNvGrpSpPr/>
        <p:nvPr/>
      </p:nvGrpSpPr>
      <p:grpSpPr>
        <a:xfrm>
          <a:off x="0" y="0"/>
          <a:ext cx="0" cy="0"/>
          <a:chOff x="0" y="0"/>
          <a:chExt cx="0" cy="0"/>
        </a:xfrm>
      </p:grpSpPr>
      <p:sp>
        <p:nvSpPr>
          <p:cNvPr id="2" name="Shape 0"/>
          <p:cNvSpPr/>
          <p:nvPr/>
        </p:nvSpPr>
        <p:spPr>
          <a:xfrm>
            <a:off x="0" y="0"/>
            <a:ext cx="12191695" cy="713232"/>
          </a:xfrm>
          <a:prstGeom prst="rect">
            <a:avLst/>
          </a:prstGeom>
          <a:solidFill>
            <a:srgbClr val="173D24"/>
          </a:solidFill>
          <a:ln w="12700">
            <a:solidFill>
              <a:srgbClr val="173D24"/>
            </a:solidFill>
            <a:prstDash val="solid"/>
          </a:ln>
        </p:spPr>
      </p:sp>
      <p:sp>
        <p:nvSpPr>
          <p:cNvPr id="3" name="Text 1"/>
          <p:cNvSpPr/>
          <p:nvPr/>
        </p:nvSpPr>
        <p:spPr>
          <a:xfrm>
            <a:off x="475488" y="146304"/>
            <a:ext cx="1828800" cy="146304"/>
          </a:xfrm>
          <a:prstGeom prst="rect">
            <a:avLst/>
          </a:prstGeom>
          <a:noFill/>
          <a:ln/>
        </p:spPr>
        <p:txBody>
          <a:bodyPr wrap="square" lIns="0" tIns="0" rIns="0" bIns="0" rtlCol="0" anchor="ctr">
            <a:normAutofit/>
          </a:bodyPr>
          <a:lstStyle/>
          <a:p>
            <a:pPr indent="0" marL="0">
              <a:buNone/>
            </a:pPr>
            <a:r>
              <a:rPr lang="en-US" sz="900" b="1" dirty="0">
                <a:solidFill>
                  <a:srgbClr val="C89C3D"/>
                </a:solidFill>
                <a:latin typeface="Aptos" pitchFamily="34" charset="0"/>
                <a:ea typeface="Aptos" pitchFamily="34" charset="-122"/>
                <a:cs typeface="Aptos" pitchFamily="34" charset="-120"/>
              </a:rPr>
              <a:t>SLIDE 15 OF 17</a:t>
            </a:r>
            <a:endParaRPr lang="en-US" sz="900" dirty="0"/>
          </a:p>
        </p:txBody>
      </p:sp>
      <p:sp>
        <p:nvSpPr>
          <p:cNvPr id="4" name="Text 2"/>
          <p:cNvSpPr/>
          <p:nvPr/>
        </p:nvSpPr>
        <p:spPr>
          <a:xfrm>
            <a:off x="475488" y="283464"/>
            <a:ext cx="8138160" cy="237744"/>
          </a:xfrm>
          <a:prstGeom prst="rect">
            <a:avLst/>
          </a:prstGeom>
          <a:noFill/>
          <a:ln/>
        </p:spPr>
        <p:txBody>
          <a:bodyPr wrap="square" lIns="0" tIns="0" rIns="0" bIns="0" rtlCol="0" anchor="ctr">
            <a:normAutofit/>
          </a:bodyPr>
          <a:lstStyle/>
          <a:p>
            <a:pPr indent="0" marL="0">
              <a:buNone/>
            </a:pPr>
            <a:r>
              <a:rPr lang="en-US" sz="2200" b="1" dirty="0">
                <a:solidFill>
                  <a:srgbClr val="FFFFFF"/>
                </a:solidFill>
                <a:latin typeface="Georgia" pitchFamily="34" charset="0"/>
                <a:ea typeface="Georgia" pitchFamily="34" charset="-122"/>
                <a:cs typeface="Georgia" pitchFamily="34" charset="-120"/>
              </a:rPr>
              <a:t>What actually changed in students' lives</a:t>
            </a:r>
            <a:endParaRPr lang="en-US" sz="2200" dirty="0"/>
          </a:p>
        </p:txBody>
      </p:sp>
      <p:sp>
        <p:nvSpPr>
          <p:cNvPr id="5" name="Text 3"/>
          <p:cNvSpPr/>
          <p:nvPr/>
        </p:nvSpPr>
        <p:spPr>
          <a:xfrm>
            <a:off x="9006840" y="173736"/>
            <a:ext cx="2697480" cy="146304"/>
          </a:xfrm>
          <a:prstGeom prst="rect">
            <a:avLst/>
          </a:prstGeom>
          <a:noFill/>
          <a:ln/>
        </p:spPr>
        <p:txBody>
          <a:bodyPr wrap="square" lIns="0" tIns="0" rIns="0" bIns="0" rtlCol="0" anchor="ctr">
            <a:normAutofit/>
          </a:bodyPr>
          <a:lstStyle/>
          <a:p>
            <a:pPr algn="r" indent="0" marL="0">
              <a:buNone/>
            </a:pPr>
            <a:r>
              <a:rPr lang="en-US" sz="900" b="1" dirty="0">
                <a:solidFill>
                  <a:srgbClr val="F6F0E6"/>
                </a:solidFill>
                <a:latin typeface="Aptos" pitchFamily="34" charset="0"/>
                <a:ea typeface="Aptos" pitchFamily="34" charset="-122"/>
                <a:cs typeface="Aptos" pitchFamily="34" charset="-120"/>
              </a:rPr>
              <a:t>PROOF</a:t>
            </a:r>
            <a:endParaRPr lang="en-US" sz="900" dirty="0"/>
          </a:p>
        </p:txBody>
      </p:sp>
      <p:sp>
        <p:nvSpPr>
          <p:cNvPr id="6" name="Shape 4"/>
          <p:cNvSpPr/>
          <p:nvPr/>
        </p:nvSpPr>
        <p:spPr>
          <a:xfrm>
            <a:off x="475488" y="932688"/>
            <a:ext cx="64008" cy="694944"/>
          </a:xfrm>
          <a:prstGeom prst="rect">
            <a:avLst/>
          </a:prstGeom>
          <a:solidFill>
            <a:srgbClr val="C89C3D"/>
          </a:solidFill>
          <a:ln w="12700">
            <a:solidFill>
              <a:srgbClr val="C89C3D"/>
            </a:solidFill>
            <a:prstDash val="solid"/>
          </a:ln>
        </p:spPr>
      </p:sp>
      <p:sp>
        <p:nvSpPr>
          <p:cNvPr id="7" name="Text 5"/>
          <p:cNvSpPr/>
          <p:nvPr/>
        </p:nvSpPr>
        <p:spPr>
          <a:xfrm>
            <a:off x="658368" y="960120"/>
            <a:ext cx="11064240" cy="585216"/>
          </a:xfrm>
          <a:prstGeom prst="rect">
            <a:avLst/>
          </a:prstGeom>
          <a:noFill/>
          <a:ln/>
        </p:spPr>
        <p:txBody>
          <a:bodyPr wrap="square" lIns="0" tIns="0" rIns="0" bIns="0" rtlCol="0" anchor="ctr">
            <a:normAutofit/>
          </a:bodyPr>
          <a:lstStyle/>
          <a:p>
            <a:pPr indent="0" marL="0">
              <a:buNone/>
            </a:pPr>
            <a:r>
              <a:rPr lang="en-US" sz="2400" b="1" dirty="0">
                <a:solidFill>
                  <a:srgbClr val="173D24"/>
                </a:solidFill>
                <a:latin typeface="Georgia" pitchFamily="34" charset="0"/>
                <a:ea typeface="Georgia" pitchFamily="34" charset="-122"/>
                <a:cs typeface="Georgia" pitchFamily="34" charset="-120"/>
              </a:rPr>
              <a:t>These are observable shifts in real life, not abstract promises.</a:t>
            </a:r>
            <a:endParaRPr lang="en-US" sz="2400" dirty="0"/>
          </a:p>
        </p:txBody>
      </p:sp>
      <p:sp>
        <p:nvSpPr>
          <p:cNvPr id="8" name="Shape 6"/>
          <p:cNvSpPr/>
          <p:nvPr/>
        </p:nvSpPr>
        <p:spPr>
          <a:xfrm>
            <a:off x="786384" y="1847088"/>
            <a:ext cx="5102352" cy="1572768"/>
          </a:xfrm>
          <a:prstGeom prst="roundRect">
            <a:avLst/>
          </a:prstGeom>
          <a:solidFill>
            <a:srgbClr val="FFFFFF"/>
          </a:solidFill>
          <a:ln w="12700">
            <a:solidFill>
              <a:srgbClr val="D2C5AE"/>
            </a:solidFill>
            <a:prstDash val="solid"/>
          </a:ln>
        </p:spPr>
      </p:sp>
      <p:sp>
        <p:nvSpPr>
          <p:cNvPr id="9" name="Shape 7"/>
          <p:cNvSpPr/>
          <p:nvPr/>
        </p:nvSpPr>
        <p:spPr>
          <a:xfrm>
            <a:off x="914400" y="1956816"/>
            <a:ext cx="4846320" cy="310896"/>
          </a:xfrm>
          <a:prstGeom prst="roundRect">
            <a:avLst/>
          </a:prstGeom>
          <a:solidFill>
            <a:srgbClr val="173D24"/>
          </a:solidFill>
          <a:ln w="12700">
            <a:solidFill>
              <a:srgbClr val="173D24"/>
            </a:solidFill>
            <a:prstDash val="solid"/>
          </a:ln>
        </p:spPr>
      </p:sp>
      <p:sp>
        <p:nvSpPr>
          <p:cNvPr id="10" name="Text 8"/>
          <p:cNvSpPr/>
          <p:nvPr/>
        </p:nvSpPr>
        <p:spPr>
          <a:xfrm>
            <a:off x="987552" y="2011680"/>
            <a:ext cx="4700016" cy="219456"/>
          </a:xfrm>
          <a:prstGeom prst="rect">
            <a:avLst/>
          </a:prstGeom>
          <a:noFill/>
          <a:ln/>
        </p:spPr>
        <p:txBody>
          <a:bodyPr wrap="square" lIns="0" tIns="0" rIns="0" bIns="0" rtlCol="0" anchor="ctr">
            <a:normAutofit/>
          </a:bodyPr>
          <a:lstStyle/>
          <a:p>
            <a:pPr algn="ctr" indent="0" marL="0">
              <a:buNone/>
            </a:pPr>
            <a:r>
              <a:rPr lang="en-US" sz="1050" b="1" dirty="0">
                <a:solidFill>
                  <a:srgbClr val="C89C3D"/>
                </a:solidFill>
                <a:latin typeface="Aptos" pitchFamily="34" charset="0"/>
                <a:ea typeface="Aptos" pitchFamily="34" charset="-122"/>
                <a:cs typeface="Aptos" pitchFamily="34" charset="-120"/>
              </a:rPr>
              <a:t>Less reactive under stress</a:t>
            </a:r>
            <a:endParaRPr lang="en-US" sz="1050" dirty="0"/>
          </a:p>
        </p:txBody>
      </p:sp>
      <p:sp>
        <p:nvSpPr>
          <p:cNvPr id="11" name="Text 9"/>
          <p:cNvSpPr/>
          <p:nvPr/>
        </p:nvSpPr>
        <p:spPr>
          <a:xfrm>
            <a:off x="950976" y="2377440"/>
            <a:ext cx="4773168" cy="914400"/>
          </a:xfrm>
          <a:prstGeom prst="rect">
            <a:avLst/>
          </a:prstGeom>
          <a:noFill/>
          <a:ln/>
        </p:spPr>
        <p:txBody>
          <a:bodyPr wrap="square" lIns="508" tIns="508" rIns="508" bIns="508" rtlCol="0" anchor="ctr">
            <a:normAutofit/>
          </a:bodyPr>
          <a:lstStyle/>
          <a:p>
            <a:pPr indent="0" marL="0">
              <a:buNone/>
            </a:pPr>
            <a:r>
              <a:rPr lang="en-US" sz="1300" dirty="0">
                <a:solidFill>
                  <a:srgbClr val="203128"/>
                </a:solidFill>
                <a:latin typeface="Aptos" pitchFamily="34" charset="0"/>
                <a:ea typeface="Aptos" pitchFamily="34" charset="-122"/>
                <a:cs typeface="Aptos" pitchFamily="34" charset="-120"/>
              </a:rPr>
              <a:t>One middle school student learned to pause before reacting and became calmer in daily life.</a:t>
            </a:r>
            <a:endParaRPr lang="en-US" sz="1300" dirty="0"/>
          </a:p>
        </p:txBody>
      </p:sp>
      <p:sp>
        <p:nvSpPr>
          <p:cNvPr id="12" name="Shape 10"/>
          <p:cNvSpPr/>
          <p:nvPr/>
        </p:nvSpPr>
        <p:spPr>
          <a:xfrm>
            <a:off x="6254496" y="1847088"/>
            <a:ext cx="5102352" cy="1572768"/>
          </a:xfrm>
          <a:prstGeom prst="roundRect">
            <a:avLst/>
          </a:prstGeom>
          <a:solidFill>
            <a:srgbClr val="FFFFFF"/>
          </a:solidFill>
          <a:ln w="12700">
            <a:solidFill>
              <a:srgbClr val="D2C5AE"/>
            </a:solidFill>
            <a:prstDash val="solid"/>
          </a:ln>
        </p:spPr>
      </p:sp>
      <p:sp>
        <p:nvSpPr>
          <p:cNvPr id="13" name="Shape 11"/>
          <p:cNvSpPr/>
          <p:nvPr/>
        </p:nvSpPr>
        <p:spPr>
          <a:xfrm>
            <a:off x="6382512" y="1956816"/>
            <a:ext cx="4846320" cy="310896"/>
          </a:xfrm>
          <a:prstGeom prst="roundRect">
            <a:avLst/>
          </a:prstGeom>
          <a:solidFill>
            <a:srgbClr val="173D24"/>
          </a:solidFill>
          <a:ln w="12700">
            <a:solidFill>
              <a:srgbClr val="173D24"/>
            </a:solidFill>
            <a:prstDash val="solid"/>
          </a:ln>
        </p:spPr>
      </p:sp>
      <p:sp>
        <p:nvSpPr>
          <p:cNvPr id="14" name="Text 12"/>
          <p:cNvSpPr/>
          <p:nvPr/>
        </p:nvSpPr>
        <p:spPr>
          <a:xfrm>
            <a:off x="6455664" y="2011680"/>
            <a:ext cx="4700016" cy="219456"/>
          </a:xfrm>
          <a:prstGeom prst="rect">
            <a:avLst/>
          </a:prstGeom>
          <a:noFill/>
          <a:ln/>
        </p:spPr>
        <p:txBody>
          <a:bodyPr wrap="square" lIns="0" tIns="0" rIns="0" bIns="0" rtlCol="0" anchor="ctr">
            <a:normAutofit/>
          </a:bodyPr>
          <a:lstStyle/>
          <a:p>
            <a:pPr algn="ctr" indent="0" marL="0">
              <a:buNone/>
            </a:pPr>
            <a:r>
              <a:rPr lang="en-US" sz="1050" b="1" dirty="0">
                <a:solidFill>
                  <a:srgbClr val="C89C3D"/>
                </a:solidFill>
                <a:latin typeface="Aptos" pitchFamily="34" charset="0"/>
                <a:ea typeface="Aptos" pitchFamily="34" charset="-122"/>
                <a:cs typeface="Aptos" pitchFamily="34" charset="-120"/>
              </a:rPr>
              <a:t>Better sleep and focus</a:t>
            </a:r>
            <a:endParaRPr lang="en-US" sz="1050" dirty="0"/>
          </a:p>
        </p:txBody>
      </p:sp>
      <p:sp>
        <p:nvSpPr>
          <p:cNvPr id="15" name="Text 13"/>
          <p:cNvSpPr/>
          <p:nvPr/>
        </p:nvSpPr>
        <p:spPr>
          <a:xfrm>
            <a:off x="6419088" y="2377440"/>
            <a:ext cx="4773168" cy="914400"/>
          </a:xfrm>
          <a:prstGeom prst="rect">
            <a:avLst/>
          </a:prstGeom>
          <a:noFill/>
          <a:ln/>
        </p:spPr>
        <p:txBody>
          <a:bodyPr wrap="square" lIns="508" tIns="508" rIns="508" bIns="508" rtlCol="0" anchor="ctr">
            <a:normAutofit/>
          </a:bodyPr>
          <a:lstStyle/>
          <a:p>
            <a:pPr indent="0" marL="0">
              <a:buNone/>
            </a:pPr>
            <a:r>
              <a:rPr lang="en-US" sz="1300" dirty="0">
                <a:solidFill>
                  <a:srgbClr val="203128"/>
                </a:solidFill>
                <a:latin typeface="Aptos" pitchFamily="34" charset="0"/>
                <a:ea typeface="Aptos" pitchFamily="34" charset="-122"/>
                <a:cs typeface="Aptos" pitchFamily="34" charset="-120"/>
              </a:rPr>
              <a:t>One student began using the practices before bed, slept better, woke up in a better mood, and became more focused at school.</a:t>
            </a:r>
            <a:endParaRPr lang="en-US" sz="1300" dirty="0"/>
          </a:p>
        </p:txBody>
      </p:sp>
      <p:sp>
        <p:nvSpPr>
          <p:cNvPr id="16" name="Shape 14"/>
          <p:cNvSpPr/>
          <p:nvPr/>
        </p:nvSpPr>
        <p:spPr>
          <a:xfrm>
            <a:off x="786384" y="3749040"/>
            <a:ext cx="5102352" cy="1572768"/>
          </a:xfrm>
          <a:prstGeom prst="roundRect">
            <a:avLst/>
          </a:prstGeom>
          <a:solidFill>
            <a:srgbClr val="FFFFFF"/>
          </a:solidFill>
          <a:ln w="12700">
            <a:solidFill>
              <a:srgbClr val="D2C5AE"/>
            </a:solidFill>
            <a:prstDash val="solid"/>
          </a:ln>
        </p:spPr>
      </p:sp>
      <p:sp>
        <p:nvSpPr>
          <p:cNvPr id="17" name="Shape 15"/>
          <p:cNvSpPr/>
          <p:nvPr/>
        </p:nvSpPr>
        <p:spPr>
          <a:xfrm>
            <a:off x="914400" y="3858768"/>
            <a:ext cx="4846320" cy="310896"/>
          </a:xfrm>
          <a:prstGeom prst="roundRect">
            <a:avLst/>
          </a:prstGeom>
          <a:solidFill>
            <a:srgbClr val="173D24"/>
          </a:solidFill>
          <a:ln w="12700">
            <a:solidFill>
              <a:srgbClr val="173D24"/>
            </a:solidFill>
            <a:prstDash val="solid"/>
          </a:ln>
        </p:spPr>
      </p:sp>
      <p:sp>
        <p:nvSpPr>
          <p:cNvPr id="18" name="Text 16"/>
          <p:cNvSpPr/>
          <p:nvPr/>
        </p:nvSpPr>
        <p:spPr>
          <a:xfrm>
            <a:off x="987552" y="3913632"/>
            <a:ext cx="4700016" cy="219456"/>
          </a:xfrm>
          <a:prstGeom prst="rect">
            <a:avLst/>
          </a:prstGeom>
          <a:noFill/>
          <a:ln/>
        </p:spPr>
        <p:txBody>
          <a:bodyPr wrap="square" lIns="0" tIns="0" rIns="0" bIns="0" rtlCol="0" anchor="ctr">
            <a:normAutofit/>
          </a:bodyPr>
          <a:lstStyle/>
          <a:p>
            <a:pPr algn="ctr" indent="0" marL="0">
              <a:buNone/>
            </a:pPr>
            <a:r>
              <a:rPr lang="en-US" sz="1050" b="1" dirty="0">
                <a:solidFill>
                  <a:srgbClr val="C89C3D"/>
                </a:solidFill>
                <a:latin typeface="Aptos" pitchFamily="34" charset="0"/>
                <a:ea typeface="Aptos" pitchFamily="34" charset="-122"/>
                <a:cs typeface="Aptos" pitchFamily="34" charset="-120"/>
              </a:rPr>
              <a:t>More academic confidence</a:t>
            </a:r>
            <a:endParaRPr lang="en-US" sz="1050" dirty="0"/>
          </a:p>
        </p:txBody>
      </p:sp>
      <p:sp>
        <p:nvSpPr>
          <p:cNvPr id="19" name="Text 17"/>
          <p:cNvSpPr/>
          <p:nvPr/>
        </p:nvSpPr>
        <p:spPr>
          <a:xfrm>
            <a:off x="950976" y="4279392"/>
            <a:ext cx="4773168" cy="914400"/>
          </a:xfrm>
          <a:prstGeom prst="rect">
            <a:avLst/>
          </a:prstGeom>
          <a:noFill/>
          <a:ln/>
        </p:spPr>
        <p:txBody>
          <a:bodyPr wrap="square" lIns="508" tIns="508" rIns="508" bIns="508" rtlCol="0" anchor="ctr">
            <a:normAutofit/>
          </a:bodyPr>
          <a:lstStyle/>
          <a:p>
            <a:pPr indent="0" marL="0">
              <a:buNone/>
            </a:pPr>
            <a:r>
              <a:rPr lang="en-US" sz="1300" dirty="0">
                <a:solidFill>
                  <a:srgbClr val="203128"/>
                </a:solidFill>
                <a:latin typeface="Aptos" pitchFamily="34" charset="0"/>
                <a:ea typeface="Aptos" pitchFamily="34" charset="-122"/>
                <a:cs typeface="Aptos" pitchFamily="34" charset="-120"/>
              </a:rPr>
              <a:t>One student improved significantly in math and later began helping classmates.</a:t>
            </a:r>
            <a:endParaRPr lang="en-US" sz="1300" dirty="0"/>
          </a:p>
        </p:txBody>
      </p:sp>
      <p:sp>
        <p:nvSpPr>
          <p:cNvPr id="20" name="Shape 18"/>
          <p:cNvSpPr/>
          <p:nvPr/>
        </p:nvSpPr>
        <p:spPr>
          <a:xfrm>
            <a:off x="6254496" y="3749040"/>
            <a:ext cx="5102352" cy="1572768"/>
          </a:xfrm>
          <a:prstGeom prst="roundRect">
            <a:avLst/>
          </a:prstGeom>
          <a:solidFill>
            <a:srgbClr val="FFFFFF"/>
          </a:solidFill>
          <a:ln w="12700">
            <a:solidFill>
              <a:srgbClr val="D2C5AE"/>
            </a:solidFill>
            <a:prstDash val="solid"/>
          </a:ln>
        </p:spPr>
      </p:sp>
      <p:sp>
        <p:nvSpPr>
          <p:cNvPr id="21" name="Shape 19"/>
          <p:cNvSpPr/>
          <p:nvPr/>
        </p:nvSpPr>
        <p:spPr>
          <a:xfrm>
            <a:off x="6382512" y="3858768"/>
            <a:ext cx="4846320" cy="310896"/>
          </a:xfrm>
          <a:prstGeom prst="roundRect">
            <a:avLst/>
          </a:prstGeom>
          <a:solidFill>
            <a:srgbClr val="173D24"/>
          </a:solidFill>
          <a:ln w="12700">
            <a:solidFill>
              <a:srgbClr val="173D24"/>
            </a:solidFill>
            <a:prstDash val="solid"/>
          </a:ln>
        </p:spPr>
      </p:sp>
      <p:sp>
        <p:nvSpPr>
          <p:cNvPr id="22" name="Text 20"/>
          <p:cNvSpPr/>
          <p:nvPr/>
        </p:nvSpPr>
        <p:spPr>
          <a:xfrm>
            <a:off x="6455664" y="3913632"/>
            <a:ext cx="4700016" cy="219456"/>
          </a:xfrm>
          <a:prstGeom prst="rect">
            <a:avLst/>
          </a:prstGeom>
          <a:noFill/>
          <a:ln/>
        </p:spPr>
        <p:txBody>
          <a:bodyPr wrap="square" lIns="0" tIns="0" rIns="0" bIns="0" rtlCol="0" anchor="ctr">
            <a:normAutofit/>
          </a:bodyPr>
          <a:lstStyle/>
          <a:p>
            <a:pPr algn="ctr" indent="0" marL="0">
              <a:buNone/>
            </a:pPr>
            <a:r>
              <a:rPr lang="en-US" sz="1050" b="1" dirty="0">
                <a:solidFill>
                  <a:srgbClr val="C89C3D"/>
                </a:solidFill>
                <a:latin typeface="Aptos" pitchFamily="34" charset="0"/>
                <a:ea typeface="Aptos" pitchFamily="34" charset="-122"/>
                <a:cs typeface="Aptos" pitchFamily="34" charset="-120"/>
              </a:rPr>
              <a:t>More composure in exams</a:t>
            </a:r>
            <a:endParaRPr lang="en-US" sz="1050" dirty="0"/>
          </a:p>
        </p:txBody>
      </p:sp>
      <p:sp>
        <p:nvSpPr>
          <p:cNvPr id="23" name="Text 21"/>
          <p:cNvSpPr/>
          <p:nvPr/>
        </p:nvSpPr>
        <p:spPr>
          <a:xfrm>
            <a:off x="6419088" y="4279392"/>
            <a:ext cx="4773168" cy="914400"/>
          </a:xfrm>
          <a:prstGeom prst="rect">
            <a:avLst/>
          </a:prstGeom>
          <a:noFill/>
          <a:ln/>
        </p:spPr>
        <p:txBody>
          <a:bodyPr wrap="square" lIns="508" tIns="508" rIns="508" bIns="508" rtlCol="0" anchor="ctr">
            <a:normAutofit/>
          </a:bodyPr>
          <a:lstStyle/>
          <a:p>
            <a:pPr indent="0" marL="0">
              <a:buNone/>
            </a:pPr>
            <a:r>
              <a:rPr lang="en-US" sz="1300" dirty="0">
                <a:solidFill>
                  <a:srgbClr val="203128"/>
                </a:solidFill>
                <a:latin typeface="Aptos" pitchFamily="34" charset="0"/>
                <a:ea typeface="Aptos" pitchFamily="34" charset="-122"/>
                <a:cs typeface="Aptos" pitchFamily="34" charset="-120"/>
              </a:rPr>
              <a:t>Students began using the technique during exams to regulate themselves and perform with greater calm.</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0E6"/>
        </a:solidFill>
      </p:bgPr>
    </p:bg>
    <p:spTree>
      <p:nvGrpSpPr>
        <p:cNvPr id="1" name=""/>
        <p:cNvGrpSpPr/>
        <p:nvPr/>
      </p:nvGrpSpPr>
      <p:grpSpPr>
        <a:xfrm>
          <a:off x="0" y="0"/>
          <a:ext cx="0" cy="0"/>
          <a:chOff x="0" y="0"/>
          <a:chExt cx="0" cy="0"/>
        </a:xfrm>
      </p:grpSpPr>
      <p:sp>
        <p:nvSpPr>
          <p:cNvPr id="2" name="Shape 0"/>
          <p:cNvSpPr/>
          <p:nvPr/>
        </p:nvSpPr>
        <p:spPr>
          <a:xfrm>
            <a:off x="0" y="0"/>
            <a:ext cx="12191695" cy="713232"/>
          </a:xfrm>
          <a:prstGeom prst="rect">
            <a:avLst/>
          </a:prstGeom>
          <a:solidFill>
            <a:srgbClr val="173D24"/>
          </a:solidFill>
          <a:ln w="12700">
            <a:solidFill>
              <a:srgbClr val="173D24"/>
            </a:solidFill>
            <a:prstDash val="solid"/>
          </a:ln>
        </p:spPr>
      </p:sp>
      <p:sp>
        <p:nvSpPr>
          <p:cNvPr id="3" name="Text 1"/>
          <p:cNvSpPr/>
          <p:nvPr/>
        </p:nvSpPr>
        <p:spPr>
          <a:xfrm>
            <a:off x="475488" y="146304"/>
            <a:ext cx="1828800" cy="146304"/>
          </a:xfrm>
          <a:prstGeom prst="rect">
            <a:avLst/>
          </a:prstGeom>
          <a:noFill/>
          <a:ln/>
        </p:spPr>
        <p:txBody>
          <a:bodyPr wrap="square" lIns="0" tIns="0" rIns="0" bIns="0" rtlCol="0" anchor="ctr">
            <a:normAutofit/>
          </a:bodyPr>
          <a:lstStyle/>
          <a:p>
            <a:pPr indent="0" marL="0">
              <a:buNone/>
            </a:pPr>
            <a:r>
              <a:rPr lang="en-US" sz="900" b="1" dirty="0">
                <a:solidFill>
                  <a:srgbClr val="C89C3D"/>
                </a:solidFill>
                <a:latin typeface="Aptos" pitchFamily="34" charset="0"/>
                <a:ea typeface="Aptos" pitchFamily="34" charset="-122"/>
                <a:cs typeface="Aptos" pitchFamily="34" charset="-120"/>
              </a:rPr>
              <a:t>SLIDE 16 OF 17</a:t>
            </a:r>
            <a:endParaRPr lang="en-US" sz="900" dirty="0"/>
          </a:p>
        </p:txBody>
      </p:sp>
      <p:sp>
        <p:nvSpPr>
          <p:cNvPr id="4" name="Text 2"/>
          <p:cNvSpPr/>
          <p:nvPr/>
        </p:nvSpPr>
        <p:spPr>
          <a:xfrm>
            <a:off x="475488" y="283464"/>
            <a:ext cx="8138160" cy="237744"/>
          </a:xfrm>
          <a:prstGeom prst="rect">
            <a:avLst/>
          </a:prstGeom>
          <a:noFill/>
          <a:ln/>
        </p:spPr>
        <p:txBody>
          <a:bodyPr wrap="square" lIns="0" tIns="0" rIns="0" bIns="0" rtlCol="0" anchor="ctr">
            <a:normAutofit/>
          </a:bodyPr>
          <a:lstStyle/>
          <a:p>
            <a:pPr indent="0" marL="0">
              <a:buNone/>
            </a:pPr>
            <a:r>
              <a:rPr lang="en-US" sz="2200" b="1" dirty="0">
                <a:solidFill>
                  <a:srgbClr val="FFFFFF"/>
                </a:solidFill>
                <a:latin typeface="Georgia" pitchFamily="34" charset="0"/>
                <a:ea typeface="Georgia" pitchFamily="34" charset="-122"/>
                <a:cs typeface="Georgia" pitchFamily="34" charset="-120"/>
              </a:rPr>
              <a:t>Why parents respond to this work</a:t>
            </a:r>
            <a:endParaRPr lang="en-US" sz="2200" dirty="0"/>
          </a:p>
        </p:txBody>
      </p:sp>
      <p:sp>
        <p:nvSpPr>
          <p:cNvPr id="5" name="Text 3"/>
          <p:cNvSpPr/>
          <p:nvPr/>
        </p:nvSpPr>
        <p:spPr>
          <a:xfrm>
            <a:off x="9006840" y="173736"/>
            <a:ext cx="2697480" cy="146304"/>
          </a:xfrm>
          <a:prstGeom prst="rect">
            <a:avLst/>
          </a:prstGeom>
          <a:noFill/>
          <a:ln/>
        </p:spPr>
        <p:txBody>
          <a:bodyPr wrap="square" lIns="0" tIns="0" rIns="0" bIns="0" rtlCol="0" anchor="ctr">
            <a:normAutofit/>
          </a:bodyPr>
          <a:lstStyle/>
          <a:p>
            <a:pPr algn="r" indent="0" marL="0">
              <a:buNone/>
            </a:pPr>
            <a:r>
              <a:rPr lang="en-US" sz="900" b="1" dirty="0">
                <a:solidFill>
                  <a:srgbClr val="F6F0E6"/>
                </a:solidFill>
                <a:latin typeface="Aptos" pitchFamily="34" charset="0"/>
                <a:ea typeface="Aptos" pitchFamily="34" charset="-122"/>
                <a:cs typeface="Aptos" pitchFamily="34" charset="-120"/>
              </a:rPr>
              <a:t>FIT</a:t>
            </a:r>
            <a:endParaRPr lang="en-US" sz="900" dirty="0"/>
          </a:p>
        </p:txBody>
      </p:sp>
      <p:sp>
        <p:nvSpPr>
          <p:cNvPr id="6" name="Shape 4"/>
          <p:cNvSpPr/>
          <p:nvPr/>
        </p:nvSpPr>
        <p:spPr>
          <a:xfrm>
            <a:off x="475488" y="932688"/>
            <a:ext cx="64008" cy="694944"/>
          </a:xfrm>
          <a:prstGeom prst="rect">
            <a:avLst/>
          </a:prstGeom>
          <a:solidFill>
            <a:srgbClr val="C89C3D"/>
          </a:solidFill>
          <a:ln w="12700">
            <a:solidFill>
              <a:srgbClr val="C89C3D"/>
            </a:solidFill>
            <a:prstDash val="solid"/>
          </a:ln>
        </p:spPr>
      </p:sp>
      <p:sp>
        <p:nvSpPr>
          <p:cNvPr id="7" name="Text 5"/>
          <p:cNvSpPr/>
          <p:nvPr/>
        </p:nvSpPr>
        <p:spPr>
          <a:xfrm>
            <a:off x="658368" y="960120"/>
            <a:ext cx="11064240" cy="585216"/>
          </a:xfrm>
          <a:prstGeom prst="rect">
            <a:avLst/>
          </a:prstGeom>
          <a:noFill/>
          <a:ln/>
        </p:spPr>
        <p:txBody>
          <a:bodyPr wrap="square" lIns="0" tIns="0" rIns="0" bIns="0" rtlCol="0" anchor="ctr">
            <a:normAutofit/>
          </a:bodyPr>
          <a:lstStyle/>
          <a:p>
            <a:pPr indent="0" marL="0">
              <a:buNone/>
            </a:pPr>
            <a:r>
              <a:rPr lang="en-US" sz="2400" b="1" dirty="0">
                <a:solidFill>
                  <a:srgbClr val="173D24"/>
                </a:solidFill>
                <a:latin typeface="Georgia" pitchFamily="34" charset="0"/>
                <a:ea typeface="Georgia" pitchFamily="34" charset="-122"/>
                <a:cs typeface="Georgia" pitchFamily="34" charset="-120"/>
              </a:rPr>
              <a:t>This work makes sense to parents because it is practical, structured, and relevant to what they are already seeing.</a:t>
            </a:r>
            <a:endParaRPr lang="en-US" sz="2400" dirty="0"/>
          </a:p>
        </p:txBody>
      </p:sp>
      <p:sp>
        <p:nvSpPr>
          <p:cNvPr id="8" name="Shape 6"/>
          <p:cNvSpPr/>
          <p:nvPr/>
        </p:nvSpPr>
        <p:spPr>
          <a:xfrm>
            <a:off x="658368" y="2048256"/>
            <a:ext cx="1883664" cy="2871216"/>
          </a:xfrm>
          <a:prstGeom prst="roundRect">
            <a:avLst/>
          </a:prstGeom>
          <a:solidFill>
            <a:srgbClr val="FFFFFF"/>
          </a:solidFill>
          <a:ln w="12700">
            <a:solidFill>
              <a:srgbClr val="D2C5AE"/>
            </a:solidFill>
            <a:prstDash val="solid"/>
          </a:ln>
        </p:spPr>
      </p:sp>
      <p:sp>
        <p:nvSpPr>
          <p:cNvPr id="9" name="Shape 7"/>
          <p:cNvSpPr/>
          <p:nvPr/>
        </p:nvSpPr>
        <p:spPr>
          <a:xfrm>
            <a:off x="822960" y="2194560"/>
            <a:ext cx="1554480" cy="310896"/>
          </a:xfrm>
          <a:prstGeom prst="roundRect">
            <a:avLst/>
          </a:prstGeom>
          <a:solidFill>
            <a:srgbClr val="173D24"/>
          </a:solidFill>
          <a:ln w="12700">
            <a:solidFill>
              <a:srgbClr val="173D24"/>
            </a:solidFill>
            <a:prstDash val="solid"/>
          </a:ln>
        </p:spPr>
      </p:sp>
      <p:sp>
        <p:nvSpPr>
          <p:cNvPr id="10" name="Text 8"/>
          <p:cNvSpPr/>
          <p:nvPr/>
        </p:nvSpPr>
        <p:spPr>
          <a:xfrm>
            <a:off x="896112" y="2249424"/>
            <a:ext cx="1408176" cy="219456"/>
          </a:xfrm>
          <a:prstGeom prst="rect">
            <a:avLst/>
          </a:prstGeom>
          <a:noFill/>
          <a:ln/>
        </p:spPr>
        <p:txBody>
          <a:bodyPr wrap="square" lIns="0" tIns="0" rIns="0" bIns="0" rtlCol="0" anchor="ctr">
            <a:normAutofit/>
          </a:bodyPr>
          <a:lstStyle/>
          <a:p>
            <a:pPr algn="ctr" indent="0" marL="0">
              <a:buNone/>
            </a:pPr>
            <a:r>
              <a:rPr lang="en-US" sz="1050" b="1" dirty="0">
                <a:solidFill>
                  <a:srgbClr val="C89C3D"/>
                </a:solidFill>
                <a:latin typeface="Aptos" pitchFamily="34" charset="0"/>
                <a:ea typeface="Aptos" pitchFamily="34" charset="-122"/>
                <a:cs typeface="Aptos" pitchFamily="34" charset="-120"/>
              </a:rPr>
              <a:t>PRACTICAL</a:t>
            </a:r>
            <a:endParaRPr lang="en-US" sz="1050" dirty="0"/>
          </a:p>
        </p:txBody>
      </p:sp>
      <p:sp>
        <p:nvSpPr>
          <p:cNvPr id="11" name="Text 9"/>
          <p:cNvSpPr/>
          <p:nvPr/>
        </p:nvSpPr>
        <p:spPr>
          <a:xfrm>
            <a:off x="822960" y="2788920"/>
            <a:ext cx="1554480" cy="1298448"/>
          </a:xfrm>
          <a:prstGeom prst="rect">
            <a:avLst/>
          </a:prstGeom>
          <a:noFill/>
          <a:ln/>
        </p:spPr>
        <p:txBody>
          <a:bodyPr wrap="square" lIns="508" tIns="508" rIns="508" bIns="508" rtlCol="0" anchor="ctr">
            <a:normAutofit/>
          </a:bodyPr>
          <a:lstStyle/>
          <a:p>
            <a:pPr algn="ctr" indent="0" marL="0">
              <a:buNone/>
            </a:pPr>
            <a:r>
              <a:rPr lang="en-US" sz="1250" dirty="0">
                <a:solidFill>
                  <a:srgbClr val="203128"/>
                </a:solidFill>
                <a:latin typeface="Aptos" pitchFamily="34" charset="0"/>
                <a:ea typeface="Aptos" pitchFamily="34" charset="-122"/>
                <a:cs typeface="Aptos" pitchFamily="34" charset="-120"/>
              </a:rPr>
              <a:t>Children leave with tools they can actually use.</a:t>
            </a:r>
            <a:endParaRPr lang="en-US" sz="1250" dirty="0"/>
          </a:p>
        </p:txBody>
      </p:sp>
      <p:sp>
        <p:nvSpPr>
          <p:cNvPr id="12" name="Shape 10"/>
          <p:cNvSpPr/>
          <p:nvPr/>
        </p:nvSpPr>
        <p:spPr>
          <a:xfrm>
            <a:off x="2898648" y="2048256"/>
            <a:ext cx="1883664" cy="2871216"/>
          </a:xfrm>
          <a:prstGeom prst="roundRect">
            <a:avLst/>
          </a:prstGeom>
          <a:solidFill>
            <a:srgbClr val="FBF8F3"/>
          </a:solidFill>
          <a:ln w="12700">
            <a:solidFill>
              <a:srgbClr val="D2C5AE"/>
            </a:solidFill>
            <a:prstDash val="solid"/>
          </a:ln>
        </p:spPr>
      </p:sp>
      <p:sp>
        <p:nvSpPr>
          <p:cNvPr id="13" name="Shape 11"/>
          <p:cNvSpPr/>
          <p:nvPr/>
        </p:nvSpPr>
        <p:spPr>
          <a:xfrm>
            <a:off x="3063240" y="2194560"/>
            <a:ext cx="1554480" cy="310896"/>
          </a:xfrm>
          <a:prstGeom prst="roundRect">
            <a:avLst/>
          </a:prstGeom>
          <a:solidFill>
            <a:srgbClr val="173D24"/>
          </a:solidFill>
          <a:ln w="12700">
            <a:solidFill>
              <a:srgbClr val="173D24"/>
            </a:solidFill>
            <a:prstDash val="solid"/>
          </a:ln>
        </p:spPr>
      </p:sp>
      <p:sp>
        <p:nvSpPr>
          <p:cNvPr id="14" name="Text 12"/>
          <p:cNvSpPr/>
          <p:nvPr/>
        </p:nvSpPr>
        <p:spPr>
          <a:xfrm>
            <a:off x="3136392" y="2249424"/>
            <a:ext cx="1408176" cy="219456"/>
          </a:xfrm>
          <a:prstGeom prst="rect">
            <a:avLst/>
          </a:prstGeom>
          <a:noFill/>
          <a:ln/>
        </p:spPr>
        <p:txBody>
          <a:bodyPr wrap="square" lIns="0" tIns="0" rIns="0" bIns="0" rtlCol="0" anchor="ctr">
            <a:normAutofit/>
          </a:bodyPr>
          <a:lstStyle/>
          <a:p>
            <a:pPr algn="ctr" indent="0" marL="0">
              <a:buNone/>
            </a:pPr>
            <a:r>
              <a:rPr lang="en-US" sz="1050" b="1" dirty="0">
                <a:solidFill>
                  <a:srgbClr val="C89C3D"/>
                </a:solidFill>
                <a:latin typeface="Aptos" pitchFamily="34" charset="0"/>
                <a:ea typeface="Aptos" pitchFamily="34" charset="-122"/>
                <a:cs typeface="Aptos" pitchFamily="34" charset="-120"/>
              </a:rPr>
              <a:t>STRUCTURED</a:t>
            </a:r>
            <a:endParaRPr lang="en-US" sz="1050" dirty="0"/>
          </a:p>
        </p:txBody>
      </p:sp>
      <p:sp>
        <p:nvSpPr>
          <p:cNvPr id="15" name="Text 13"/>
          <p:cNvSpPr/>
          <p:nvPr/>
        </p:nvSpPr>
        <p:spPr>
          <a:xfrm>
            <a:off x="3063240" y="2788920"/>
            <a:ext cx="1554480" cy="1298448"/>
          </a:xfrm>
          <a:prstGeom prst="rect">
            <a:avLst/>
          </a:prstGeom>
          <a:noFill/>
          <a:ln/>
        </p:spPr>
        <p:txBody>
          <a:bodyPr wrap="square" lIns="508" tIns="508" rIns="508" bIns="508" rtlCol="0" anchor="ctr">
            <a:normAutofit/>
          </a:bodyPr>
          <a:lstStyle/>
          <a:p>
            <a:pPr algn="ctr" indent="0" marL="0">
              <a:buNone/>
            </a:pPr>
            <a:r>
              <a:rPr lang="en-US" sz="1250" dirty="0">
                <a:solidFill>
                  <a:srgbClr val="203128"/>
                </a:solidFill>
                <a:latin typeface="Aptos" pitchFamily="34" charset="0"/>
                <a:ea typeface="Aptos" pitchFamily="34" charset="-122"/>
                <a:cs typeface="Aptos" pitchFamily="34" charset="-120"/>
              </a:rPr>
              <a:t>Parents can see a method, not just a message.</a:t>
            </a:r>
            <a:endParaRPr lang="en-US" sz="1250" dirty="0"/>
          </a:p>
        </p:txBody>
      </p:sp>
      <p:sp>
        <p:nvSpPr>
          <p:cNvPr id="16" name="Shape 14"/>
          <p:cNvSpPr/>
          <p:nvPr/>
        </p:nvSpPr>
        <p:spPr>
          <a:xfrm>
            <a:off x="5138928" y="2048256"/>
            <a:ext cx="1883664" cy="2871216"/>
          </a:xfrm>
          <a:prstGeom prst="roundRect">
            <a:avLst/>
          </a:prstGeom>
          <a:solidFill>
            <a:srgbClr val="FFFFFF"/>
          </a:solidFill>
          <a:ln w="12700">
            <a:solidFill>
              <a:srgbClr val="D2C5AE"/>
            </a:solidFill>
            <a:prstDash val="solid"/>
          </a:ln>
        </p:spPr>
      </p:sp>
      <p:sp>
        <p:nvSpPr>
          <p:cNvPr id="17" name="Shape 15"/>
          <p:cNvSpPr/>
          <p:nvPr/>
        </p:nvSpPr>
        <p:spPr>
          <a:xfrm>
            <a:off x="5303520" y="2194560"/>
            <a:ext cx="1554480" cy="310896"/>
          </a:xfrm>
          <a:prstGeom prst="roundRect">
            <a:avLst/>
          </a:prstGeom>
          <a:solidFill>
            <a:srgbClr val="173D24"/>
          </a:solidFill>
          <a:ln w="12700">
            <a:solidFill>
              <a:srgbClr val="173D24"/>
            </a:solidFill>
            <a:prstDash val="solid"/>
          </a:ln>
        </p:spPr>
      </p:sp>
      <p:sp>
        <p:nvSpPr>
          <p:cNvPr id="18" name="Text 16"/>
          <p:cNvSpPr/>
          <p:nvPr/>
        </p:nvSpPr>
        <p:spPr>
          <a:xfrm>
            <a:off x="5376672" y="2249424"/>
            <a:ext cx="1408176" cy="219456"/>
          </a:xfrm>
          <a:prstGeom prst="rect">
            <a:avLst/>
          </a:prstGeom>
          <a:noFill/>
          <a:ln/>
        </p:spPr>
        <p:txBody>
          <a:bodyPr wrap="square" lIns="0" tIns="0" rIns="0" bIns="0" rtlCol="0" anchor="ctr">
            <a:normAutofit/>
          </a:bodyPr>
          <a:lstStyle/>
          <a:p>
            <a:pPr algn="ctr" indent="0" marL="0">
              <a:buNone/>
            </a:pPr>
            <a:r>
              <a:rPr lang="en-US" sz="1050" b="1" dirty="0">
                <a:solidFill>
                  <a:srgbClr val="C89C3D"/>
                </a:solidFill>
                <a:latin typeface="Aptos" pitchFamily="34" charset="0"/>
                <a:ea typeface="Aptos" pitchFamily="34" charset="-122"/>
                <a:cs typeface="Aptos" pitchFamily="34" charset="-120"/>
              </a:rPr>
              <a:t>OBSERVABLE</a:t>
            </a:r>
            <a:endParaRPr lang="en-US" sz="1050" dirty="0"/>
          </a:p>
        </p:txBody>
      </p:sp>
      <p:sp>
        <p:nvSpPr>
          <p:cNvPr id="19" name="Text 17"/>
          <p:cNvSpPr/>
          <p:nvPr/>
        </p:nvSpPr>
        <p:spPr>
          <a:xfrm>
            <a:off x="5303520" y="2788920"/>
            <a:ext cx="1554480" cy="1298448"/>
          </a:xfrm>
          <a:prstGeom prst="rect">
            <a:avLst/>
          </a:prstGeom>
          <a:noFill/>
          <a:ln/>
        </p:spPr>
        <p:txBody>
          <a:bodyPr wrap="square" lIns="508" tIns="508" rIns="508" bIns="508" rtlCol="0" anchor="ctr">
            <a:normAutofit/>
          </a:bodyPr>
          <a:lstStyle/>
          <a:p>
            <a:pPr algn="ctr" indent="0" marL="0">
              <a:buNone/>
            </a:pPr>
            <a:r>
              <a:rPr lang="en-US" sz="1250" dirty="0">
                <a:solidFill>
                  <a:srgbClr val="203128"/>
                </a:solidFill>
                <a:latin typeface="Aptos" pitchFamily="34" charset="0"/>
                <a:ea typeface="Aptos" pitchFamily="34" charset="-122"/>
                <a:cs typeface="Aptos" pitchFamily="34" charset="-120"/>
              </a:rPr>
              <a:t>The outcomes show up in daily behavior and stress response.</a:t>
            </a:r>
            <a:endParaRPr lang="en-US" sz="1250" dirty="0"/>
          </a:p>
        </p:txBody>
      </p:sp>
      <p:sp>
        <p:nvSpPr>
          <p:cNvPr id="20" name="Shape 18"/>
          <p:cNvSpPr/>
          <p:nvPr/>
        </p:nvSpPr>
        <p:spPr>
          <a:xfrm>
            <a:off x="7379208" y="2048256"/>
            <a:ext cx="1883664" cy="2871216"/>
          </a:xfrm>
          <a:prstGeom prst="roundRect">
            <a:avLst/>
          </a:prstGeom>
          <a:solidFill>
            <a:srgbClr val="FBF8F3"/>
          </a:solidFill>
          <a:ln w="12700">
            <a:solidFill>
              <a:srgbClr val="D2C5AE"/>
            </a:solidFill>
            <a:prstDash val="solid"/>
          </a:ln>
        </p:spPr>
      </p:sp>
      <p:sp>
        <p:nvSpPr>
          <p:cNvPr id="21" name="Shape 19"/>
          <p:cNvSpPr/>
          <p:nvPr/>
        </p:nvSpPr>
        <p:spPr>
          <a:xfrm>
            <a:off x="7543800" y="2194560"/>
            <a:ext cx="1554480" cy="310896"/>
          </a:xfrm>
          <a:prstGeom prst="roundRect">
            <a:avLst/>
          </a:prstGeom>
          <a:solidFill>
            <a:srgbClr val="173D24"/>
          </a:solidFill>
          <a:ln w="12700">
            <a:solidFill>
              <a:srgbClr val="173D24"/>
            </a:solidFill>
            <a:prstDash val="solid"/>
          </a:ln>
        </p:spPr>
      </p:sp>
      <p:sp>
        <p:nvSpPr>
          <p:cNvPr id="22" name="Text 20"/>
          <p:cNvSpPr/>
          <p:nvPr/>
        </p:nvSpPr>
        <p:spPr>
          <a:xfrm>
            <a:off x="7616952" y="2249424"/>
            <a:ext cx="1408176" cy="219456"/>
          </a:xfrm>
          <a:prstGeom prst="rect">
            <a:avLst/>
          </a:prstGeom>
          <a:noFill/>
          <a:ln/>
        </p:spPr>
        <p:txBody>
          <a:bodyPr wrap="square" lIns="0" tIns="0" rIns="0" bIns="0" rtlCol="0" anchor="ctr">
            <a:normAutofit/>
          </a:bodyPr>
          <a:lstStyle/>
          <a:p>
            <a:pPr algn="ctr" indent="0" marL="0">
              <a:buNone/>
            </a:pPr>
            <a:r>
              <a:rPr lang="en-US" sz="1050" b="1" dirty="0">
                <a:solidFill>
                  <a:srgbClr val="C89C3D"/>
                </a:solidFill>
                <a:latin typeface="Aptos" pitchFamily="34" charset="0"/>
                <a:ea typeface="Aptos" pitchFamily="34" charset="-122"/>
                <a:cs typeface="Aptos" pitchFamily="34" charset="-120"/>
              </a:rPr>
              <a:t>SUPPORTIVE OF ACADEMICS</a:t>
            </a:r>
            <a:endParaRPr lang="en-US" sz="1050" dirty="0"/>
          </a:p>
        </p:txBody>
      </p:sp>
      <p:sp>
        <p:nvSpPr>
          <p:cNvPr id="23" name="Text 21"/>
          <p:cNvSpPr/>
          <p:nvPr/>
        </p:nvSpPr>
        <p:spPr>
          <a:xfrm>
            <a:off x="7543800" y="2788920"/>
            <a:ext cx="1554480" cy="1298448"/>
          </a:xfrm>
          <a:prstGeom prst="rect">
            <a:avLst/>
          </a:prstGeom>
          <a:noFill/>
          <a:ln/>
        </p:spPr>
        <p:txBody>
          <a:bodyPr wrap="square" lIns="508" tIns="508" rIns="508" bIns="508" rtlCol="0" anchor="ctr">
            <a:normAutofit/>
          </a:bodyPr>
          <a:lstStyle/>
          <a:p>
            <a:pPr algn="ctr" indent="0" marL="0">
              <a:buNone/>
            </a:pPr>
            <a:r>
              <a:rPr lang="en-US" sz="1250" dirty="0">
                <a:solidFill>
                  <a:srgbClr val="203128"/>
                </a:solidFill>
                <a:latin typeface="Aptos" pitchFamily="34" charset="0"/>
                <a:ea typeface="Aptos" pitchFamily="34" charset="-122"/>
                <a:cs typeface="Aptos" pitchFamily="34" charset="-120"/>
              </a:rPr>
              <a:t>This strengthens school performance rather than competing with it.</a:t>
            </a:r>
            <a:endParaRPr lang="en-US" sz="1250" dirty="0"/>
          </a:p>
        </p:txBody>
      </p:sp>
      <p:sp>
        <p:nvSpPr>
          <p:cNvPr id="24" name="Shape 22"/>
          <p:cNvSpPr/>
          <p:nvPr/>
        </p:nvSpPr>
        <p:spPr>
          <a:xfrm>
            <a:off x="9619488" y="2048256"/>
            <a:ext cx="1883664" cy="2871216"/>
          </a:xfrm>
          <a:prstGeom prst="roundRect">
            <a:avLst/>
          </a:prstGeom>
          <a:solidFill>
            <a:srgbClr val="FFFFFF"/>
          </a:solidFill>
          <a:ln w="12700">
            <a:solidFill>
              <a:srgbClr val="D2C5AE"/>
            </a:solidFill>
            <a:prstDash val="solid"/>
          </a:ln>
        </p:spPr>
      </p:sp>
      <p:sp>
        <p:nvSpPr>
          <p:cNvPr id="25" name="Shape 23"/>
          <p:cNvSpPr/>
          <p:nvPr/>
        </p:nvSpPr>
        <p:spPr>
          <a:xfrm>
            <a:off x="9784080" y="2194560"/>
            <a:ext cx="1554480" cy="310896"/>
          </a:xfrm>
          <a:prstGeom prst="roundRect">
            <a:avLst/>
          </a:prstGeom>
          <a:solidFill>
            <a:srgbClr val="173D24"/>
          </a:solidFill>
          <a:ln w="12700">
            <a:solidFill>
              <a:srgbClr val="173D24"/>
            </a:solidFill>
            <a:prstDash val="solid"/>
          </a:ln>
        </p:spPr>
      </p:sp>
      <p:sp>
        <p:nvSpPr>
          <p:cNvPr id="26" name="Text 24"/>
          <p:cNvSpPr/>
          <p:nvPr/>
        </p:nvSpPr>
        <p:spPr>
          <a:xfrm>
            <a:off x="9857232" y="2249424"/>
            <a:ext cx="1408176" cy="219456"/>
          </a:xfrm>
          <a:prstGeom prst="rect">
            <a:avLst/>
          </a:prstGeom>
          <a:noFill/>
          <a:ln/>
        </p:spPr>
        <p:txBody>
          <a:bodyPr wrap="square" lIns="0" tIns="0" rIns="0" bIns="0" rtlCol="0" anchor="ctr">
            <a:normAutofit/>
          </a:bodyPr>
          <a:lstStyle/>
          <a:p>
            <a:pPr algn="ctr" indent="0" marL="0">
              <a:buNone/>
            </a:pPr>
            <a:r>
              <a:rPr lang="en-US" sz="1050" b="1" dirty="0">
                <a:solidFill>
                  <a:srgbClr val="C89C3D"/>
                </a:solidFill>
                <a:latin typeface="Aptos" pitchFamily="34" charset="0"/>
                <a:ea typeface="Aptos" pitchFamily="34" charset="-122"/>
                <a:cs typeface="Aptos" pitchFamily="34" charset="-120"/>
              </a:rPr>
              <a:t>RELEVANT</a:t>
            </a:r>
            <a:endParaRPr lang="en-US" sz="1050" dirty="0"/>
          </a:p>
        </p:txBody>
      </p:sp>
      <p:sp>
        <p:nvSpPr>
          <p:cNvPr id="27" name="Text 25"/>
          <p:cNvSpPr/>
          <p:nvPr/>
        </p:nvSpPr>
        <p:spPr>
          <a:xfrm>
            <a:off x="9784080" y="2788920"/>
            <a:ext cx="1554480" cy="1298448"/>
          </a:xfrm>
          <a:prstGeom prst="rect">
            <a:avLst/>
          </a:prstGeom>
          <a:noFill/>
          <a:ln/>
        </p:spPr>
        <p:txBody>
          <a:bodyPr wrap="square" lIns="508" tIns="508" rIns="508" bIns="508" rtlCol="0" anchor="ctr">
            <a:normAutofit/>
          </a:bodyPr>
          <a:lstStyle/>
          <a:p>
            <a:pPr algn="ctr" indent="0" marL="0">
              <a:buNone/>
            </a:pPr>
            <a:r>
              <a:rPr lang="en-US" sz="1250" dirty="0">
                <a:solidFill>
                  <a:srgbClr val="203128"/>
                </a:solidFill>
                <a:latin typeface="Aptos" pitchFamily="34" charset="0"/>
                <a:ea typeface="Aptos" pitchFamily="34" charset="-122"/>
                <a:cs typeface="Aptos" pitchFamily="34" charset="-120"/>
              </a:rPr>
              <a:t>It addresses the pain points many families are already seeing.</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73D24"/>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73D24"/>
          </a:solidFill>
          <a:ln w="12700">
            <a:solidFill>
              <a:srgbClr val="173D24"/>
            </a:solidFill>
            <a:prstDash val="solid"/>
          </a:ln>
        </p:spPr>
      </p:sp>
      <p:sp>
        <p:nvSpPr>
          <p:cNvPr id="3" name="Text 1"/>
          <p:cNvSpPr/>
          <p:nvPr/>
        </p:nvSpPr>
        <p:spPr>
          <a:xfrm>
            <a:off x="749808" y="804672"/>
            <a:ext cx="1828800" cy="182880"/>
          </a:xfrm>
          <a:prstGeom prst="rect">
            <a:avLst/>
          </a:prstGeom>
          <a:noFill/>
          <a:ln/>
        </p:spPr>
        <p:txBody>
          <a:bodyPr wrap="square" lIns="0" tIns="0" rIns="0" bIns="0" rtlCol="0" anchor="ctr">
            <a:normAutofit/>
          </a:bodyPr>
          <a:lstStyle/>
          <a:p>
            <a:pPr indent="0" marL="0">
              <a:buNone/>
            </a:pPr>
            <a:r>
              <a:rPr lang="en-US" sz="1100" b="1" dirty="0">
                <a:solidFill>
                  <a:srgbClr val="C89C3D"/>
                </a:solidFill>
                <a:latin typeface="Aptos" pitchFamily="34" charset="0"/>
                <a:ea typeface="Aptos" pitchFamily="34" charset="-122"/>
                <a:cs typeface="Aptos" pitchFamily="34" charset="-120"/>
              </a:rPr>
              <a:t>NEXT STEP</a:t>
            </a:r>
            <a:endParaRPr lang="en-US" sz="1100" dirty="0"/>
          </a:p>
        </p:txBody>
      </p:sp>
      <p:sp>
        <p:nvSpPr>
          <p:cNvPr id="4" name="Text 2"/>
          <p:cNvSpPr/>
          <p:nvPr/>
        </p:nvSpPr>
        <p:spPr>
          <a:xfrm>
            <a:off x="749808" y="1060704"/>
            <a:ext cx="5486400" cy="548640"/>
          </a:xfrm>
          <a:prstGeom prst="rect">
            <a:avLst/>
          </a:prstGeom>
          <a:noFill/>
          <a:ln/>
        </p:spPr>
        <p:txBody>
          <a:bodyPr wrap="square" lIns="0" tIns="0" rIns="0" bIns="0" rtlCol="0" anchor="ctr">
            <a:normAutofit/>
          </a:bodyPr>
          <a:lstStyle/>
          <a:p>
            <a:pPr indent="0" marL="0">
              <a:buNone/>
            </a:pPr>
            <a:r>
              <a:rPr lang="en-US" sz="2600" b="1" dirty="0">
                <a:solidFill>
                  <a:srgbClr val="FFFFFF"/>
                </a:solidFill>
                <a:latin typeface="Georgia" pitchFamily="34" charset="0"/>
                <a:ea typeface="Georgia" pitchFamily="34" charset="-122"/>
                <a:cs typeface="Georgia" pitchFamily="34" charset="-120"/>
              </a:rPr>
              <a:t>A thoughtful next step for families who want to begin</a:t>
            </a:r>
            <a:endParaRPr lang="en-US" sz="2600" dirty="0"/>
          </a:p>
        </p:txBody>
      </p:sp>
      <p:sp>
        <p:nvSpPr>
          <p:cNvPr id="5" name="Shape 3"/>
          <p:cNvSpPr/>
          <p:nvPr/>
        </p:nvSpPr>
        <p:spPr>
          <a:xfrm>
            <a:off x="749808" y="1828800"/>
            <a:ext cx="5486400" cy="3474720"/>
          </a:xfrm>
          <a:prstGeom prst="roundRect">
            <a:avLst/>
          </a:prstGeom>
          <a:solidFill>
            <a:srgbClr val="234B30"/>
          </a:solidFill>
          <a:ln w="12700">
            <a:solidFill>
              <a:srgbClr val="2D5A3B"/>
            </a:solidFill>
            <a:prstDash val="solid"/>
          </a:ln>
        </p:spPr>
      </p:sp>
      <p:sp>
        <p:nvSpPr>
          <p:cNvPr id="6" name="Text 4"/>
          <p:cNvSpPr/>
          <p:nvPr/>
        </p:nvSpPr>
        <p:spPr>
          <a:xfrm>
            <a:off x="987552" y="2212848"/>
            <a:ext cx="5010912" cy="1517904"/>
          </a:xfrm>
          <a:prstGeom prst="rect">
            <a:avLst/>
          </a:prstGeom>
          <a:noFill/>
          <a:ln/>
        </p:spPr>
        <p:txBody>
          <a:bodyPr wrap="square" lIns="508" tIns="508" rIns="508" bIns="508" rtlCol="0" anchor="ctr">
            <a:normAutofit/>
          </a:bodyPr>
          <a:lstStyle/>
          <a:p>
            <a:pPr indent="0" marL="0">
              <a:buNone/>
            </a:pPr>
            <a:r>
              <a:rPr lang="en-US" sz="1600" dirty="0">
                <a:solidFill>
                  <a:srgbClr val="FFFFFF"/>
                </a:solidFill>
                <a:latin typeface="Aptos" pitchFamily="34" charset="0"/>
                <a:ea typeface="Aptos" pitchFamily="34" charset="-122"/>
                <a:cs typeface="Aptos" pitchFamily="34" charset="-120"/>
              </a:rPr>
              <a:t>• Join the priority interest list</a:t>
            </a:r>
            <a:endParaRPr lang="en-US" sz="1600" dirty="0"/>
          </a:p>
          <a:p>
            <a:pPr indent="0" marL="0">
              <a:buNone/>
            </a:pPr>
            <a:r>
              <a:rPr lang="en-US" sz="1600" dirty="0">
                <a:solidFill>
                  <a:srgbClr val="FFFFFF"/>
                </a:solidFill>
                <a:latin typeface="Aptos" pitchFamily="34" charset="0"/>
                <a:ea typeface="Aptos" pitchFamily="34" charset="-122"/>
                <a:cs typeface="Aptos" pitchFamily="34" charset="-120"/>
              </a:rPr>
              <a:t>• Choose the 5-day or 6-week path that fits your family</a:t>
            </a:r>
            <a:endParaRPr lang="en-US" sz="1600" dirty="0"/>
          </a:p>
          <a:p>
            <a:pPr indent="0" marL="0">
              <a:buNone/>
            </a:pPr>
            <a:r>
              <a:rPr lang="en-US" sz="1600" dirty="0">
                <a:solidFill>
                  <a:srgbClr val="FFFFFF"/>
                </a:solidFill>
                <a:latin typeface="Aptos" pitchFamily="34" charset="0"/>
                <a:ea typeface="Aptos" pitchFamily="34" charset="-122"/>
                <a:cs typeface="Aptos" pitchFamily="34" charset="-120"/>
              </a:rPr>
              <a:t>• Bring the program to your school or community if enough families are interested</a:t>
            </a:r>
            <a:endParaRPr lang="en-US" sz="1600" dirty="0"/>
          </a:p>
        </p:txBody>
      </p:sp>
      <p:sp>
        <p:nvSpPr>
          <p:cNvPr id="7" name="Text 5"/>
          <p:cNvSpPr/>
          <p:nvPr/>
        </p:nvSpPr>
        <p:spPr>
          <a:xfrm>
            <a:off x="987552" y="4261104"/>
            <a:ext cx="731520" cy="164592"/>
          </a:xfrm>
          <a:prstGeom prst="rect">
            <a:avLst/>
          </a:prstGeom>
          <a:noFill/>
          <a:ln/>
        </p:spPr>
        <p:txBody>
          <a:bodyPr wrap="square" lIns="0" tIns="0" rIns="0" bIns="0" rtlCol="0" anchor="ctr">
            <a:normAutofit/>
          </a:bodyPr>
          <a:lstStyle/>
          <a:p>
            <a:pPr indent="0" marL="0">
              <a:buNone/>
            </a:pPr>
            <a:r>
              <a:rPr lang="en-US" sz="1100" b="1" dirty="0">
                <a:solidFill>
                  <a:srgbClr val="C89C3D"/>
                </a:solidFill>
                <a:latin typeface="Aptos" pitchFamily="34" charset="0"/>
                <a:ea typeface="Aptos" pitchFamily="34" charset="-122"/>
                <a:cs typeface="Aptos" pitchFamily="34" charset="-120"/>
              </a:rPr>
              <a:t>Website</a:t>
            </a:r>
            <a:endParaRPr lang="en-US" sz="1100" dirty="0"/>
          </a:p>
        </p:txBody>
      </p:sp>
      <p:sp>
        <p:nvSpPr>
          <p:cNvPr id="8" name="Text 6">
            <a:hlinkClick r:id="rId1" tooltip=""/>
          </p:cNvPr>
          <p:cNvSpPr/>
          <p:nvPr/>
        </p:nvSpPr>
        <p:spPr>
          <a:xfrm>
            <a:off x="987552" y="4498848"/>
            <a:ext cx="4892040" cy="182880"/>
          </a:xfrm>
          <a:prstGeom prst="rect">
            <a:avLst/>
          </a:prstGeom>
          <a:noFill/>
          <a:ln/>
        </p:spPr>
        <p:txBody>
          <a:bodyPr wrap="square" lIns="0" tIns="0" rIns="0" bIns="0" rtlCol="0" anchor="ctr">
            <a:normAutofit/>
          </a:bodyPr>
          <a:lstStyle/>
          <a:p>
            <a:pPr indent="0" marL="0">
              <a:buNone/>
            </a:pPr>
            <a:r>
              <a:rPr lang="en-US" sz="1150" u="sng" dirty="0">
                <a:solidFill>
                  <a:srgbClr val="F6F0E6"/>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https://vjra17.github.io/thinkroot-site/</a:t>
            </a:r>
            <a:endParaRPr lang="en-US" sz="1150" dirty="0"/>
          </a:p>
        </p:txBody>
      </p:sp>
      <p:sp>
        <p:nvSpPr>
          <p:cNvPr id="9" name="Shape 7"/>
          <p:cNvSpPr/>
          <p:nvPr/>
        </p:nvSpPr>
        <p:spPr>
          <a:xfrm>
            <a:off x="7726680" y="1261872"/>
            <a:ext cx="3246120" cy="4480560"/>
          </a:xfrm>
          <a:prstGeom prst="roundRect">
            <a:avLst/>
          </a:prstGeom>
          <a:solidFill>
            <a:srgbClr val="EFE6D8"/>
          </a:solidFill>
          <a:ln w="12700">
            <a:solidFill>
              <a:srgbClr val="C89C3D"/>
            </a:solidFill>
            <a:prstDash val="solid"/>
          </a:ln>
        </p:spPr>
      </p:sp>
      <p:pic>
        <p:nvPicPr>
          <p:cNvPr id="10" name="Image 0" descr="/Users/tina/Documents/code/thinkroot-site/tina.jpeg">    </p:cNvPr>
          <p:cNvPicPr>
            <a:picLocks noChangeAspect="1"/>
          </p:cNvPicPr>
          <p:nvPr/>
        </p:nvPicPr>
        <p:blipFill>
          <a:blip r:embed="rId2"/>
          <a:srcRect l="0" r="0" t="0" b="0"/>
          <a:stretch/>
        </p:blipFill>
        <p:spPr>
          <a:xfrm>
            <a:off x="7799832" y="1335024"/>
            <a:ext cx="3099816" cy="4334256"/>
          </a:xfrm>
          <a:prstGeom prst="rect">
            <a:avLst/>
          </a:prstGeom>
        </p:spPr>
      </p:pic>
      <p:sp>
        <p:nvSpPr>
          <p:cNvPr id="11" name="Text 8"/>
          <p:cNvSpPr/>
          <p:nvPr/>
        </p:nvSpPr>
        <p:spPr>
          <a:xfrm>
            <a:off x="7790688" y="5888736"/>
            <a:ext cx="3108960" cy="201168"/>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Georgia" pitchFamily="34" charset="0"/>
                <a:ea typeface="Georgia" pitchFamily="34" charset="-122"/>
                <a:cs typeface="Georgia" pitchFamily="34" charset="-120"/>
              </a:rPr>
              <a:t>Tina Puri</a:t>
            </a:r>
            <a:endParaRPr lang="en-US" sz="1700" dirty="0"/>
          </a:p>
        </p:txBody>
      </p:sp>
      <p:sp>
        <p:nvSpPr>
          <p:cNvPr id="12" name="Text 9"/>
          <p:cNvSpPr/>
          <p:nvPr/>
        </p:nvSpPr>
        <p:spPr>
          <a:xfrm>
            <a:off x="7772400" y="6126480"/>
            <a:ext cx="3145536" cy="384048"/>
          </a:xfrm>
          <a:prstGeom prst="rect">
            <a:avLst/>
          </a:prstGeom>
          <a:noFill/>
          <a:ln/>
        </p:spPr>
        <p:txBody>
          <a:bodyPr wrap="square" lIns="508" tIns="508" rIns="508" bIns="508" rtlCol="0" anchor="ctr">
            <a:normAutofit/>
          </a:bodyPr>
          <a:lstStyle/>
          <a:p>
            <a:pPr algn="ctr" indent="0" marL="0">
              <a:buNone/>
            </a:pPr>
            <a:r>
              <a:rPr lang="en-US" sz="1050" dirty="0">
                <a:solidFill>
                  <a:srgbClr val="F6F0E6"/>
                </a:solidFill>
                <a:latin typeface="Aptos" pitchFamily="34" charset="0"/>
                <a:ea typeface="Aptos" pitchFamily="34" charset="-122"/>
                <a:cs typeface="Aptos" pitchFamily="34" charset="-120"/>
              </a:rPr>
              <a:t>Founder, ThinkRoot Young Leaders</a:t>
            </a:r>
            <a:endParaRPr lang="en-US" sz="1050" dirty="0"/>
          </a:p>
          <a:p>
            <a:pPr algn="ctr" indent="0" marL="0">
              <a:buNone/>
            </a:pPr>
            <a:r>
              <a:rPr lang="en-US" sz="1050" dirty="0">
                <a:solidFill>
                  <a:srgbClr val="F6F0E6"/>
                </a:solidFill>
                <a:latin typeface="Aptos" pitchFamily="34" charset="0"/>
                <a:ea typeface="Aptos" pitchFamily="34" charset="-122"/>
                <a:cs typeface="Aptos" pitchFamily="34" charset="-120"/>
              </a:rPr>
              <a:t>Certified Wellness Educator and Senior Peer Counselor</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name="Slide 18">
    <p:bg>
      <p:bgPr>
        <a:solidFill>
          <a:srgbClr val="F6F0E6"/>
        </a:solidFill>
      </p:bgPr>
    </p:bg>
    <p:spTree>
      <p:nvGrpSpPr>
        <p:cNvPr id="1" name=""/>
        <p:cNvGrpSpPr/>
        <p:nvPr/>
      </p:nvGrpSpPr>
      <p:grpSpPr>
        <a:xfrm>
          <a:off x="0" y="0"/>
          <a:ext cx="0" cy="0"/>
          <a:chOff x="0" y="0"/>
          <a:chExt cx="0" cy="0"/>
        </a:xfrm>
      </p:grpSpPr>
      <p:sp>
        <p:nvSpPr>
          <p:cNvPr id="2" name="Shape 0"/>
          <p:cNvSpPr/>
          <p:nvPr/>
        </p:nvSpPr>
        <p:spPr>
          <a:xfrm>
            <a:off x="0" y="0"/>
            <a:ext cx="12191695" cy="713232"/>
          </a:xfrm>
          <a:prstGeom prst="rect">
            <a:avLst/>
          </a:prstGeom>
          <a:solidFill>
            <a:srgbClr val="173D24"/>
          </a:solidFill>
          <a:ln w="12700">
            <a:solidFill>
              <a:srgbClr val="173D24"/>
            </a:solidFill>
            <a:prstDash val="solid"/>
          </a:ln>
        </p:spPr>
      </p:sp>
      <p:sp>
        <p:nvSpPr>
          <p:cNvPr id="3" name="Text 1"/>
          <p:cNvSpPr/>
          <p:nvPr/>
        </p:nvSpPr>
        <p:spPr>
          <a:xfrm>
            <a:off x="475488" y="146304"/>
            <a:ext cx="1828800" cy="146304"/>
          </a:xfrm>
          <a:prstGeom prst="rect">
            <a:avLst/>
          </a:prstGeom>
          <a:noFill/>
          <a:ln/>
        </p:spPr>
        <p:txBody>
          <a:bodyPr wrap="square" lIns="0" tIns="0" rIns="0" bIns="0" rtlCol="0" anchor="ctr">
            <a:normAutofit/>
          </a:bodyPr>
          <a:lstStyle/>
          <a:p>
            <a:pPr indent="0" marL="0">
              <a:buNone/>
            </a:pPr>
            <a:r>
              <a:rPr lang="en-US" sz="900" b="1" dirty="0">
                <a:solidFill>
                  <a:srgbClr val="C89C3D"/>
                </a:solidFill>
                <a:latin typeface="Aptos" pitchFamily="34" charset="0"/>
                <a:ea typeface="Aptos" pitchFamily="34" charset="-122"/>
                <a:cs typeface="Aptos" pitchFamily="34" charset="-120"/>
              </a:rPr>
              <a:t>SLIDE 18 OF 17</a:t>
            </a:r>
            <a:endParaRPr lang="en-US" sz="900" dirty="0"/>
          </a:p>
        </p:txBody>
      </p:sp>
      <p:sp>
        <p:nvSpPr>
          <p:cNvPr id="4" name="Text 2"/>
          <p:cNvSpPr/>
          <p:nvPr/>
        </p:nvSpPr>
        <p:spPr>
          <a:xfrm>
            <a:off x="475488" y="283464"/>
            <a:ext cx="8138160" cy="237744"/>
          </a:xfrm>
          <a:prstGeom prst="rect">
            <a:avLst/>
          </a:prstGeom>
          <a:noFill/>
          <a:ln/>
        </p:spPr>
        <p:txBody>
          <a:bodyPr wrap="square" lIns="0" tIns="0" rIns="0" bIns="0" rtlCol="0" anchor="ctr">
            <a:normAutofit/>
          </a:bodyPr>
          <a:lstStyle/>
          <a:p>
            <a:pPr indent="0" marL="0">
              <a:buNone/>
            </a:pPr>
            <a:r>
              <a:rPr lang="en-US" sz="2200" b="1" dirty="0">
                <a:solidFill>
                  <a:srgbClr val="FFFFFF"/>
                </a:solidFill>
                <a:latin typeface="Georgia" pitchFamily="34" charset="0"/>
                <a:ea typeface="Georgia" pitchFamily="34" charset="-122"/>
                <a:cs typeface="Georgia" pitchFamily="34" charset="-120"/>
              </a:rPr>
              <a:t>Common parent questions</a:t>
            </a:r>
            <a:endParaRPr lang="en-US" sz="2200" dirty="0"/>
          </a:p>
        </p:txBody>
      </p:sp>
      <p:sp>
        <p:nvSpPr>
          <p:cNvPr id="5" name="Text 3"/>
          <p:cNvSpPr/>
          <p:nvPr/>
        </p:nvSpPr>
        <p:spPr>
          <a:xfrm>
            <a:off x="9006840" y="173736"/>
            <a:ext cx="2697480" cy="146304"/>
          </a:xfrm>
          <a:prstGeom prst="rect">
            <a:avLst/>
          </a:prstGeom>
          <a:noFill/>
          <a:ln/>
        </p:spPr>
        <p:txBody>
          <a:bodyPr wrap="square" lIns="0" tIns="0" rIns="0" bIns="0" rtlCol="0" anchor="ctr">
            <a:normAutofit/>
          </a:bodyPr>
          <a:lstStyle/>
          <a:p>
            <a:pPr algn="r" indent="0" marL="0">
              <a:buNone/>
            </a:pPr>
            <a:r>
              <a:rPr lang="en-US" sz="900" b="1" dirty="0">
                <a:solidFill>
                  <a:srgbClr val="F6F0E6"/>
                </a:solidFill>
                <a:latin typeface="Aptos" pitchFamily="34" charset="0"/>
                <a:ea typeface="Aptos" pitchFamily="34" charset="-122"/>
                <a:cs typeface="Aptos" pitchFamily="34" charset="-120"/>
              </a:rPr>
              <a:t>PRESENTER BACKUP</a:t>
            </a:r>
            <a:endParaRPr lang="en-US" sz="900" dirty="0"/>
          </a:p>
        </p:txBody>
      </p:sp>
      <p:sp>
        <p:nvSpPr>
          <p:cNvPr id="6" name="Shape 4"/>
          <p:cNvSpPr/>
          <p:nvPr/>
        </p:nvSpPr>
        <p:spPr>
          <a:xfrm>
            <a:off x="475488" y="932688"/>
            <a:ext cx="64008" cy="694944"/>
          </a:xfrm>
          <a:prstGeom prst="rect">
            <a:avLst/>
          </a:prstGeom>
          <a:solidFill>
            <a:srgbClr val="C89C3D"/>
          </a:solidFill>
          <a:ln w="12700">
            <a:solidFill>
              <a:srgbClr val="C89C3D"/>
            </a:solidFill>
            <a:prstDash val="solid"/>
          </a:ln>
        </p:spPr>
      </p:sp>
      <p:sp>
        <p:nvSpPr>
          <p:cNvPr id="7" name="Text 5"/>
          <p:cNvSpPr/>
          <p:nvPr/>
        </p:nvSpPr>
        <p:spPr>
          <a:xfrm>
            <a:off x="658368" y="960120"/>
            <a:ext cx="11064240" cy="585216"/>
          </a:xfrm>
          <a:prstGeom prst="rect">
            <a:avLst/>
          </a:prstGeom>
          <a:noFill/>
          <a:ln/>
        </p:spPr>
        <p:txBody>
          <a:bodyPr wrap="square" lIns="0" tIns="0" rIns="0" bIns="0" rtlCol="0" anchor="ctr">
            <a:normAutofit/>
          </a:bodyPr>
          <a:lstStyle/>
          <a:p>
            <a:pPr indent="0" marL="0">
              <a:buNone/>
            </a:pPr>
            <a:r>
              <a:rPr lang="en-US" sz="2400" b="1" dirty="0">
                <a:solidFill>
                  <a:srgbClr val="173D24"/>
                </a:solidFill>
                <a:latin typeface="Georgia" pitchFamily="34" charset="0"/>
                <a:ea typeface="Georgia" pitchFamily="34" charset="-122"/>
                <a:cs typeface="Georgia" pitchFamily="34" charset="-120"/>
              </a:rPr>
              <a:t>Use this only if you need a backup slide during Q&amp;A.</a:t>
            </a:r>
            <a:endParaRPr lang="en-US" sz="2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768096" y="1828800"/>
          <a:ext cx="10652760" cy="3474720"/>
        </p:xfrm>
        <a:graphic>
          <a:graphicData uri="http://schemas.openxmlformats.org/drawingml/2006/table">
            <a:tbl>
              <a:tblPr/>
              <a:tblGrid>
                <a:gridCol w="2834640"/>
                <a:gridCol w="7589520"/>
              </a:tblGrid>
              <a:tr h="384048">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Question</a:t>
                      </a:r>
                      <a:endParaRPr lang="en-US" sz="1200" dirty="0">
                        <a:latin typeface="Aptos" charset="0"/>
                        <a:ea typeface="Aptos" charset="0"/>
                        <a:cs typeface="Aptos" charset="0"/>
                      </a:endParaRPr>
                    </a:p>
                  </a:txBody>
                  <a:tcPr marL="73152" marR="73152" marT="73152" marB="73152"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173D24"/>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Short response anchor</a:t>
                      </a:r>
                      <a:endParaRPr lang="en-US" sz="1200" dirty="0">
                        <a:latin typeface="Aptos" charset="0"/>
                        <a:ea typeface="Aptos" charset="0"/>
                        <a:cs typeface="Aptos" charset="0"/>
                      </a:endParaRPr>
                    </a:p>
                  </a:txBody>
                  <a:tcPr marL="73152" marR="73152" marT="73152" marB="73152"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173D24"/>
                    </a:solidFill>
                  </a:tcPr>
                </a:tc>
              </a:tr>
              <a:tr h="512064">
                <a:tc>
                  <a:txBody>
                    <a:bodyPr/>
                    <a:lstStyle/>
                    <a:p>
                      <a:pPr indent="0" marL="0">
                        <a:buNone/>
                      </a:pPr>
                      <a:r>
                        <a:rPr lang="en-US" sz="1200" dirty="0">
                          <a:solidFill>
                            <a:srgbClr val="203128"/>
                          </a:solidFill>
                          <a:latin typeface="Aptos" pitchFamily="34" charset="0"/>
                          <a:ea typeface="Aptos" pitchFamily="34" charset="-122"/>
                          <a:cs typeface="Aptos" pitchFamily="34" charset="-120"/>
                        </a:rPr>
                        <a:t>Is this therapy?</a:t>
                      </a:r>
                      <a:endParaRPr lang="en-US" sz="1200" dirty="0">
                        <a:latin typeface="Aptos" charset="0"/>
                        <a:ea typeface="Aptos" charset="0"/>
                        <a:cs typeface="Aptos" charset="0"/>
                      </a:endParaRPr>
                    </a:p>
                  </a:txBody>
                  <a:tcPr marL="73152" marR="73152" marT="73152" marB="73152"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FFFFFF"/>
                    </a:solidFill>
                  </a:tcPr>
                </a:tc>
                <a:tc>
                  <a:txBody>
                    <a:bodyPr/>
                    <a:lstStyle/>
                    <a:p>
                      <a:pPr indent="0" marL="0">
                        <a:buNone/>
                      </a:pPr>
                      <a:r>
                        <a:rPr lang="en-US" sz="1200" dirty="0">
                          <a:solidFill>
                            <a:srgbClr val="203128"/>
                          </a:solidFill>
                          <a:latin typeface="Aptos" pitchFamily="34" charset="0"/>
                          <a:ea typeface="Aptos" pitchFamily="34" charset="-122"/>
                          <a:cs typeface="Aptos" pitchFamily="34" charset="-120"/>
                        </a:rPr>
                        <a:t>No. It is a structured educational program that teaches practical tools children can use in real life.</a:t>
                      </a:r>
                      <a:endParaRPr lang="en-US" sz="1200" dirty="0">
                        <a:latin typeface="Aptos" charset="0"/>
                        <a:ea typeface="Aptos" charset="0"/>
                        <a:cs typeface="Aptos" charset="0"/>
                      </a:endParaRPr>
                    </a:p>
                  </a:txBody>
                  <a:tcPr marL="73152" marR="73152" marT="73152" marB="73152"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FFFFFF"/>
                    </a:solidFill>
                  </a:tcPr>
                </a:tc>
              </a:tr>
              <a:tr h="512064">
                <a:tc>
                  <a:txBody>
                    <a:bodyPr/>
                    <a:lstStyle/>
                    <a:p>
                      <a:pPr indent="0" marL="0">
                        <a:buNone/>
                      </a:pPr>
                      <a:r>
                        <a:rPr lang="en-US" sz="1200" dirty="0">
                          <a:solidFill>
                            <a:srgbClr val="203128"/>
                          </a:solidFill>
                          <a:latin typeface="Aptos" pitchFamily="34" charset="0"/>
                          <a:ea typeface="Aptos" pitchFamily="34" charset="-122"/>
                          <a:cs typeface="Aptos" pitchFamily="34" charset="-120"/>
                        </a:rPr>
                        <a:t>Will this take away from academics?</a:t>
                      </a:r>
                      <a:endParaRPr lang="en-US" sz="1200" dirty="0">
                        <a:latin typeface="Aptos" charset="0"/>
                        <a:ea typeface="Aptos" charset="0"/>
                        <a:cs typeface="Aptos" charset="0"/>
                      </a:endParaRPr>
                    </a:p>
                  </a:txBody>
                  <a:tcPr marL="73152" marR="73152" marT="73152" marB="73152"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FFFFFF"/>
                    </a:solidFill>
                  </a:tcPr>
                </a:tc>
                <a:tc>
                  <a:txBody>
                    <a:bodyPr/>
                    <a:lstStyle/>
                    <a:p>
                      <a:pPr indent="0" marL="0">
                        <a:buNone/>
                      </a:pPr>
                      <a:r>
                        <a:rPr lang="en-US" sz="1200" dirty="0">
                          <a:solidFill>
                            <a:srgbClr val="203128"/>
                          </a:solidFill>
                          <a:latin typeface="Aptos" pitchFamily="34" charset="0"/>
                          <a:ea typeface="Aptos" pitchFamily="34" charset="-122"/>
                          <a:cs typeface="Aptos" pitchFamily="34" charset="-120"/>
                        </a:rPr>
                        <a:t>No. The aim is to support how children handle academics, pressure, and setbacks more effectively.</a:t>
                      </a:r>
                      <a:endParaRPr lang="en-US" sz="1200" dirty="0">
                        <a:latin typeface="Aptos" charset="0"/>
                        <a:ea typeface="Aptos" charset="0"/>
                        <a:cs typeface="Aptos" charset="0"/>
                      </a:endParaRPr>
                    </a:p>
                  </a:txBody>
                  <a:tcPr marL="73152" marR="73152" marT="73152" marB="73152"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FFFFFF"/>
                    </a:solidFill>
                  </a:tcPr>
                </a:tc>
              </a:tr>
              <a:tr h="512064">
                <a:tc>
                  <a:txBody>
                    <a:bodyPr/>
                    <a:lstStyle/>
                    <a:p>
                      <a:pPr indent="0" marL="0">
                        <a:buNone/>
                      </a:pPr>
                      <a:r>
                        <a:rPr lang="en-US" sz="1200" dirty="0">
                          <a:solidFill>
                            <a:srgbClr val="203128"/>
                          </a:solidFill>
                          <a:latin typeface="Aptos" pitchFamily="34" charset="0"/>
                          <a:ea typeface="Aptos" pitchFamily="34" charset="-122"/>
                          <a:cs typeface="Aptos" pitchFamily="34" charset="-120"/>
                        </a:rPr>
                        <a:t>Why start this early?</a:t>
                      </a:r>
                      <a:endParaRPr lang="en-US" sz="1200" dirty="0">
                        <a:latin typeface="Aptos" charset="0"/>
                        <a:ea typeface="Aptos" charset="0"/>
                        <a:cs typeface="Aptos" charset="0"/>
                      </a:endParaRPr>
                    </a:p>
                  </a:txBody>
                  <a:tcPr marL="73152" marR="73152" marT="73152" marB="73152"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FFFFFF"/>
                    </a:solidFill>
                  </a:tcPr>
                </a:tc>
                <a:tc>
                  <a:txBody>
                    <a:bodyPr/>
                    <a:lstStyle/>
                    <a:p>
                      <a:pPr indent="0" marL="0">
                        <a:buNone/>
                      </a:pPr>
                      <a:r>
                        <a:rPr lang="en-US" sz="1200" dirty="0">
                          <a:solidFill>
                            <a:srgbClr val="203128"/>
                          </a:solidFill>
                          <a:latin typeface="Aptos" pitchFamily="34" charset="0"/>
                          <a:ea typeface="Aptos" pitchFamily="34" charset="-122"/>
                          <a:cs typeface="Aptos" pitchFamily="34" charset="-120"/>
                        </a:rPr>
                        <a:t>Because patterns are easier to shape earlier than to unwind later. This is early strength-building.</a:t>
                      </a:r>
                      <a:endParaRPr lang="en-US" sz="1200" dirty="0">
                        <a:latin typeface="Aptos" charset="0"/>
                        <a:ea typeface="Aptos" charset="0"/>
                        <a:cs typeface="Aptos" charset="0"/>
                      </a:endParaRPr>
                    </a:p>
                  </a:txBody>
                  <a:tcPr marL="73152" marR="73152" marT="73152" marB="73152"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FFFFFF"/>
                    </a:solidFill>
                  </a:tcPr>
                </a:tc>
              </a:tr>
              <a:tr h="512064">
                <a:tc>
                  <a:txBody>
                    <a:bodyPr/>
                    <a:lstStyle/>
                    <a:p>
                      <a:pPr indent="0" marL="0">
                        <a:buNone/>
                      </a:pPr>
                      <a:r>
                        <a:rPr lang="en-US" sz="1200" dirty="0">
                          <a:solidFill>
                            <a:srgbClr val="203128"/>
                          </a:solidFill>
                          <a:latin typeface="Aptos" pitchFamily="34" charset="0"/>
                          <a:ea typeface="Aptos" pitchFamily="34" charset="-122"/>
                          <a:cs typeface="Aptos" pitchFamily="34" charset="-120"/>
                        </a:rPr>
                        <a:t>What makes ThinkRoot different?</a:t>
                      </a:r>
                      <a:endParaRPr lang="en-US" sz="1200" dirty="0">
                        <a:latin typeface="Aptos" charset="0"/>
                        <a:ea typeface="Aptos" charset="0"/>
                        <a:cs typeface="Aptos" charset="0"/>
                      </a:endParaRPr>
                    </a:p>
                  </a:txBody>
                  <a:tcPr marL="73152" marR="73152" marT="73152" marB="73152"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FFFFFF"/>
                    </a:solidFill>
                  </a:tcPr>
                </a:tc>
                <a:tc>
                  <a:txBody>
                    <a:bodyPr/>
                    <a:lstStyle/>
                    <a:p>
                      <a:pPr indent="0" marL="0">
                        <a:buNone/>
                      </a:pPr>
                      <a:r>
                        <a:rPr lang="en-US" sz="1200" dirty="0">
                          <a:solidFill>
                            <a:srgbClr val="203128"/>
                          </a:solidFill>
                          <a:latin typeface="Aptos" pitchFamily="34" charset="0"/>
                          <a:ea typeface="Aptos" pitchFamily="34" charset="-122"/>
                          <a:cs typeface="Aptos" pitchFamily="34" charset="-120"/>
                        </a:rPr>
                        <a:t>It does not stop at behavior correction. It teaches a deeper method: Awareness, Accept, Action.</a:t>
                      </a:r>
                      <a:endParaRPr lang="en-US" sz="1200" dirty="0">
                        <a:latin typeface="Aptos" charset="0"/>
                        <a:ea typeface="Aptos" charset="0"/>
                        <a:cs typeface="Aptos" charset="0"/>
                      </a:endParaRPr>
                    </a:p>
                  </a:txBody>
                  <a:tcPr marL="73152" marR="73152" marT="73152" marB="73152"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FFFFFF"/>
                    </a:solidFill>
                  </a:tcPr>
                </a:tc>
              </a:tr>
              <a:tr h="585216">
                <a:tc>
                  <a:txBody>
                    <a:bodyPr/>
                    <a:lstStyle/>
                    <a:p>
                      <a:pPr indent="0" marL="0">
                        <a:buNone/>
                      </a:pPr>
                      <a:r>
                        <a:rPr lang="en-US" sz="1200" dirty="0">
                          <a:solidFill>
                            <a:srgbClr val="203128"/>
                          </a:solidFill>
                          <a:latin typeface="Aptos" pitchFamily="34" charset="0"/>
                          <a:ea typeface="Aptos" pitchFamily="34" charset="-122"/>
                          <a:cs typeface="Aptos" pitchFamily="34" charset="-120"/>
                        </a:rPr>
                        <a:t>Why should I trust this?</a:t>
                      </a:r>
                      <a:endParaRPr lang="en-US" sz="1200" dirty="0">
                        <a:latin typeface="Aptos" charset="0"/>
                        <a:ea typeface="Aptos" charset="0"/>
                        <a:cs typeface="Aptos" charset="0"/>
                      </a:endParaRPr>
                    </a:p>
                  </a:txBody>
                  <a:tcPr marL="73152" marR="73152" marT="73152" marB="73152"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FFFFFF"/>
                    </a:solidFill>
                  </a:tcPr>
                </a:tc>
                <a:tc>
                  <a:txBody>
                    <a:bodyPr/>
                    <a:lstStyle/>
                    <a:p>
                      <a:pPr indent="0" marL="0">
                        <a:buNone/>
                      </a:pPr>
                      <a:r>
                        <a:rPr lang="en-US" sz="1200" dirty="0">
                          <a:solidFill>
                            <a:srgbClr val="203128"/>
                          </a:solidFill>
                          <a:latin typeface="Aptos" pitchFamily="34" charset="0"/>
                          <a:ea typeface="Aptos" pitchFamily="34" charset="-122"/>
                          <a:cs typeface="Aptos" pitchFamily="34" charset="-120"/>
                        </a:rPr>
                        <a:t>Because the program is structured, observable, and grounded in recognizable research from Stanford, Yale, Berkeley, and Harvard.</a:t>
                      </a:r>
                      <a:endParaRPr lang="en-US" sz="1200" dirty="0">
                        <a:latin typeface="Aptos" charset="0"/>
                        <a:ea typeface="Aptos" charset="0"/>
                        <a:cs typeface="Aptos" charset="0"/>
                      </a:endParaRPr>
                    </a:p>
                  </a:txBody>
                  <a:tcPr marL="73152" marR="73152" marT="73152" marB="73152" anchor="mid">
                    <a:lnL w="12700" cap="flat" cmpd="sng" algn="ctr">
                      <a:solidFill>
                        <a:srgbClr val="D2C5AE"/>
                      </a:solidFill>
                      <a:prstDash val="solid"/>
                      <a:round/>
                      <a:headEnd type="none" w="med" len="med"/>
                      <a:tailEnd type="none" w="med" len="med"/>
                    </a:lnL>
                    <a:lnR w="12700" cap="flat" cmpd="sng" algn="ctr">
                      <a:solidFill>
                        <a:srgbClr val="D2C5AE"/>
                      </a:solidFill>
                      <a:prstDash val="solid"/>
                      <a:round/>
                      <a:headEnd type="none" w="med" len="med"/>
                      <a:tailEnd type="none" w="med" len="med"/>
                    </a:lnR>
                    <a:lnT w="12700" cap="flat" cmpd="sng" algn="ctr">
                      <a:solidFill>
                        <a:srgbClr val="D2C5AE"/>
                      </a:solidFill>
                      <a:prstDash val="solid"/>
                      <a:round/>
                      <a:headEnd type="none" w="med" len="med"/>
                      <a:tailEnd type="none" w="med" len="med"/>
                    </a:lnT>
                    <a:lnB w="12700" cap="flat" cmpd="sng" algn="ctr">
                      <a:solidFill>
                        <a:srgbClr val="D2C5AE"/>
                      </a:solidFill>
                      <a:prstDash val="solid"/>
                      <a:round/>
                      <a:headEnd type="none" w="med" len="med"/>
                      <a:tailEnd type="none" w="med" len="med"/>
                    </a:lnB>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ThinkRoot Young Leaders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ThinkRoot Parent Presentation</dc:title>
  <dc:subject>Parent introduction to ThinkRoot Young Leaders and Resilience Lab</dc:subject>
  <dc:creator>OpenAI Codex</dc:creator>
  <cp:lastModifiedBy>OpenAI Codex</cp:lastModifiedBy>
  <cp:revision>1</cp:revision>
  <dcterms:created xsi:type="dcterms:W3CDTF">2026-04-28T04:57:58Z</dcterms:created>
  <dcterms:modified xsi:type="dcterms:W3CDTF">2026-04-28T04:57:58Z</dcterms:modified>
</cp:coreProperties>
</file>